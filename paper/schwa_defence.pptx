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383B"/>
                </a:solidFill>
                <a:latin typeface="Cambria"/>
              </a:defRPr>
            </a:pPr>
            <a:r>
              <a:rPr sz="1400" b="0" i="0" u="none" strike="noStrike">
                <a:solidFill>
                  <a:srgbClr val="13383B"/>
                </a:solidFill>
                <a:latin typeface="Cambria"/>
              </a:rPr>
              <a:t>Hindi training rungs (utterances)</a:t>
            </a:r>
          </a:p>
        </c:rich>
      </c:tx>
      <c:layout/>
      <c:overlay val="0"/>
    </c:title>
    <c:autoTitleDeleted val="0"/>
    <c:plotArea>
      <c:layout/>
      <c:barChart>
        <c:barDir val="col"/>
        <c:grouping val="clustered"/>
        <c:varyColors val="0"/>
        <c:ser>
          <c:idx val="0"/>
          <c:order val="0"/>
          <c:tx>
            <c:strRef>
              <c:f>Sheet1!$B$1</c:f>
              <c:strCache>
                <c:ptCount val="1"/>
                <c:pt idx="0">
                  <c:v>Utterances</c:v>
                </c:pt>
              </c:strCache>
            </c:strRef>
          </c:tx>
          <c:spPr>
            <a:solidFill>
              <a:srgbClr val="13383B"/>
            </a:solidFill>
            <a:effectLst/>
          </c:spPr>
          <c:invertIfNegative val="0"/>
          <c:dLbls>
            <c:numFmt formatCode="#,##0" sourceLinked="0"/>
            <c:txPr>
              <a:bodyPr/>
              <a:lstStyle/>
              <a:p>
                <a:pPr>
                  <a:defRPr b="0" i="0" strike="noStrike" sz="1100" u="none">
                    <a:solidFill>
                      <a:srgbClr val="23303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9 h</c:v>
                  </c:pt>
                  <c:pt idx="1">
                    <c:v>5 h</c:v>
                  </c:pt>
                  <c:pt idx="2">
                    <c:v>1 h</c:v>
                  </c:pt>
                  <c:pt idx="3">
                    <c:v>30 min</c:v>
                  </c:pt>
                  <c:pt idx="4">
                    <c:v>10 min</c:v>
                  </c:pt>
                </c:lvl>
              </c:multiLvlStrCache>
            </c:multiLvlStrRef>
          </c:cat>
          <c:val>
            <c:numRef>
              <c:f>Sheet1!$B$2:$B$6</c:f>
              <c:numCache>
                <c:formatCode>General</c:formatCode>
                <c:ptCount val="5"/>
                <c:pt idx="0">
                  <c:v>4793</c:v>
                </c:pt>
                <c:pt idx="1">
                  <c:v>2668</c:v>
                </c:pt>
                <c:pt idx="2">
                  <c:v>541</c:v>
                </c:pt>
                <c:pt idx="3">
                  <c:v>265</c:v>
                </c:pt>
                <c:pt idx="4">
                  <c:v>86</c:v>
                </c:pt>
              </c:numCache>
            </c:numRef>
          </c:val>
        </c:ser>
        <c:dLbls>
          <c:numFmt formatCode="#,##0" sourceLinked="0"/>
          <c:txPr>
            <a:bodyPr/>
            <a:lstStyle/>
            <a:p>
              <a:pPr>
                <a:defRPr b="0" i="0" strike="noStrike" sz="1100" u="none">
                  <a:solidFill>
                    <a:srgbClr val="2330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6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8DE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D666E"/>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383B"/>
                </a:solidFill>
                <a:latin typeface="Cambria"/>
              </a:defRPr>
            </a:pPr>
            <a:r>
              <a:rPr sz="1300" b="0" i="0" u="none" strike="noStrike">
                <a:solidFill>
                  <a:srgbClr val="13383B"/>
                </a:solidFill>
                <a:latin typeface="Cambria"/>
              </a:rPr>
              <a:t>Median F0 over 25 sampled utterances (Hz)</a:t>
            </a:r>
          </a:p>
        </c:rich>
      </c:tx>
      <c:layout/>
      <c:overlay val="0"/>
    </c:title>
    <c:autoTitleDeleted val="0"/>
    <c:plotArea>
      <c:layout/>
      <c:barChart>
        <c:barDir val="col"/>
        <c:grouping val="clustered"/>
        <c:varyColors val="0"/>
        <c:ser>
          <c:idx val="0"/>
          <c:order val="0"/>
          <c:tx>
            <c:strRef>
              <c:f>Sheet1!$B$1</c:f>
              <c:strCache>
                <c:ptCount val="1"/>
                <c:pt idx="0">
                  <c:v>Speaker 0</c:v>
                </c:pt>
              </c:strCache>
            </c:strRef>
          </c:tx>
          <c:spPr>
            <a:solidFill>
              <a:srgbClr val="B0432A"/>
            </a:solidFill>
            <a:effectLst/>
          </c:spPr>
          <c:invertIfNegative val="0"/>
          <c:dLbls>
            <c:numFmt formatCode="#,##0" sourceLinked="0"/>
            <c:txPr>
              <a:bodyPr/>
              <a:lstStyle/>
              <a:p>
                <a:pPr>
                  <a:defRPr b="0" i="0" strike="noStrike" sz="1100" u="none">
                    <a:solidFill>
                      <a:srgbClr val="23303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Hindi</c:v>
                  </c:pt>
                  <c:pt idx="1">
                    <c:v>Marathi</c:v>
                  </c:pt>
                </c:lvl>
              </c:multiLvlStrCache>
            </c:multiLvlStrRef>
          </c:cat>
          <c:val>
            <c:numRef>
              <c:f>Sheet1!$B$2:$B$3</c:f>
              <c:numCache>
                <c:formatCode>General</c:formatCode>
                <c:ptCount val="2"/>
                <c:pt idx="0">
                  <c:v>198.9</c:v>
                </c:pt>
                <c:pt idx="1">
                  <c:v>237.2</c:v>
                </c:pt>
              </c:numCache>
            </c:numRef>
          </c:val>
        </c:ser>
        <c:ser>
          <c:idx val="1"/>
          <c:order val="1"/>
          <c:tx>
            <c:strRef>
              <c:f>Sheet1!$C$1</c:f>
              <c:strCache>
                <c:ptCount val="1"/>
                <c:pt idx="0">
                  <c:v>Speaker 1</c:v>
                </c:pt>
              </c:strCache>
            </c:strRef>
          </c:tx>
          <c:spPr>
            <a:solidFill>
              <a:srgbClr val="13383B"/>
            </a:solidFill>
            <a:effectLst/>
          </c:spPr>
          <c:invertIfNegative val="0"/>
          <c:dLbls>
            <c:numFmt formatCode="#,##0" sourceLinked="0"/>
            <c:txPr>
              <a:bodyPr/>
              <a:lstStyle/>
              <a:p>
                <a:pPr>
                  <a:defRPr b="0" i="0" strike="noStrike" sz="1100" u="none">
                    <a:solidFill>
                      <a:srgbClr val="23303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Hindi</c:v>
                  </c:pt>
                  <c:pt idx="1">
                    <c:v>Marathi</c:v>
                  </c:pt>
                </c:lvl>
              </c:multiLvlStrCache>
            </c:multiLvlStrRef>
          </c:cat>
          <c:val>
            <c:numRef>
              <c:f>Sheet1!$C$2:$C$3</c:f>
              <c:numCache>
                <c:formatCode>General</c:formatCode>
                <c:ptCount val="2"/>
                <c:pt idx="0">
                  <c:v>108.8</c:v>
                </c:pt>
                <c:pt idx="1">
                  <c:v>125.7</c:v>
                </c:pt>
              </c:numCache>
            </c:numRef>
          </c:val>
        </c:ser>
        <c:dLbls>
          <c:numFmt formatCode="#,##0" sourceLinked="0"/>
          <c:txPr>
            <a:bodyPr/>
            <a:lstStyle/>
            <a:p>
              <a:pPr>
                <a:defRPr b="0" i="0" strike="noStrike" sz="1100" u="none">
                  <a:solidFill>
                    <a:srgbClr val="2330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D666E"/>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8DE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D666E"/>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D666E"/>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the two words out loud: namak and namkeen. Then state the question: both are written with no vowel sign after the second consonant, yet one keeps the vowel and one drops it. My project asks whether a neural TTS model needs to be told this, or works it out from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 'isn't this a solved problem?' Answer: the RULE is well studied. What is not studied is whether a modern end-to-end model needs the rule at all. That is a different question and it is the one I am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'has nobody really done this?' — be precise. People have compared architectures, and people have built Indic systems. Nobody has held everything else constant and moved only the input representation. That is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return to whenever a question drifts. Every design decision I made exists to keep one of these three comparisons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 how do you KNOW the budget is identical? Answer: assert_budget_matched() in src/train/config.py compares every budget field across all acoustic runs and refuses to generate configs if they differ. It is not a convention I try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'why not Sanskrit, as in your original synopsis?' Answer honestly. Sanskrit data is gated behind a request form with unknown turnaround and was the single point of failure for half the study. Marathi is open, same script, and gives a cleaner contrast because it differs in the rule rather than in the resource level. Dr. Bhatt approved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10 hours: be specific. 10.89 h of raw audio for the chosen Hindi speaker, minus 5.5% to silence trimming, minus the frozen test and dev sets, leaves 9.53 h. Marathi leaves 9.16 h. An unmatched top rung would put a data-quantity difference inside the control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figure is worth volunteering rather than hiding. It shows why the full pass was run and why no number in the report comes from a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challenged on the inference: the separation is 90 Hz in Hindi and 111 Hz in Marathi, far wider than any plausible threshold ambiguity, and the p10/p90 spread is recorded so a reader can check. I never claim the dataset says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separability is the point. Because deletion is its own stage, I can switch it off for Marathi, switch inputs to graphemes, and change nothing else. A monolithic G2P would make this study impossible to run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defence point: Marathi's inventory is a strict subset of Hindi's, so the two arms share one symbol table with no Marathi-only embedding rows. Weakness to volunteer: three Marathi phones occur fewer than three times, so those rows get almost no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c0 is dropped: it tracks overall energy, so keeping it makes MCD partly a loudness measure. Every published MCD figure that is comparable to another excludes it. My test proves my implementation actually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hide these. A progress review that lists only completed tasks says nothing about rigour. Volunteering a bug that would have corrupted your headline result, and explaining how it was caught, is the strongest evidence that the apparatus is being checked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'is one seed enough?' Answer: no, and I say so. My rule is that no difference smaller than measured seed variance gets reported as a finding. With one seed everywhere, that floor rests on replicating a single cell and generalising. This is the honest argument for DGX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 to volunteer on the aligner: internal alignment is generally weaker than MFA at very small data sizes, so the lowest ladder rungs may suffer more than the top ones. That is something to measure about the ladder, not a reason to restore the asymmetry.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 about this. The preparatory phase is complete; the project is not ready to press go the moment a GPU appears, because the training wrappers are not written. That is the next block of work and it needs no GPU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practitioner framing. Whichever way the result goes it is useful: if architectures absorb schwa deletion, nobody needs to build the front end again; if they do not, the field should stop defaulting to character input for Indic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427"/>
        </a:solidFill>
      </p:bgPr>
    </p:bg>
    <p:spTree>
      <p:nvGrpSpPr>
        <p:cNvPr id="1" name=""/>
        <p:cNvGrpSpPr/>
        <p:nvPr/>
      </p:nvGrpSpPr>
      <p:grpSpPr>
        <a:xfrm>
          <a:off x="0" y="0"/>
          <a:ext cx="0" cy="0"/>
          <a:chOff x="0" y="0"/>
          <a:chExt cx="0" cy="0"/>
        </a:xfrm>
      </p:grpSpPr>
      <p:sp>
        <p:nvSpPr>
          <p:cNvPr id="2" name="Text 0"/>
          <p:cNvSpPr txBox="1"/>
          <p:nvPr/>
        </p:nvSpPr>
        <p:spPr>
          <a:xfrm>
            <a:off x="640080" y="1325880"/>
            <a:ext cx="10058400" cy="274320"/>
          </a:xfrm>
          <a:prstGeom prst="rect">
            <a:avLst/>
          </a:prstGeom>
          <a:noFill/>
          <a:ln/>
        </p:spPr>
        <p:txBody>
          <a:bodyPr wrap="square" lIns="0" tIns="0" rIns="0" bIns="0" rtlCol="0" anchor="ctr"/>
          <a:lstStyle/>
          <a:p>
            <a:pPr indent="0" marL="0">
              <a:buNone/>
            </a:pPr>
            <a:r>
              <a:rPr lang="en-US" sz="1200" b="1" spc="300" kern="0" dirty="0">
                <a:solidFill>
                  <a:srgbClr val="8FB3B5"/>
                </a:solidFill>
                <a:latin typeface="Calibri" pitchFamily="34" charset="0"/>
                <a:ea typeface="Calibri" pitchFamily="34" charset="-122"/>
                <a:cs typeface="Calibri" pitchFamily="34" charset="-120"/>
              </a:rPr>
              <a:t>M.TECH DISSERTATION  ·  PROGRESS REVIEW</a:t>
            </a:r>
            <a:endParaRPr lang="en-US" sz="1200" dirty="0"/>
          </a:p>
        </p:txBody>
      </p:sp>
      <p:sp>
        <p:nvSpPr>
          <p:cNvPr id="3" name="Text 1"/>
          <p:cNvSpPr txBox="1"/>
          <p:nvPr/>
        </p:nvSpPr>
        <p:spPr>
          <a:xfrm>
            <a:off x="640080" y="1783080"/>
            <a:ext cx="10607040" cy="22860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Does explicit Devanagari G2P</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still matter for neural TTS?</a:t>
            </a:r>
            <a:endParaRPr lang="en-US" sz="4000" dirty="0"/>
          </a:p>
        </p:txBody>
      </p:sp>
      <p:sp>
        <p:nvSpPr>
          <p:cNvPr id="4" name="Text 2"/>
          <p:cNvSpPr txBox="1"/>
          <p:nvPr/>
        </p:nvSpPr>
        <p:spPr>
          <a:xfrm>
            <a:off x="640080" y="4343400"/>
            <a:ext cx="9601200" cy="1097280"/>
          </a:xfrm>
          <a:prstGeom prst="rect">
            <a:avLst/>
          </a:prstGeom>
          <a:noFill/>
          <a:ln/>
        </p:spPr>
        <p:txBody>
          <a:bodyPr wrap="square" lIns="0" tIns="0" rIns="0" bIns="0" rtlCol="0" anchor="ctr"/>
          <a:lstStyle/>
          <a:p>
            <a:pPr indent="0" marL="0">
              <a:lnSpc>
                <a:spcPts val="2400"/>
              </a:lnSpc>
              <a:buNone/>
            </a:pPr>
            <a:r>
              <a:rPr lang="en-US" sz="1500" dirty="0">
                <a:solidFill>
                  <a:srgbClr val="A9C3C4"/>
                </a:solidFill>
                <a:latin typeface="Calibri" pitchFamily="34" charset="0"/>
                <a:ea typeface="Calibri" pitchFamily="34" charset="-122"/>
                <a:cs typeface="Calibri" pitchFamily="34" charset="-120"/>
              </a:rPr>
              <a:t>Kaustubh Pandey  ·  2025PA17326</a:t>
            </a:r>
            <a:endParaRPr lang="en-US" sz="1500" dirty="0"/>
          </a:p>
          <a:p>
            <a:pPr indent="0" marL="0">
              <a:lnSpc>
                <a:spcPts val="2400"/>
              </a:lnSpc>
              <a:buNone/>
            </a:pPr>
            <a:r>
              <a:rPr lang="en-US" sz="1500" dirty="0">
                <a:solidFill>
                  <a:srgbClr val="A9C3C4"/>
                </a:solidFill>
                <a:latin typeface="Calibri" pitchFamily="34" charset="0"/>
                <a:ea typeface="Calibri" pitchFamily="34" charset="-122"/>
                <a:cs typeface="Calibri" pitchFamily="34" charset="-120"/>
              </a:rPr>
              <a:t>Supervisor: Dr. Shobha Bhatt</a:t>
            </a:r>
            <a:endParaRPr lang="en-US" sz="1500" dirty="0"/>
          </a:p>
          <a:p>
            <a:pPr indent="0" marL="0">
              <a:lnSpc>
                <a:spcPts val="2400"/>
              </a:lnSpc>
              <a:buNone/>
            </a:pPr>
            <a:r>
              <a:rPr lang="en-US" sz="1500" dirty="0">
                <a:solidFill>
                  <a:srgbClr val="A9C3C4"/>
                </a:solidFill>
                <a:latin typeface="Calibri" pitchFamily="34" charset="0"/>
                <a:ea typeface="Calibri" pitchFamily="34" charset="-122"/>
                <a:cs typeface="Calibri" pitchFamily="34" charset="-120"/>
              </a:rPr>
              <a:t>Department of CSE, NSUT New Delhi  ·  September 2026</a:t>
            </a:r>
            <a:endParaRPr lang="en-US" sz="1500" dirty="0"/>
          </a:p>
        </p:txBody>
      </p:sp>
      <p:sp>
        <p:nvSpPr>
          <p:cNvPr id="5" name="Text 3"/>
          <p:cNvSpPr txBox="1"/>
          <p:nvPr/>
        </p:nvSpPr>
        <p:spPr>
          <a:xfrm>
            <a:off x="640080" y="5715000"/>
            <a:ext cx="7315200" cy="457200"/>
          </a:xfrm>
          <a:prstGeom prst="rect">
            <a:avLst/>
          </a:prstGeom>
          <a:noFill/>
          <a:ln/>
        </p:spPr>
        <p:txBody>
          <a:bodyPr wrap="square" lIns="0" tIns="0" rIns="0" bIns="0" rtlCol="0" anchor="ctr"/>
          <a:lstStyle/>
          <a:p>
            <a:pPr indent="0" marL="0">
              <a:buNone/>
            </a:pPr>
            <a:r>
              <a:rPr lang="en-US" sz="2000" i="1" dirty="0">
                <a:solidFill>
                  <a:srgbClr val="B0432A"/>
                </a:solidFill>
                <a:latin typeface="Cambria" pitchFamily="34" charset="0"/>
                <a:ea typeface="Cambria" pitchFamily="34" charset="-122"/>
                <a:cs typeface="Cambria" pitchFamily="34" charset="-120"/>
              </a:rPr>
              <a:t>nəmək   →   nəmkiːn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The problem, in two words</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2</a:t>
            </a:r>
            <a:endParaRPr lang="en-US" sz="1100" dirty="0"/>
          </a:p>
        </p:txBody>
      </p:sp>
      <p:sp>
        <p:nvSpPr>
          <p:cNvPr id="6" name="Text 4"/>
          <p:cNvSpPr txBox="1"/>
          <p:nvPr/>
        </p:nvSpPr>
        <p:spPr>
          <a:xfrm>
            <a:off x="640080" y="1554480"/>
            <a:ext cx="5120640" cy="1645920"/>
          </a:xfrm>
          <a:prstGeom prst="rect">
            <a:avLst/>
          </a:prstGeom>
          <a:noFill/>
          <a:ln/>
        </p:spPr>
        <p:txBody>
          <a:bodyPr wrap="square" lIns="0" tIns="0" rIns="0" bIns="0" rtlCol="0" anchor="ctr"/>
          <a:lstStyle/>
          <a:p>
            <a:pPr algn="ctr" indent="0" marL="0">
              <a:buNone/>
            </a:pPr>
            <a:r>
              <a:rPr lang="en-US" sz="4400" dirty="0">
                <a:solidFill>
                  <a:srgbClr val="13383B"/>
                </a:solidFill>
                <a:latin typeface="Cambria" pitchFamily="34" charset="0"/>
                <a:ea typeface="Cambria" pitchFamily="34" charset="-122"/>
                <a:cs typeface="Cambria" pitchFamily="34" charset="-120"/>
              </a:rPr>
              <a:t>नमक</a:t>
            </a:r>
            <a:endParaRPr lang="en-US" sz="4400" dirty="0"/>
          </a:p>
          <a:p>
            <a:pPr algn="ctr" indent="0" marL="0">
              <a:buNone/>
            </a:pPr>
            <a:r>
              <a:rPr lang="en-US" sz="2000" dirty="0">
                <a:solidFill>
                  <a:srgbClr val="5D666E"/>
                </a:solidFill>
                <a:latin typeface="Cambria" pitchFamily="34" charset="0"/>
                <a:ea typeface="Cambria" pitchFamily="34" charset="-122"/>
                <a:cs typeface="Cambria" pitchFamily="34" charset="-120"/>
              </a:rPr>
              <a:t>namak  →  </a:t>
            </a:r>
            <a:pPr algn="ctr" indent="0" marL="0">
              <a:buNone/>
            </a:pPr>
            <a:r>
              <a:rPr lang="en-US" sz="2200" b="1" dirty="0">
                <a:solidFill>
                  <a:srgbClr val="13383B"/>
                </a:solidFill>
                <a:latin typeface="Cambria" pitchFamily="34" charset="0"/>
                <a:ea typeface="Cambria" pitchFamily="34" charset="-122"/>
                <a:cs typeface="Cambria" pitchFamily="34" charset="-120"/>
              </a:rPr>
              <a:t>nəmək</a:t>
            </a:r>
            <a:endParaRPr lang="en-US" sz="4400" dirty="0"/>
          </a:p>
        </p:txBody>
      </p:sp>
      <p:sp>
        <p:nvSpPr>
          <p:cNvPr id="7" name="Text 5"/>
          <p:cNvSpPr txBox="1"/>
          <p:nvPr/>
        </p:nvSpPr>
        <p:spPr>
          <a:xfrm>
            <a:off x="6400800" y="1554480"/>
            <a:ext cx="5120640" cy="1645920"/>
          </a:xfrm>
          <a:prstGeom prst="rect">
            <a:avLst/>
          </a:prstGeom>
          <a:noFill/>
          <a:ln/>
        </p:spPr>
        <p:txBody>
          <a:bodyPr wrap="square" lIns="0" tIns="0" rIns="0" bIns="0" rtlCol="0" anchor="ctr"/>
          <a:lstStyle/>
          <a:p>
            <a:pPr algn="ctr" indent="0" marL="0">
              <a:buNone/>
            </a:pPr>
            <a:r>
              <a:rPr lang="en-US" sz="4400" dirty="0">
                <a:solidFill>
                  <a:srgbClr val="13383B"/>
                </a:solidFill>
                <a:latin typeface="Cambria" pitchFamily="34" charset="0"/>
                <a:ea typeface="Cambria" pitchFamily="34" charset="-122"/>
                <a:cs typeface="Cambria" pitchFamily="34" charset="-120"/>
              </a:rPr>
              <a:t>नमकीन</a:t>
            </a:r>
            <a:endParaRPr lang="en-US" sz="4400" dirty="0"/>
          </a:p>
          <a:p>
            <a:pPr algn="ctr" indent="0" marL="0">
              <a:buNone/>
            </a:pPr>
            <a:r>
              <a:rPr lang="en-US" sz="2000" dirty="0">
                <a:solidFill>
                  <a:srgbClr val="5D666E"/>
                </a:solidFill>
                <a:latin typeface="Cambria" pitchFamily="34" charset="0"/>
                <a:ea typeface="Cambria" pitchFamily="34" charset="-122"/>
                <a:cs typeface="Cambria" pitchFamily="34" charset="-120"/>
              </a:rPr>
              <a:t>namkeen  →  </a:t>
            </a:r>
            <a:pPr algn="ctr" indent="0" marL="0">
              <a:buNone/>
            </a:pPr>
            <a:r>
              <a:rPr lang="en-US" sz="2200" b="1" dirty="0">
                <a:solidFill>
                  <a:srgbClr val="B0432A"/>
                </a:solidFill>
                <a:latin typeface="Cambria" pitchFamily="34" charset="0"/>
                <a:ea typeface="Cambria" pitchFamily="34" charset="-122"/>
                <a:cs typeface="Cambria" pitchFamily="34" charset="-120"/>
              </a:rPr>
              <a:t>nəmkiːn</a:t>
            </a:r>
            <a:endParaRPr lang="en-US" sz="4400" dirty="0"/>
          </a:p>
        </p:txBody>
      </p:sp>
      <p:sp>
        <p:nvSpPr>
          <p:cNvPr id="8" name="Shape 6"/>
          <p:cNvSpPr/>
          <p:nvPr/>
        </p:nvSpPr>
        <p:spPr>
          <a:xfrm>
            <a:off x="640080" y="3520440"/>
            <a:ext cx="10881360" cy="1371600"/>
          </a:xfrm>
          <a:prstGeom prst="roundRect">
            <a:avLst>
              <a:gd name="adj" fmla="val 4000"/>
            </a:avLst>
          </a:prstGeom>
          <a:solidFill>
            <a:srgbClr val="F2F5F5"/>
          </a:solidFill>
          <a:ln w="9525">
            <a:solidFill>
              <a:srgbClr val="D8DEDF"/>
            </a:solidFill>
            <a:prstDash val="solid"/>
          </a:ln>
        </p:spPr>
      </p:sp>
      <p:sp>
        <p:nvSpPr>
          <p:cNvPr id="9" name="Text 7"/>
          <p:cNvSpPr txBox="1"/>
          <p:nvPr/>
        </p:nvSpPr>
        <p:spPr>
          <a:xfrm>
            <a:off x="960120" y="3703320"/>
            <a:ext cx="10241280" cy="1005840"/>
          </a:xfrm>
          <a:prstGeom prst="rect">
            <a:avLst/>
          </a:prstGeom>
          <a:noFill/>
          <a:ln/>
        </p:spPr>
        <p:txBody>
          <a:bodyPr wrap="square" lIns="0" tIns="0" rIns="0" bIns="0" rtlCol="0" anchor="ctr"/>
          <a:lstStyle/>
          <a:p>
            <a:pPr indent="0" marL="0">
              <a:lnSpc>
                <a:spcPts val="2300"/>
              </a:lnSpc>
              <a:buNone/>
            </a:pPr>
            <a:r>
              <a:rPr lang="en-US" sz="1550" dirty="0">
                <a:solidFill>
                  <a:srgbClr val="23303A"/>
                </a:solidFill>
                <a:latin typeface="Calibri" pitchFamily="34" charset="0"/>
                <a:ea typeface="Calibri" pitchFamily="34" charset="-122"/>
                <a:cs typeface="Calibri" pitchFamily="34" charset="-120"/>
              </a:rPr>
              <a:t>Devanagari is an abugida: every consonant carries an unwritten inherent vowel, the schwa ə. Hindi deletes many of them and keeps others. The spelling does not say which.</a:t>
            </a:r>
            <a:endParaRPr lang="en-US" sz="1550" dirty="0"/>
          </a:p>
        </p:txBody>
      </p:sp>
      <p:sp>
        <p:nvSpPr>
          <p:cNvPr id="10" name="Text 8"/>
          <p:cNvSpPr txBox="1"/>
          <p:nvPr/>
        </p:nvSpPr>
        <p:spPr>
          <a:xfrm>
            <a:off x="640080" y="5257800"/>
            <a:ext cx="10881360" cy="1280160"/>
          </a:xfrm>
          <a:prstGeom prst="rect">
            <a:avLst/>
          </a:prstGeom>
          <a:noFill/>
          <a:ln/>
        </p:spPr>
        <p:txBody>
          <a:bodyPr wrap="square" lIns="0" tIns="0" rIns="0" bIns="0" rtlCol="0" anchor="t"/>
          <a:lstStyle/>
          <a:p>
            <a:pPr marL="342900" indent="-342900">
              <a:lnSpc>
                <a:spcPts val="1917"/>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Rule-based solution since Narasimhan, Sproat &amp; Kiraz (2004): delete a schwa in the context V C _ C V, right to left</a:t>
            </a:r>
            <a:endParaRPr lang="en-US" sz="1350" dirty="0"/>
          </a:p>
          <a:p>
            <a:pPr marL="342900" indent="-342900">
              <a:lnSpc>
                <a:spcPts val="1917"/>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Accurate but not perfect. Residual errors cluster at morpheme boundaries and in loanwords</a:t>
            </a:r>
            <a:endParaRPr lang="en-US" sz="1350" dirty="0"/>
          </a:p>
          <a:p>
            <a:pPr marL="342900" indent="-342900">
              <a:lnSpc>
                <a:spcPts val="1917"/>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Building this front end is real engineering: inventory, normaliser, rule, exception lexicon, maintenance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What the literature does not answer</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3</a:t>
            </a:r>
            <a:endParaRPr lang="en-US" sz="1100" dirty="0"/>
          </a:p>
        </p:txBody>
      </p:sp>
      <p:sp>
        <p:nvSpPr>
          <p:cNvPr id="6" name="Shape 4"/>
          <p:cNvSpPr/>
          <p:nvPr/>
        </p:nvSpPr>
        <p:spPr>
          <a:xfrm>
            <a:off x="640080" y="1508760"/>
            <a:ext cx="3419856" cy="3108960"/>
          </a:xfrm>
          <a:prstGeom prst="roundRect">
            <a:avLst>
              <a:gd name="adj" fmla="val 1765"/>
            </a:avLst>
          </a:prstGeom>
          <a:solidFill>
            <a:srgbClr val="F2F5F5"/>
          </a:solidFill>
          <a:ln w="9525">
            <a:solidFill>
              <a:srgbClr val="D8DEDF"/>
            </a:solidFill>
            <a:prstDash val="solid"/>
          </a:ln>
        </p:spPr>
      </p:sp>
      <p:sp>
        <p:nvSpPr>
          <p:cNvPr id="7" name="Shape 5"/>
          <p:cNvSpPr/>
          <p:nvPr/>
        </p:nvSpPr>
        <p:spPr>
          <a:xfrm>
            <a:off x="914400" y="1810512"/>
            <a:ext cx="457200" cy="457200"/>
          </a:xfrm>
          <a:prstGeom prst="ellipse">
            <a:avLst/>
          </a:prstGeom>
          <a:solidFill>
            <a:srgbClr val="B0432A"/>
          </a:solidFill>
          <a:ln/>
        </p:spPr>
      </p:sp>
      <p:sp>
        <p:nvSpPr>
          <p:cNvPr id="8" name="Text 6"/>
          <p:cNvSpPr txBox="1"/>
          <p:nvPr/>
        </p:nvSpPr>
        <p:spPr>
          <a:xfrm>
            <a:off x="914400" y="18105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914400" y="2487168"/>
            <a:ext cx="2880360" cy="457200"/>
          </a:xfrm>
          <a:prstGeom prst="rect">
            <a:avLst/>
          </a:prstGeom>
          <a:noFill/>
          <a:ln/>
        </p:spPr>
        <p:txBody>
          <a:bodyPr wrap="square" lIns="0" tIns="0" rIns="0" bIns="0" rtlCol="0" anchor="t"/>
          <a:lstStyle/>
          <a:p>
            <a:pPr indent="0" marL="0">
              <a:buNone/>
            </a:pPr>
            <a:r>
              <a:rPr lang="en-US" sz="1700" b="1" dirty="0">
                <a:solidFill>
                  <a:srgbClr val="13383B"/>
                </a:solidFill>
                <a:latin typeface="Cambria" pitchFamily="34" charset="0"/>
                <a:ea typeface="Cambria" pitchFamily="34" charset="-122"/>
                <a:cs typeface="Cambria" pitchFamily="34" charset="-120"/>
              </a:rPr>
              <a:t>No isolated ablation</a:t>
            </a:r>
            <a:endParaRPr lang="en-US" sz="1700" dirty="0"/>
          </a:p>
        </p:txBody>
      </p:sp>
      <p:sp>
        <p:nvSpPr>
          <p:cNvPr id="10" name="Text 8"/>
          <p:cNvSpPr txBox="1"/>
          <p:nvPr/>
        </p:nvSpPr>
        <p:spPr>
          <a:xfrm>
            <a:off x="914400" y="3017520"/>
            <a:ext cx="2880360" cy="1737360"/>
          </a:xfrm>
          <a:prstGeom prst="rect">
            <a:avLst/>
          </a:prstGeom>
          <a:noFill/>
          <a:ln/>
        </p:spPr>
        <p:txBody>
          <a:bodyPr wrap="square" lIns="0" tIns="0" rIns="0" bIns="0" rtlCol="0" anchor="t"/>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No study varies only the input representation, phonemes against graphemes, while holding architecture, data, budget, vocoder and evaluation fixed.</a:t>
            </a:r>
            <a:endParaRPr lang="en-US" sz="1300" dirty="0"/>
          </a:p>
        </p:txBody>
      </p:sp>
      <p:sp>
        <p:nvSpPr>
          <p:cNvPr id="11" name="Shape 9"/>
          <p:cNvSpPr/>
          <p:nvPr/>
        </p:nvSpPr>
        <p:spPr>
          <a:xfrm>
            <a:off x="4370832" y="1508760"/>
            <a:ext cx="3419856" cy="3108960"/>
          </a:xfrm>
          <a:prstGeom prst="roundRect">
            <a:avLst>
              <a:gd name="adj" fmla="val 1765"/>
            </a:avLst>
          </a:prstGeom>
          <a:solidFill>
            <a:srgbClr val="F2F5F5"/>
          </a:solidFill>
          <a:ln w="9525">
            <a:solidFill>
              <a:srgbClr val="D8DEDF"/>
            </a:solidFill>
            <a:prstDash val="solid"/>
          </a:ln>
        </p:spPr>
      </p:sp>
      <p:sp>
        <p:nvSpPr>
          <p:cNvPr id="12" name="Shape 10"/>
          <p:cNvSpPr/>
          <p:nvPr/>
        </p:nvSpPr>
        <p:spPr>
          <a:xfrm>
            <a:off x="4645152" y="1810512"/>
            <a:ext cx="457200" cy="457200"/>
          </a:xfrm>
          <a:prstGeom prst="ellipse">
            <a:avLst/>
          </a:prstGeom>
          <a:solidFill>
            <a:srgbClr val="B0432A"/>
          </a:solidFill>
          <a:ln/>
        </p:spPr>
      </p:sp>
      <p:sp>
        <p:nvSpPr>
          <p:cNvPr id="13" name="Text 11"/>
          <p:cNvSpPr txBox="1"/>
          <p:nvPr/>
        </p:nvSpPr>
        <p:spPr>
          <a:xfrm>
            <a:off x="4645152" y="18105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txBox="1"/>
          <p:nvPr/>
        </p:nvSpPr>
        <p:spPr>
          <a:xfrm>
            <a:off x="4645152" y="2487168"/>
            <a:ext cx="2880360" cy="457200"/>
          </a:xfrm>
          <a:prstGeom prst="rect">
            <a:avLst/>
          </a:prstGeom>
          <a:noFill/>
          <a:ln/>
        </p:spPr>
        <p:txBody>
          <a:bodyPr wrap="square" lIns="0" tIns="0" rIns="0" bIns="0" rtlCol="0" anchor="t"/>
          <a:lstStyle/>
          <a:p>
            <a:pPr indent="0" marL="0">
              <a:buNone/>
            </a:pPr>
            <a:r>
              <a:rPr lang="en-US" sz="1700" b="1" dirty="0">
                <a:solidFill>
                  <a:srgbClr val="13383B"/>
                </a:solidFill>
                <a:latin typeface="Cambria" pitchFamily="34" charset="0"/>
                <a:ea typeface="Cambria" pitchFamily="34" charset="-122"/>
                <a:cs typeface="Cambria" pitchFamily="34" charset="-120"/>
              </a:rPr>
              <a:t>No same-script control</a:t>
            </a:r>
            <a:endParaRPr lang="en-US" sz="1700" dirty="0"/>
          </a:p>
        </p:txBody>
      </p:sp>
      <p:sp>
        <p:nvSpPr>
          <p:cNvPr id="15" name="Text 13"/>
          <p:cNvSpPr txBox="1"/>
          <p:nvPr/>
        </p:nvSpPr>
        <p:spPr>
          <a:xfrm>
            <a:off x="4645152" y="3017520"/>
            <a:ext cx="2880360" cy="1737360"/>
          </a:xfrm>
          <a:prstGeom prst="rect">
            <a:avLst/>
          </a:prstGeom>
          <a:noFill/>
          <a:ln/>
        </p:spPr>
        <p:txBody>
          <a:bodyPr wrap="square" lIns="0" tIns="0" rIns="0" bIns="0" rtlCol="0" anchor="t"/>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A difference found on Hindi alone cannot separate “Devanagari is hard” from “schwa deletion is hard.”</a:t>
            </a:r>
            <a:endParaRPr lang="en-US" sz="1300" dirty="0"/>
          </a:p>
        </p:txBody>
      </p:sp>
      <p:sp>
        <p:nvSpPr>
          <p:cNvPr id="16" name="Shape 14"/>
          <p:cNvSpPr/>
          <p:nvPr/>
        </p:nvSpPr>
        <p:spPr>
          <a:xfrm>
            <a:off x="8101584" y="1508760"/>
            <a:ext cx="3419856" cy="3108960"/>
          </a:xfrm>
          <a:prstGeom prst="roundRect">
            <a:avLst>
              <a:gd name="adj" fmla="val 1765"/>
            </a:avLst>
          </a:prstGeom>
          <a:solidFill>
            <a:srgbClr val="F2F5F5"/>
          </a:solidFill>
          <a:ln w="9525">
            <a:solidFill>
              <a:srgbClr val="D8DEDF"/>
            </a:solidFill>
            <a:prstDash val="solid"/>
          </a:ln>
        </p:spPr>
      </p:sp>
      <p:sp>
        <p:nvSpPr>
          <p:cNvPr id="17" name="Shape 15"/>
          <p:cNvSpPr/>
          <p:nvPr/>
        </p:nvSpPr>
        <p:spPr>
          <a:xfrm>
            <a:off x="8375904" y="1810512"/>
            <a:ext cx="457200" cy="457200"/>
          </a:xfrm>
          <a:prstGeom prst="ellipse">
            <a:avLst/>
          </a:prstGeom>
          <a:solidFill>
            <a:srgbClr val="B0432A"/>
          </a:solidFill>
          <a:ln/>
        </p:spPr>
      </p:sp>
      <p:sp>
        <p:nvSpPr>
          <p:cNvPr id="18" name="Text 16"/>
          <p:cNvSpPr txBox="1"/>
          <p:nvPr/>
        </p:nvSpPr>
        <p:spPr>
          <a:xfrm>
            <a:off x="8375904" y="18105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txBox="1"/>
          <p:nvPr/>
        </p:nvSpPr>
        <p:spPr>
          <a:xfrm>
            <a:off x="8375904" y="2487168"/>
            <a:ext cx="2880360" cy="457200"/>
          </a:xfrm>
          <a:prstGeom prst="rect">
            <a:avLst/>
          </a:prstGeom>
          <a:noFill/>
          <a:ln/>
        </p:spPr>
        <p:txBody>
          <a:bodyPr wrap="square" lIns="0" tIns="0" rIns="0" bIns="0" rtlCol="0" anchor="t"/>
          <a:lstStyle/>
          <a:p>
            <a:pPr indent="0" marL="0">
              <a:buNone/>
            </a:pPr>
            <a:r>
              <a:rPr lang="en-US" sz="1700" b="1" dirty="0">
                <a:solidFill>
                  <a:srgbClr val="13383B"/>
                </a:solidFill>
                <a:latin typeface="Cambria" pitchFamily="34" charset="0"/>
                <a:ea typeface="Cambria" pitchFamily="34" charset="-122"/>
                <a:cs typeface="Cambria" pitchFamily="34" charset="-120"/>
              </a:rPr>
              <a:t>No data-size axis</a:t>
            </a:r>
            <a:endParaRPr lang="en-US" sz="1700" dirty="0"/>
          </a:p>
        </p:txBody>
      </p:sp>
      <p:sp>
        <p:nvSpPr>
          <p:cNvPr id="20" name="Text 18"/>
          <p:cNvSpPr txBox="1"/>
          <p:nvPr/>
        </p:nvSpPr>
        <p:spPr>
          <a:xfrm>
            <a:off x="8375904" y="3017520"/>
            <a:ext cx="2880360" cy="1737360"/>
          </a:xfrm>
          <a:prstGeom prst="rect">
            <a:avLst/>
          </a:prstGeom>
          <a:noFill/>
          <a:ln/>
        </p:spPr>
        <p:txBody>
          <a:bodyPr wrap="square" lIns="0" tIns="0" rIns="0" bIns="0" rtlCol="0" anchor="t"/>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A team with ten hours and a team with ten minutes face different questions. Neither is answered explicitly.</a:t>
            </a:r>
            <a:endParaRPr lang="en-US" sz="1300" dirty="0"/>
          </a:p>
        </p:txBody>
      </p:sp>
      <p:sp>
        <p:nvSpPr>
          <p:cNvPr id="21" name="Text 19"/>
          <p:cNvSpPr txBox="1"/>
          <p:nvPr/>
        </p:nvSpPr>
        <p:spPr>
          <a:xfrm>
            <a:off x="640080" y="5029200"/>
            <a:ext cx="10881360" cy="822960"/>
          </a:xfrm>
          <a:prstGeom prst="rect">
            <a:avLst/>
          </a:prstGeom>
          <a:noFill/>
          <a:ln/>
        </p:spPr>
        <p:txBody>
          <a:bodyPr wrap="square" lIns="0" tIns="0" rIns="0" bIns="0" rtlCol="0" anchor="t"/>
          <a:lstStyle/>
          <a:p>
            <a:pPr indent="0" marL="0">
              <a:lnSpc>
                <a:spcPts val="2200"/>
              </a:lnSpc>
              <a:buNone/>
            </a:pPr>
            <a:r>
              <a:rPr lang="en-US" sz="1450" i="1" dirty="0">
                <a:solidFill>
                  <a:srgbClr val="5D666E"/>
                </a:solidFill>
                <a:latin typeface="Calibri" pitchFamily="34" charset="0"/>
                <a:ea typeface="Calibri" pitchFamily="34" charset="-122"/>
                <a:cs typeface="Calibri" pitchFamily="34" charset="-120"/>
              </a:rPr>
              <a:t>Strong single-system Indic results exist (AI4Bharat, IndicVoices-R, MMS). Strong architecture comparisons exist for English. Neither measures the contribution of the front end.</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383B"/>
        </a:solidFill>
      </p:bgPr>
    </p:bg>
    <p:spTree>
      <p:nvGrpSpPr>
        <p:cNvPr id="1" name=""/>
        <p:cNvGrpSpPr/>
        <p:nvPr/>
      </p:nvGrpSpPr>
      <p:grpSpPr>
        <a:xfrm>
          <a:off x="0" y="0"/>
          <a:ext cx="0" cy="0"/>
          <a:chOff x="0" y="0"/>
          <a:chExt cx="0" cy="0"/>
        </a:xfrm>
      </p:grpSpPr>
      <p:sp>
        <p:nvSpPr>
          <p:cNvPr id="2" name="Text 0"/>
          <p:cNvSpPr txBox="1"/>
          <p:nvPr/>
        </p:nvSpPr>
        <p:spPr>
          <a:xfrm>
            <a:off x="640080" y="1188720"/>
            <a:ext cx="10058400" cy="365760"/>
          </a:xfrm>
          <a:prstGeom prst="rect">
            <a:avLst/>
          </a:prstGeom>
          <a:noFill/>
          <a:ln/>
        </p:spPr>
        <p:txBody>
          <a:bodyPr wrap="square" lIns="0" tIns="0" rIns="0" bIns="0" rtlCol="0" anchor="ctr"/>
          <a:lstStyle/>
          <a:p>
            <a:pPr indent="0" marL="0">
              <a:buNone/>
            </a:pPr>
            <a:r>
              <a:rPr lang="en-US" sz="1200" b="1" spc="300" kern="0" dirty="0">
                <a:solidFill>
                  <a:srgbClr val="8FB3B5"/>
                </a:solidFill>
                <a:latin typeface="Calibri" pitchFamily="34" charset="0"/>
                <a:ea typeface="Calibri" pitchFamily="34" charset="-122"/>
                <a:cs typeface="Calibri" pitchFamily="34" charset="-120"/>
              </a:rPr>
              <a:t>Research question</a:t>
            </a:r>
            <a:endParaRPr lang="en-US" sz="1200" dirty="0"/>
          </a:p>
        </p:txBody>
      </p:sp>
      <p:sp>
        <p:nvSpPr>
          <p:cNvPr id="3" name="Text 1"/>
          <p:cNvSpPr txBox="1"/>
          <p:nvPr/>
        </p:nvSpPr>
        <p:spPr>
          <a:xfrm>
            <a:off x="640080" y="1737360"/>
            <a:ext cx="10881360" cy="1737360"/>
          </a:xfrm>
          <a:prstGeom prst="rect">
            <a:avLst/>
          </a:prstGeom>
          <a:noFill/>
          <a:ln/>
        </p:spPr>
        <p:txBody>
          <a:bodyPr wrap="square" lIns="0" tIns="0" rIns="0" bIns="0" rtlCol="0" anchor="ctr"/>
          <a:lstStyle/>
          <a:p>
            <a:pPr indent="0" marL="0">
              <a:lnSpc>
                <a:spcPts val="4000"/>
              </a:lnSpc>
              <a:buNone/>
            </a:pPr>
            <a:r>
              <a:rPr lang="en-US" sz="3000" b="1" dirty="0">
                <a:solidFill>
                  <a:srgbClr val="FFFFFF"/>
                </a:solidFill>
                <a:latin typeface="Cambria" pitchFamily="34" charset="0"/>
                <a:ea typeface="Cambria" pitchFamily="34" charset="-122"/>
                <a:cs typeface="Cambria" pitchFamily="34" charset="-120"/>
              </a:rPr>
              <a:t>Given a fixed budget, a fixed protocol and a fixed speaker, does phonemic input from an explicit Devanagari G2P front end beat raw grapheme input?</a:t>
            </a:r>
            <a:endParaRPr lang="en-US" sz="3000" dirty="0"/>
          </a:p>
        </p:txBody>
      </p:sp>
      <p:sp>
        <p:nvSpPr>
          <p:cNvPr id="4" name="Text 2"/>
          <p:cNvSpPr txBox="1"/>
          <p:nvPr/>
        </p:nvSpPr>
        <p:spPr>
          <a:xfrm>
            <a:off x="640080" y="3794760"/>
            <a:ext cx="56692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Does it depend on the architecture?</a:t>
            </a:r>
            <a:endParaRPr lang="en-US" sz="1600" dirty="0"/>
          </a:p>
        </p:txBody>
      </p:sp>
      <p:sp>
        <p:nvSpPr>
          <p:cNvPr id="5" name="Text 3"/>
          <p:cNvSpPr txBox="1"/>
          <p:nvPr/>
        </p:nvSpPr>
        <p:spPr>
          <a:xfrm>
            <a:off x="6400800" y="3794760"/>
            <a:ext cx="5120640" cy="384048"/>
          </a:xfrm>
          <a:prstGeom prst="rect">
            <a:avLst/>
          </a:prstGeom>
          <a:noFill/>
          <a:ln/>
        </p:spPr>
        <p:txBody>
          <a:bodyPr wrap="square" lIns="0" tIns="0" rIns="0" bIns="0" rtlCol="0" anchor="ctr"/>
          <a:lstStyle/>
          <a:p>
            <a:pPr indent="0" marL="0">
              <a:buNone/>
            </a:pPr>
            <a:r>
              <a:rPr lang="en-US" sz="1450" dirty="0">
                <a:solidFill>
                  <a:srgbClr val="9FBEC0"/>
                </a:solidFill>
                <a:latin typeface="Calibri" pitchFamily="34" charset="0"/>
                <a:ea typeface="Calibri" pitchFamily="34" charset="-122"/>
                <a:cs typeface="Calibri" pitchFamily="34" charset="-120"/>
              </a:rPr>
              <a:t>FastSpeech 2  ·  VITS  ·  Matcha-TTS</a:t>
            </a:r>
            <a:endParaRPr lang="en-US" sz="1450" dirty="0"/>
          </a:p>
        </p:txBody>
      </p:sp>
      <p:sp>
        <p:nvSpPr>
          <p:cNvPr id="6" name="Text 4"/>
          <p:cNvSpPr txBox="1"/>
          <p:nvPr/>
        </p:nvSpPr>
        <p:spPr>
          <a:xfrm>
            <a:off x="640080" y="4663440"/>
            <a:ext cx="56692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Does it survive less data?</a:t>
            </a:r>
            <a:endParaRPr lang="en-US" sz="1600" dirty="0"/>
          </a:p>
        </p:txBody>
      </p:sp>
      <p:sp>
        <p:nvSpPr>
          <p:cNvPr id="7" name="Text 5"/>
          <p:cNvSpPr txBox="1"/>
          <p:nvPr/>
        </p:nvSpPr>
        <p:spPr>
          <a:xfrm>
            <a:off x="6400800" y="4663440"/>
            <a:ext cx="5120640" cy="384048"/>
          </a:xfrm>
          <a:prstGeom prst="rect">
            <a:avLst/>
          </a:prstGeom>
          <a:noFill/>
          <a:ln/>
        </p:spPr>
        <p:txBody>
          <a:bodyPr wrap="square" lIns="0" tIns="0" rIns="0" bIns="0" rtlCol="0" anchor="ctr"/>
          <a:lstStyle/>
          <a:p>
            <a:pPr indent="0" marL="0">
              <a:buNone/>
            </a:pPr>
            <a:r>
              <a:rPr lang="en-US" sz="1450" dirty="0">
                <a:solidFill>
                  <a:srgbClr val="9FBEC0"/>
                </a:solidFill>
                <a:latin typeface="Calibri" pitchFamily="34" charset="0"/>
                <a:ea typeface="Calibri" pitchFamily="34" charset="-122"/>
                <a:cs typeface="Calibri" pitchFamily="34" charset="-120"/>
              </a:rPr>
              <a:t>9 h  →  5 h  →  1 h  →  30 min  →  10 min</a:t>
            </a:r>
            <a:endParaRPr lang="en-US" sz="1450" dirty="0"/>
          </a:p>
        </p:txBody>
      </p:sp>
      <p:sp>
        <p:nvSpPr>
          <p:cNvPr id="8" name="Text 6"/>
          <p:cNvSpPr txBox="1"/>
          <p:nvPr/>
        </p:nvSpPr>
        <p:spPr>
          <a:xfrm>
            <a:off x="640080" y="5532120"/>
            <a:ext cx="5669280" cy="38404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Is it schwa, or is it script?</a:t>
            </a:r>
            <a:endParaRPr lang="en-US" sz="1600" dirty="0"/>
          </a:p>
        </p:txBody>
      </p:sp>
      <p:sp>
        <p:nvSpPr>
          <p:cNvPr id="9" name="Text 7"/>
          <p:cNvSpPr txBox="1"/>
          <p:nvPr/>
        </p:nvSpPr>
        <p:spPr>
          <a:xfrm>
            <a:off x="6400800" y="5532120"/>
            <a:ext cx="5120640" cy="384048"/>
          </a:xfrm>
          <a:prstGeom prst="rect">
            <a:avLst/>
          </a:prstGeom>
          <a:noFill/>
          <a:ln/>
        </p:spPr>
        <p:txBody>
          <a:bodyPr wrap="square" lIns="0" tIns="0" rIns="0" bIns="0" rtlCol="0" anchor="ctr"/>
          <a:lstStyle/>
          <a:p>
            <a:pPr indent="0" marL="0">
              <a:buNone/>
            </a:pPr>
            <a:r>
              <a:rPr lang="en-US" sz="1450" dirty="0">
                <a:solidFill>
                  <a:srgbClr val="9FBEC0"/>
                </a:solidFill>
                <a:latin typeface="Calibri" pitchFamily="34" charset="0"/>
                <a:ea typeface="Calibri" pitchFamily="34" charset="-122"/>
                <a:cs typeface="Calibri" pitchFamily="34" charset="-120"/>
              </a:rPr>
              <a:t>Marathi control: same script, no medial deletion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The design: one variable at a time</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5</a:t>
            </a:r>
            <a:endParaRPr lang="en-US" sz="1100" dirty="0"/>
          </a:p>
        </p:txBody>
      </p:sp>
      <p:sp>
        <p:nvSpPr>
          <p:cNvPr id="6" name="Shape 4"/>
          <p:cNvSpPr/>
          <p:nvPr/>
        </p:nvSpPr>
        <p:spPr>
          <a:xfrm>
            <a:off x="640080" y="1371600"/>
            <a:ext cx="5257800" cy="3200400"/>
          </a:xfrm>
          <a:prstGeom prst="roundRect">
            <a:avLst>
              <a:gd name="adj" fmla="val 1714"/>
            </a:avLst>
          </a:prstGeom>
          <a:solidFill>
            <a:srgbClr val="F2F5F5"/>
          </a:solidFill>
          <a:ln w="9525">
            <a:solidFill>
              <a:srgbClr val="D8DEDF"/>
            </a:solidFill>
            <a:prstDash val="solid"/>
          </a:ln>
        </p:spPr>
      </p:sp>
      <p:sp>
        <p:nvSpPr>
          <p:cNvPr id="7" name="Text 5"/>
          <p:cNvSpPr txBox="1"/>
          <p:nvPr/>
        </p:nvSpPr>
        <p:spPr>
          <a:xfrm>
            <a:off x="960120" y="1600200"/>
            <a:ext cx="4572000" cy="411480"/>
          </a:xfrm>
          <a:prstGeom prst="rect">
            <a:avLst/>
          </a:prstGeom>
          <a:noFill/>
          <a:ln/>
        </p:spPr>
        <p:txBody>
          <a:bodyPr wrap="square" lIns="0" tIns="0" rIns="0" bIns="0" rtlCol="0" anchor="ctr"/>
          <a:lstStyle/>
          <a:p>
            <a:pPr indent="0" marL="0">
              <a:buNone/>
            </a:pPr>
            <a:r>
              <a:rPr lang="en-US" sz="1900" b="1" dirty="0">
                <a:solidFill>
                  <a:srgbClr val="13383B"/>
                </a:solidFill>
                <a:latin typeface="Cambria" pitchFamily="34" charset="0"/>
                <a:ea typeface="Cambria" pitchFamily="34" charset="-122"/>
                <a:cs typeface="Cambria" pitchFamily="34" charset="-120"/>
              </a:rPr>
              <a:t>Held constant</a:t>
            </a:r>
            <a:endParaRPr lang="en-US" sz="1900" dirty="0"/>
          </a:p>
        </p:txBody>
      </p:sp>
      <p:sp>
        <p:nvSpPr>
          <p:cNvPr id="8" name="Text 6"/>
          <p:cNvSpPr txBox="1"/>
          <p:nvPr/>
        </p:nvSpPr>
        <p:spPr>
          <a:xfrm>
            <a:off x="960120" y="2121408"/>
            <a:ext cx="4663440" cy="3108960"/>
          </a:xfrm>
          <a:prstGeom prst="rect">
            <a:avLst/>
          </a:prstGeom>
          <a:noFill/>
          <a:ln/>
        </p:spPr>
        <p:txBody>
          <a:bodyPr wrap="square" lIns="0" tIns="0" rIns="0" bIns="0" rtlCol="0" anchor="t"/>
          <a:lstStyle/>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Training budget: 100,000 steps, 12,000 mel frames per batch, identical LR schedule and precision</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Speaker: one male voice per language, matched on pitch</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Data: the same frozen, checksummed splits</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Vocoder: one HiFi-GAN, shared</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Evaluation: the same metrics, the same test set</a:t>
            </a:r>
            <a:endParaRPr lang="en-US" sz="1400" dirty="0"/>
          </a:p>
        </p:txBody>
      </p:sp>
      <p:sp>
        <p:nvSpPr>
          <p:cNvPr id="9" name="Shape 7"/>
          <p:cNvSpPr/>
          <p:nvPr/>
        </p:nvSpPr>
        <p:spPr>
          <a:xfrm>
            <a:off x="6263640" y="1371600"/>
            <a:ext cx="5257800" cy="3200400"/>
          </a:xfrm>
          <a:prstGeom prst="roundRect">
            <a:avLst>
              <a:gd name="adj" fmla="val 1714"/>
            </a:avLst>
          </a:prstGeom>
          <a:solidFill>
            <a:srgbClr val="F2F5F5"/>
          </a:solidFill>
          <a:ln w="9525">
            <a:solidFill>
              <a:srgbClr val="D8DEDF"/>
            </a:solidFill>
            <a:prstDash val="solid"/>
          </a:ln>
        </p:spPr>
      </p:sp>
      <p:sp>
        <p:nvSpPr>
          <p:cNvPr id="10" name="Text 8"/>
          <p:cNvSpPr txBox="1"/>
          <p:nvPr/>
        </p:nvSpPr>
        <p:spPr>
          <a:xfrm>
            <a:off x="6583680" y="1600200"/>
            <a:ext cx="4572000" cy="411480"/>
          </a:xfrm>
          <a:prstGeom prst="rect">
            <a:avLst/>
          </a:prstGeom>
          <a:noFill/>
          <a:ln/>
        </p:spPr>
        <p:txBody>
          <a:bodyPr wrap="square" lIns="0" tIns="0" rIns="0" bIns="0" rtlCol="0" anchor="ctr"/>
          <a:lstStyle/>
          <a:p>
            <a:pPr indent="0" marL="0">
              <a:buNone/>
            </a:pPr>
            <a:r>
              <a:rPr lang="en-US" sz="1900" b="1" dirty="0">
                <a:solidFill>
                  <a:srgbClr val="B0432A"/>
                </a:solidFill>
                <a:latin typeface="Cambria" pitchFamily="34" charset="0"/>
                <a:ea typeface="Cambria" pitchFamily="34" charset="-122"/>
                <a:cs typeface="Cambria" pitchFamily="34" charset="-120"/>
              </a:rPr>
              <a:t>Varied</a:t>
            </a:r>
            <a:endParaRPr lang="en-US" sz="1900" dirty="0"/>
          </a:p>
        </p:txBody>
      </p:sp>
      <p:sp>
        <p:nvSpPr>
          <p:cNvPr id="11" name="Text 9"/>
          <p:cNvSpPr txBox="1"/>
          <p:nvPr/>
        </p:nvSpPr>
        <p:spPr>
          <a:xfrm>
            <a:off x="6583680" y="2121408"/>
            <a:ext cx="4663440" cy="2011680"/>
          </a:xfrm>
          <a:prstGeom prst="rect">
            <a:avLst/>
          </a:prstGeom>
          <a:noFill/>
          <a:ln/>
        </p:spPr>
        <p:txBody>
          <a:bodyPr wrap="square" lIns="0" tIns="0" rIns="0" bIns="0" rtlCol="0" anchor="t"/>
          <a:lstStyle/>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Input representation: phonemes or graphemes</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Architecture: FastSpeech 2, VITS, Matcha-TTS</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Training data quantity: five rungs</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Language: Hindi, and Marathi as control</a:t>
            </a:r>
            <a:endParaRPr lang="en-US" sz="1400" dirty="0"/>
          </a:p>
        </p:txBody>
      </p:sp>
      <p:sp>
        <p:nvSpPr>
          <p:cNvPr id="12" name="Shape 10"/>
          <p:cNvSpPr/>
          <p:nvPr/>
        </p:nvSpPr>
        <p:spPr>
          <a:xfrm>
            <a:off x="640080" y="5257800"/>
            <a:ext cx="10881360" cy="914400"/>
          </a:xfrm>
          <a:prstGeom prst="roundRect">
            <a:avLst>
              <a:gd name="adj" fmla="val 6000"/>
            </a:avLst>
          </a:prstGeom>
          <a:solidFill>
            <a:srgbClr val="F6EAE6"/>
          </a:solidFill>
          <a:ln w="9525">
            <a:solidFill>
              <a:srgbClr val="D8DEDF"/>
            </a:solidFill>
            <a:prstDash val="solid"/>
          </a:ln>
        </p:spPr>
      </p:sp>
      <p:sp>
        <p:nvSpPr>
          <p:cNvPr id="13" name="Text 11"/>
          <p:cNvSpPr txBox="1"/>
          <p:nvPr/>
        </p:nvSpPr>
        <p:spPr>
          <a:xfrm>
            <a:off x="960120" y="5413248"/>
            <a:ext cx="10241280" cy="640080"/>
          </a:xfrm>
          <a:prstGeom prst="rect">
            <a:avLst/>
          </a:prstGeom>
          <a:noFill/>
          <a:ln/>
        </p:spPr>
        <p:txBody>
          <a:bodyPr wrap="square" lIns="0" tIns="0" rIns="0" bIns="0" rtlCol="0" anchor="t"/>
          <a:lstStyle/>
          <a:p>
            <a:pPr indent="0" marL="0">
              <a:lnSpc>
                <a:spcPts val="1800"/>
              </a:lnSpc>
              <a:buNone/>
            </a:pPr>
            <a:r>
              <a:rPr lang="en-US" sz="1300" dirty="0">
                <a:solidFill>
                  <a:srgbClr val="5A2A1C"/>
                </a:solidFill>
                <a:latin typeface="Calibri" pitchFamily="34" charset="0"/>
                <a:ea typeface="Calibri" pitchFamily="34" charset="-122"/>
                <a:cs typeface="Calibri" pitchFamily="34" charset="-120"/>
              </a:rPr>
              <a:t>The budget is enforced by an assertion that runs every time the 17 configuration files are generated. If it ever fails, the comparison is between architectures AND budgets, and the results table means nothing.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Why Marathi is the control</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6</a:t>
            </a:r>
            <a:endParaRPr lang="en-US" sz="1100" dirty="0"/>
          </a:p>
        </p:txBody>
      </p:sp>
      <p:sp>
        <p:nvSpPr>
          <p:cNvPr id="6" name="Text 4"/>
          <p:cNvSpPr txBox="1"/>
          <p:nvPr/>
        </p:nvSpPr>
        <p:spPr>
          <a:xfrm>
            <a:off x="640080" y="1325880"/>
            <a:ext cx="10058400" cy="457200"/>
          </a:xfrm>
          <a:prstGeom prst="rect">
            <a:avLst/>
          </a:prstGeom>
          <a:noFill/>
          <a:ln/>
        </p:spPr>
        <p:txBody>
          <a:bodyPr wrap="square" lIns="0" tIns="0" rIns="0" bIns="0" rtlCol="0" anchor="ctr"/>
          <a:lstStyle/>
          <a:p>
            <a:pPr indent="0" marL="0">
              <a:buNone/>
            </a:pPr>
            <a:r>
              <a:rPr lang="en-US" sz="2200" b="1" dirty="0">
                <a:solidFill>
                  <a:srgbClr val="13383B"/>
                </a:solidFill>
                <a:latin typeface="Cambria" pitchFamily="34" charset="0"/>
                <a:ea typeface="Cambria" pitchFamily="34" charset="-122"/>
                <a:cs typeface="Cambria" pitchFamily="34" charset="-120"/>
              </a:rPr>
              <a:t>Same script. Different rule.</a:t>
            </a:r>
            <a:endParaRPr lang="en-US" sz="2200" dirty="0"/>
          </a:p>
        </p:txBody>
      </p:sp>
      <p:sp>
        <p:nvSpPr>
          <p:cNvPr id="7" name="Text 5"/>
          <p:cNvSpPr txBox="1"/>
          <p:nvPr/>
        </p:nvSpPr>
        <p:spPr>
          <a:xfrm>
            <a:off x="640080" y="1828800"/>
            <a:ext cx="10881360" cy="685800"/>
          </a:xfrm>
          <a:prstGeom prst="rect">
            <a:avLst/>
          </a:prstGeom>
          <a:noFill/>
          <a:ln/>
        </p:spPr>
        <p:txBody>
          <a:bodyPr wrap="square" lIns="0" tIns="0" rIns="0" bIns="0" rtlCol="0" anchor="ctr"/>
          <a:lstStyle/>
          <a:p>
            <a:pPr indent="0" marL="0">
              <a:lnSpc>
                <a:spcPts val="2200"/>
              </a:lnSpc>
              <a:buNone/>
            </a:pPr>
            <a:r>
              <a:rPr lang="en-US" sz="1500" dirty="0">
                <a:solidFill>
                  <a:srgbClr val="23303A"/>
                </a:solidFill>
                <a:latin typeface="Calibri" pitchFamily="34" charset="0"/>
                <a:ea typeface="Calibri" pitchFamily="34" charset="-122"/>
                <a:cs typeface="Calibri" pitchFamily="34" charset="-120"/>
              </a:rPr>
              <a:t>If the G2P effect is large in Hindi and small in Marathi, the effect belongs to schwa deletion and not to Devanagari. No other language pairing gives this cleanly.</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743200"/>
          <a:ext cx="10881360" cy="914400"/>
        </p:xfrm>
        <a:graphic>
          <a:graphicData uri="http://schemas.openxmlformats.org/drawingml/2006/table">
            <a:tbl>
              <a:tblPr/>
              <a:tblGrid>
                <a:gridCol w="3566160"/>
                <a:gridCol w="3657600"/>
                <a:gridCol w="3657600"/>
              </a:tblGrid>
              <a:tr h="475488">
                <a:tc>
                  <a:txBody>
                    <a:bodyPr/>
                    <a:lstStyle/>
                    <a:p>
                      <a:pPr indent="0" marL="0">
                        <a:buNone/>
                      </a:pP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FFFFF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Hindi</a:t>
                      </a:r>
                      <a:endParaRPr lang="en-US" sz="15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Marathi</a:t>
                      </a:r>
                      <a:endParaRPr lang="en-US" sz="15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B0432A"/>
                    </a:solidFill>
                  </a:tcPr>
                </a:tc>
              </a:tr>
              <a:tr h="475488">
                <a:tc>
                  <a:txBody>
                    <a:bodyPr/>
                    <a:lstStyle/>
                    <a:p>
                      <a:pPr indent="0" marL="0">
                        <a:buNone/>
                      </a:pPr>
                      <a:r>
                        <a:rPr lang="en-US" sz="1350" b="1" dirty="0">
                          <a:solidFill>
                            <a:srgbClr val="13383B"/>
                          </a:solidFill>
                          <a:latin typeface="Calibri" pitchFamily="34" charset="0"/>
                          <a:ea typeface="Calibri" pitchFamily="34" charset="-122"/>
                          <a:cs typeface="Calibri" pitchFamily="34" charset="-120"/>
                        </a:rPr>
                        <a:t>Script</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Devanagari</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Devanagari</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75488">
                <a:tc>
                  <a:txBody>
                    <a:bodyPr/>
                    <a:lstStyle/>
                    <a:p>
                      <a:pPr indent="0" marL="0">
                        <a:buNone/>
                      </a:pPr>
                      <a:r>
                        <a:rPr lang="en-US" sz="1350" b="1" dirty="0">
                          <a:solidFill>
                            <a:srgbClr val="13383B"/>
                          </a:solidFill>
                          <a:latin typeface="Calibri" pitchFamily="34" charset="0"/>
                          <a:ea typeface="Calibri" pitchFamily="34" charset="-122"/>
                          <a:cs typeface="Calibri" pitchFamily="34" charset="-120"/>
                        </a:rPr>
                        <a:t>Phone inventory</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72 symbols used</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67, a strict subset of Hindi</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75488">
                <a:tc>
                  <a:txBody>
                    <a:bodyPr/>
                    <a:lstStyle/>
                    <a:p>
                      <a:pPr indent="0" marL="0">
                        <a:buNone/>
                      </a:pPr>
                      <a:r>
                        <a:rPr lang="en-US" sz="1350" b="1" dirty="0">
                          <a:solidFill>
                            <a:srgbClr val="13383B"/>
                          </a:solidFill>
                          <a:latin typeface="Calibri" pitchFamily="34" charset="0"/>
                          <a:ea typeface="Calibri" pitchFamily="34" charset="-122"/>
                          <a:cs typeface="Calibri" pitchFamily="34" charset="-120"/>
                        </a:rPr>
                        <a:t>Medial schwa deletion</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Applies</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Does not apply</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75488">
                <a:tc>
                  <a:txBody>
                    <a:bodyPr/>
                    <a:lstStyle/>
                    <a:p>
                      <a:pPr indent="0" marL="0">
                        <a:buNone/>
                      </a:pPr>
                      <a:r>
                        <a:rPr lang="en-US" sz="1350" b="1" dirty="0">
                          <a:solidFill>
                            <a:srgbClr val="13383B"/>
                          </a:solidFill>
                          <a:latin typeface="Calibri" pitchFamily="34" charset="0"/>
                          <a:ea typeface="Calibri" pitchFamily="34" charset="-122"/>
                          <a:cs typeface="Calibri" pitchFamily="34" charset="-120"/>
                        </a:rPr>
                        <a:t>Corpus, same collection</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26.2 h, 2 speakers</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22.4 h, 2 speakers</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75488">
                <a:tc>
                  <a:txBody>
                    <a:bodyPr/>
                    <a:lstStyle/>
                    <a:p>
                      <a:pPr indent="0" marL="0">
                        <a:buNone/>
                      </a:pPr>
                      <a:r>
                        <a:rPr lang="en-US" sz="1350" b="1" dirty="0">
                          <a:solidFill>
                            <a:srgbClr val="13383B"/>
                          </a:solidFill>
                          <a:latin typeface="Calibri" pitchFamily="34" charset="0"/>
                          <a:ea typeface="Calibri" pitchFamily="34" charset="-122"/>
                          <a:cs typeface="Calibri" pitchFamily="34" charset="-120"/>
                        </a:rPr>
                        <a:t>Code path</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delete_medial = True</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delete_medial = False</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bl>
          </a:graphicData>
        </a:graphic>
      </p:graphicFrame>
      <p:sp>
        <p:nvSpPr>
          <p:cNvPr id="9" name="Text 6"/>
          <p:cNvSpPr txBox="1"/>
          <p:nvPr/>
        </p:nvSpPr>
        <p:spPr>
          <a:xfrm>
            <a:off x="640080" y="6035040"/>
            <a:ext cx="10881360" cy="365760"/>
          </a:xfrm>
          <a:prstGeom prst="rect">
            <a:avLst/>
          </a:prstGeom>
          <a:noFill/>
          <a:ln/>
        </p:spPr>
        <p:txBody>
          <a:bodyPr wrap="square" lIns="0" tIns="0" rIns="0" bIns="0" rtlCol="0" anchor="ctr"/>
          <a:lstStyle/>
          <a:p>
            <a:pPr indent="0" marL="0">
              <a:buNone/>
            </a:pPr>
            <a:r>
              <a:rPr lang="en-US" sz="1350" i="1" dirty="0">
                <a:solidFill>
                  <a:srgbClr val="5D666E"/>
                </a:solidFill>
                <a:latin typeface="Calibri" pitchFamily="34" charset="0"/>
                <a:ea typeface="Calibri" pitchFamily="34" charset="-122"/>
                <a:cs typeface="Calibri" pitchFamily="34" charset="-120"/>
              </a:rPr>
              <a:t>One boolean flag in the schwa module is the entire control condition. Identical code otherwise.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The data ladder, and why it is nested</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7</a:t>
            </a:r>
            <a:endParaRPr lang="en-US" sz="1100" dirty="0"/>
          </a:p>
        </p:txBody>
      </p:sp>
      <p:graphicFrame>
        <p:nvGraphicFramePr>
          <p:cNvPr id="6" name="Chart 0" descr=""/>
          <p:cNvGraphicFramePr/>
          <p:nvPr/>
        </p:nvGraphicFramePr>
        <p:xfrm>
          <a:off x="640080" y="1371600"/>
          <a:ext cx="5852160" cy="37490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766560" y="1371600"/>
            <a:ext cx="4754880" cy="3749040"/>
          </a:xfrm>
          <a:prstGeom prst="roundRect">
            <a:avLst>
              <a:gd name="adj" fmla="val 1463"/>
            </a:avLst>
          </a:prstGeom>
          <a:solidFill>
            <a:srgbClr val="F2F5F5"/>
          </a:solidFill>
          <a:ln w="9525">
            <a:solidFill>
              <a:srgbClr val="D8DEDF"/>
            </a:solidFill>
            <a:prstDash val="solid"/>
          </a:ln>
        </p:spPr>
      </p:sp>
      <p:sp>
        <p:nvSpPr>
          <p:cNvPr id="8" name="Text 5"/>
          <p:cNvSpPr txBox="1"/>
          <p:nvPr/>
        </p:nvSpPr>
        <p:spPr>
          <a:xfrm>
            <a:off x="7086600" y="1645920"/>
            <a:ext cx="4114800" cy="685800"/>
          </a:xfrm>
          <a:prstGeom prst="rect">
            <a:avLst/>
          </a:prstGeom>
          <a:noFill/>
          <a:ln/>
        </p:spPr>
        <p:txBody>
          <a:bodyPr wrap="square" lIns="0" tIns="0" rIns="0" bIns="0" rtlCol="0" anchor="ctr"/>
          <a:lstStyle/>
          <a:p>
            <a:pPr indent="0" marL="0">
              <a:lnSpc>
                <a:spcPts val="2200"/>
              </a:lnSpc>
              <a:buNone/>
            </a:pPr>
            <a:r>
              <a:rPr lang="en-US" sz="1700" b="1" dirty="0">
                <a:solidFill>
                  <a:srgbClr val="13383B"/>
                </a:solidFill>
                <a:latin typeface="Cambria" pitchFamily="34" charset="0"/>
                <a:ea typeface="Cambria" pitchFamily="34" charset="-122"/>
                <a:cs typeface="Cambria" pitchFamily="34" charset="-120"/>
              </a:rPr>
              <a:t>Nested, not independently sampled</a:t>
            </a:r>
            <a:endParaRPr lang="en-US" sz="1700" dirty="0"/>
          </a:p>
        </p:txBody>
      </p:sp>
      <p:sp>
        <p:nvSpPr>
          <p:cNvPr id="9" name="Text 6"/>
          <p:cNvSpPr txBox="1"/>
          <p:nvPr/>
        </p:nvSpPr>
        <p:spPr>
          <a:xfrm>
            <a:off x="7086600" y="2377440"/>
            <a:ext cx="4114800" cy="2560320"/>
          </a:xfrm>
          <a:prstGeom prst="rect">
            <a:avLst/>
          </a:prstGeom>
          <a:noFill/>
          <a:ln/>
        </p:spPr>
        <p:txBody>
          <a:bodyPr wrap="square" lIns="0" tIns="0" rIns="0" bIns="0" rtlCol="0" anchor="ctr"/>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The 10-minute rung is a subset of the 30-minute rung, which is a subset of the 1-hour rung, and so on up.</a:t>
            </a:r>
            <a:endParaRPr lang="en-US" sz="1300" dirty="0"/>
          </a:p>
          <a:p>
            <a:pPr indent="0" marL="0">
              <a:lnSpc>
                <a:spcPts val="1900"/>
              </a:lnSpc>
              <a:buNone/>
            </a:pPr>
            <a:endParaRPr lang="en-US" sz="1300" dirty="0"/>
          </a:p>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Independent sampling at each size would let sampling variance look like a data-quantity effect. That is exactly the effect the ladder exists to measure.</a:t>
            </a:r>
            <a:endParaRPr lang="en-US" sz="1300" dirty="0"/>
          </a:p>
          <a:p>
            <a:pPr indent="0" marL="0">
              <a:lnSpc>
                <a:spcPts val="1900"/>
              </a:lnSpc>
              <a:buNone/>
            </a:pPr>
            <a:endParaRPr lang="en-US" sz="1300" dirty="0"/>
          </a:p>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Achieved by ordering the training set once by hash and taking prefixes.</a:t>
            </a:r>
            <a:endParaRPr lang="en-US" sz="1300" dirty="0"/>
          </a:p>
        </p:txBody>
      </p:sp>
      <p:sp>
        <p:nvSpPr>
          <p:cNvPr id="10" name="Shape 7"/>
          <p:cNvSpPr/>
          <p:nvPr/>
        </p:nvSpPr>
        <p:spPr>
          <a:xfrm>
            <a:off x="640080" y="5394960"/>
            <a:ext cx="10881360" cy="1005840"/>
          </a:xfrm>
          <a:prstGeom prst="roundRect">
            <a:avLst>
              <a:gd name="adj" fmla="val 5455"/>
            </a:avLst>
          </a:prstGeom>
          <a:solidFill>
            <a:srgbClr val="E8F0EC"/>
          </a:solidFill>
          <a:ln w="9525">
            <a:solidFill>
              <a:srgbClr val="D8DEDF"/>
            </a:solidFill>
            <a:prstDash val="solid"/>
          </a:ln>
        </p:spPr>
      </p:sp>
      <p:sp>
        <p:nvSpPr>
          <p:cNvPr id="11" name="Text 8"/>
          <p:cNvSpPr txBox="1"/>
          <p:nvPr/>
        </p:nvSpPr>
        <p:spPr>
          <a:xfrm>
            <a:off x="960120" y="5559552"/>
            <a:ext cx="10241280" cy="731520"/>
          </a:xfrm>
          <a:prstGeom prst="rect">
            <a:avLst/>
          </a:prstGeom>
          <a:noFill/>
          <a:ln/>
        </p:spPr>
        <p:txBody>
          <a:bodyPr wrap="square" lIns="0" tIns="0" rIns="0" bIns="0" rtlCol="0" anchor="ctr"/>
          <a:lstStyle/>
          <a:p>
            <a:pPr indent="0" marL="0">
              <a:lnSpc>
                <a:spcPts val="1800"/>
              </a:lnSpc>
              <a:buNone/>
            </a:pPr>
            <a:r>
              <a:rPr lang="en-US" sz="1300" dirty="0">
                <a:solidFill>
                  <a:srgbClr val="1D4433"/>
                </a:solidFill>
                <a:latin typeface="Calibri" pitchFamily="34" charset="0"/>
                <a:ea typeface="Calibri" pitchFamily="34" charset="-122"/>
                <a:cs typeface="Calibri" pitchFamily="34" charset="-120"/>
              </a:rPr>
              <a:t>Top rung is 9 h, not 10. Silence trimming removed 5.5% of Hindi and 8.4% of Marathi, and the frozen test and dev sets take another 0.68 h. 9 h is the largest figure both languages clear, and matching the rungs matters more than a round number.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The corpora, measured rather than quoted</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8</a:t>
            </a:r>
            <a:endParaRPr lang="en-US" sz="1100" dirty="0"/>
          </a:p>
        </p:txBody>
      </p:sp>
      <p:sp>
        <p:nvSpPr>
          <p:cNvPr id="6" name="Text 4"/>
          <p:cNvSpPr txBox="1"/>
          <p:nvPr/>
        </p:nvSpPr>
        <p:spPr>
          <a:xfrm>
            <a:off x="640080" y="1417320"/>
            <a:ext cx="2468880" cy="777240"/>
          </a:xfrm>
          <a:prstGeom prst="rect">
            <a:avLst/>
          </a:prstGeom>
          <a:noFill/>
          <a:ln/>
        </p:spPr>
        <p:txBody>
          <a:bodyPr wrap="square" lIns="0" tIns="0" rIns="0" bIns="0" rtlCol="0" anchor="ctr"/>
          <a:lstStyle/>
          <a:p>
            <a:pPr algn="ctr" indent="0" marL="0">
              <a:buNone/>
            </a:pPr>
            <a:r>
              <a:rPr lang="en-US" sz="4200" b="1" dirty="0">
                <a:solidFill>
                  <a:srgbClr val="13383B"/>
                </a:solidFill>
                <a:latin typeface="Cambria" pitchFamily="34" charset="0"/>
                <a:ea typeface="Cambria" pitchFamily="34" charset="-122"/>
                <a:cs typeface="Cambria" pitchFamily="34" charset="-120"/>
              </a:rPr>
              <a:t>48.6 h</a:t>
            </a:r>
            <a:endParaRPr lang="en-US" sz="4200" dirty="0"/>
          </a:p>
        </p:txBody>
      </p:sp>
      <p:sp>
        <p:nvSpPr>
          <p:cNvPr id="7" name="Text 5"/>
          <p:cNvSpPr txBox="1"/>
          <p:nvPr/>
        </p:nvSpPr>
        <p:spPr>
          <a:xfrm>
            <a:off x="640080" y="2194560"/>
            <a:ext cx="2468880" cy="502920"/>
          </a:xfrm>
          <a:prstGeom prst="rect">
            <a:avLst/>
          </a:prstGeom>
          <a:noFill/>
          <a:ln/>
        </p:spPr>
        <p:txBody>
          <a:bodyPr wrap="square" lIns="0" tIns="0" rIns="0" bIns="0" rtlCol="0" anchor="ctr"/>
          <a:lstStyle/>
          <a:p>
            <a:pPr algn="ctr" indent="0" marL="0">
              <a:lnSpc>
                <a:spcPts val="1400"/>
              </a:lnSpc>
              <a:buNone/>
            </a:pPr>
            <a:r>
              <a:rPr lang="en-US" sz="1150" dirty="0">
                <a:solidFill>
                  <a:srgbClr val="5D666E"/>
                </a:solidFill>
                <a:latin typeface="Calibri" pitchFamily="34" charset="0"/>
                <a:ea typeface="Calibri" pitchFamily="34" charset="-122"/>
                <a:cs typeface="Calibri" pitchFamily="34" charset="-120"/>
              </a:rPr>
              <a:t>total across both corpora,</a:t>
            </a:r>
            <a:endParaRPr lang="en-US" sz="1150" dirty="0"/>
          </a:p>
          <a:p>
            <a:pPr algn="ctr" indent="0" marL="0">
              <a:lnSpc>
                <a:spcPts val="1400"/>
              </a:lnSpc>
              <a:buNone/>
            </a:pPr>
            <a:r>
              <a:rPr lang="en-US" sz="1150" dirty="0">
                <a:solidFill>
                  <a:srgbClr val="5D666E"/>
                </a:solidFill>
                <a:latin typeface="Calibri" pitchFamily="34" charset="0"/>
                <a:ea typeface="Calibri" pitchFamily="34" charset="-122"/>
                <a:cs typeface="Calibri" pitchFamily="34" charset="-120"/>
              </a:rPr>
              <a:t>22,764 utterances</a:t>
            </a:r>
            <a:endParaRPr lang="en-US" sz="1150" dirty="0"/>
          </a:p>
        </p:txBody>
      </p:sp>
      <p:sp>
        <p:nvSpPr>
          <p:cNvPr id="8" name="Text 6"/>
          <p:cNvSpPr txBox="1"/>
          <p:nvPr/>
        </p:nvSpPr>
        <p:spPr>
          <a:xfrm>
            <a:off x="3337560" y="1417320"/>
            <a:ext cx="2468880" cy="777240"/>
          </a:xfrm>
          <a:prstGeom prst="rect">
            <a:avLst/>
          </a:prstGeom>
          <a:noFill/>
          <a:ln/>
        </p:spPr>
        <p:txBody>
          <a:bodyPr wrap="square" lIns="0" tIns="0" rIns="0" bIns="0" rtlCol="0" anchor="ctr"/>
          <a:lstStyle/>
          <a:p>
            <a:pPr algn="ctr" indent="0" marL="0">
              <a:buNone/>
            </a:pPr>
            <a:r>
              <a:rPr lang="en-US" sz="4200" b="1" dirty="0">
                <a:solidFill>
                  <a:srgbClr val="13383B"/>
                </a:solidFill>
                <a:latin typeface="Cambria" pitchFamily="34" charset="0"/>
                <a:ea typeface="Cambria" pitchFamily="34" charset="-122"/>
                <a:cs typeface="Cambria" pitchFamily="34" charset="-120"/>
              </a:rPr>
              <a:t>20.2 h</a:t>
            </a:r>
            <a:endParaRPr lang="en-US" sz="4200" dirty="0"/>
          </a:p>
        </p:txBody>
      </p:sp>
      <p:sp>
        <p:nvSpPr>
          <p:cNvPr id="9" name="Text 7"/>
          <p:cNvSpPr txBox="1"/>
          <p:nvPr/>
        </p:nvSpPr>
        <p:spPr>
          <a:xfrm>
            <a:off x="3337560" y="2194560"/>
            <a:ext cx="2468880" cy="502920"/>
          </a:xfrm>
          <a:prstGeom prst="rect">
            <a:avLst/>
          </a:prstGeom>
          <a:noFill/>
          <a:ln/>
        </p:spPr>
        <p:txBody>
          <a:bodyPr wrap="square" lIns="0" tIns="0" rIns="0" bIns="0" rtlCol="0" anchor="ctr"/>
          <a:lstStyle/>
          <a:p>
            <a:pPr algn="ctr" indent="0" marL="0">
              <a:lnSpc>
                <a:spcPts val="1400"/>
              </a:lnSpc>
              <a:buNone/>
            </a:pPr>
            <a:r>
              <a:rPr lang="en-US" sz="1150" dirty="0">
                <a:solidFill>
                  <a:srgbClr val="5D666E"/>
                </a:solidFill>
                <a:latin typeface="Calibri" pitchFamily="34" charset="0"/>
                <a:ea typeface="Calibri" pitchFamily="34" charset="-122"/>
                <a:cs typeface="Calibri" pitchFamily="34" charset="-120"/>
              </a:rPr>
              <a:t>after speaker selection</a:t>
            </a:r>
            <a:endParaRPr lang="en-US" sz="1150" dirty="0"/>
          </a:p>
          <a:p>
            <a:pPr algn="ctr" indent="0" marL="0">
              <a:lnSpc>
                <a:spcPts val="1400"/>
              </a:lnSpc>
              <a:buNone/>
            </a:pPr>
            <a:r>
              <a:rPr lang="en-US" sz="1150" dirty="0">
                <a:solidFill>
                  <a:srgbClr val="5D666E"/>
                </a:solidFill>
                <a:latin typeface="Calibri" pitchFamily="34" charset="0"/>
                <a:ea typeface="Calibri" pitchFamily="34" charset="-122"/>
                <a:cs typeface="Calibri" pitchFamily="34" charset="-120"/>
              </a:rPr>
              <a:t>and standardisation</a:t>
            </a:r>
            <a:endParaRPr lang="en-US" sz="1150" dirty="0"/>
          </a:p>
        </p:txBody>
      </p:sp>
      <p:sp>
        <p:nvSpPr>
          <p:cNvPr id="10" name="Text 8"/>
          <p:cNvSpPr txBox="1"/>
          <p:nvPr/>
        </p:nvSpPr>
        <p:spPr>
          <a:xfrm>
            <a:off x="6035040" y="1417320"/>
            <a:ext cx="2468880" cy="777240"/>
          </a:xfrm>
          <a:prstGeom prst="rect">
            <a:avLst/>
          </a:prstGeom>
          <a:noFill/>
          <a:ln/>
        </p:spPr>
        <p:txBody>
          <a:bodyPr wrap="square" lIns="0" tIns="0" rIns="0" bIns="0" rtlCol="0" anchor="ctr"/>
          <a:lstStyle/>
          <a:p>
            <a:pPr algn="ctr" indent="0" marL="0">
              <a:buNone/>
            </a:pPr>
            <a:r>
              <a:rPr lang="en-US" sz="4200" b="1" dirty="0">
                <a:solidFill>
                  <a:srgbClr val="2C6E4B"/>
                </a:solidFill>
                <a:latin typeface="Cambria" pitchFamily="34" charset="0"/>
                <a:ea typeface="Cambria" pitchFamily="34" charset="-122"/>
                <a:cs typeface="Cambria" pitchFamily="34" charset="-120"/>
              </a:rPr>
              <a:t>0</a:t>
            </a:r>
            <a:endParaRPr lang="en-US" sz="4200" dirty="0"/>
          </a:p>
        </p:txBody>
      </p:sp>
      <p:sp>
        <p:nvSpPr>
          <p:cNvPr id="11" name="Text 9"/>
          <p:cNvSpPr txBox="1"/>
          <p:nvPr/>
        </p:nvSpPr>
        <p:spPr>
          <a:xfrm>
            <a:off x="6035040" y="2194560"/>
            <a:ext cx="2468880" cy="502920"/>
          </a:xfrm>
          <a:prstGeom prst="rect">
            <a:avLst/>
          </a:prstGeom>
          <a:noFill/>
          <a:ln/>
        </p:spPr>
        <p:txBody>
          <a:bodyPr wrap="square" lIns="0" tIns="0" rIns="0" bIns="0" rtlCol="0" anchor="ctr"/>
          <a:lstStyle/>
          <a:p>
            <a:pPr algn="ctr" indent="0" marL="0">
              <a:lnSpc>
                <a:spcPts val="1400"/>
              </a:lnSpc>
              <a:buNone/>
            </a:pPr>
            <a:r>
              <a:rPr lang="en-US" sz="1150" dirty="0">
                <a:solidFill>
                  <a:srgbClr val="5D666E"/>
                </a:solidFill>
                <a:latin typeface="Calibri" pitchFamily="34" charset="0"/>
                <a:ea typeface="Calibri" pitchFamily="34" charset="-122"/>
                <a:cs typeface="Calibri" pitchFamily="34" charset="-120"/>
              </a:rPr>
              <a:t>transcripts misaligned</a:t>
            </a:r>
            <a:endParaRPr lang="en-US" sz="1150" dirty="0"/>
          </a:p>
          <a:p>
            <a:pPr algn="ctr" indent="0" marL="0">
              <a:lnSpc>
                <a:spcPts val="1400"/>
              </a:lnSpc>
              <a:buNone/>
            </a:pPr>
            <a:r>
              <a:rPr lang="en-US" sz="1150" dirty="0">
                <a:solidFill>
                  <a:srgbClr val="5D666E"/>
                </a:solidFill>
                <a:latin typeface="Calibri" pitchFamily="34" charset="0"/>
                <a:ea typeface="Calibri" pitchFamily="34" charset="-122"/>
                <a:cs typeface="Calibri" pitchFamily="34" charset="-120"/>
              </a:rPr>
              <a:t>with their audio</a:t>
            </a:r>
            <a:endParaRPr lang="en-US" sz="1150" dirty="0"/>
          </a:p>
        </p:txBody>
      </p:sp>
      <p:sp>
        <p:nvSpPr>
          <p:cNvPr id="12" name="Text 10"/>
          <p:cNvSpPr txBox="1"/>
          <p:nvPr/>
        </p:nvSpPr>
        <p:spPr>
          <a:xfrm>
            <a:off x="8732520" y="1417320"/>
            <a:ext cx="2468880" cy="777240"/>
          </a:xfrm>
          <a:prstGeom prst="rect">
            <a:avLst/>
          </a:prstGeom>
          <a:noFill/>
          <a:ln/>
        </p:spPr>
        <p:txBody>
          <a:bodyPr wrap="square" lIns="0" tIns="0" rIns="0" bIns="0" rtlCol="0" anchor="ctr"/>
          <a:lstStyle/>
          <a:p>
            <a:pPr algn="ctr" indent="0" marL="0">
              <a:buNone/>
            </a:pPr>
            <a:r>
              <a:rPr lang="en-US" sz="4200" b="1" dirty="0">
                <a:solidFill>
                  <a:srgbClr val="B0432A"/>
                </a:solidFill>
                <a:latin typeface="Cambria" pitchFamily="34" charset="0"/>
                <a:ea typeface="Cambria" pitchFamily="34" charset="-122"/>
                <a:cs typeface="Cambria" pitchFamily="34" charset="-120"/>
              </a:rPr>
              <a:t>19%</a:t>
            </a:r>
            <a:endParaRPr lang="en-US" sz="4200" dirty="0"/>
          </a:p>
        </p:txBody>
      </p:sp>
      <p:sp>
        <p:nvSpPr>
          <p:cNvPr id="13" name="Text 11"/>
          <p:cNvSpPr txBox="1"/>
          <p:nvPr/>
        </p:nvSpPr>
        <p:spPr>
          <a:xfrm>
            <a:off x="8732520" y="2194560"/>
            <a:ext cx="2468880" cy="502920"/>
          </a:xfrm>
          <a:prstGeom prst="rect">
            <a:avLst/>
          </a:prstGeom>
          <a:noFill/>
          <a:ln/>
        </p:spPr>
        <p:txBody>
          <a:bodyPr wrap="square" lIns="0" tIns="0" rIns="0" bIns="0" rtlCol="0" anchor="ctr"/>
          <a:lstStyle/>
          <a:p>
            <a:pPr algn="ctr" indent="0" marL="0">
              <a:lnSpc>
                <a:spcPts val="1400"/>
              </a:lnSpc>
              <a:buNone/>
            </a:pPr>
            <a:r>
              <a:rPr lang="en-US" sz="1150" dirty="0">
                <a:solidFill>
                  <a:srgbClr val="5D666E"/>
                </a:solidFill>
                <a:latin typeface="Calibri" pitchFamily="34" charset="0"/>
                <a:ea typeface="Calibri" pitchFamily="34" charset="-122"/>
                <a:cs typeface="Calibri" pitchFamily="34" charset="-120"/>
              </a:rPr>
              <a:t>error in my own early</a:t>
            </a:r>
            <a:endParaRPr lang="en-US" sz="1150" dirty="0"/>
          </a:p>
          <a:p>
            <a:pPr algn="ctr" indent="0" marL="0">
              <a:lnSpc>
                <a:spcPts val="1400"/>
              </a:lnSpc>
              <a:buNone/>
            </a:pPr>
            <a:r>
              <a:rPr lang="en-US" sz="1150" dirty="0">
                <a:solidFill>
                  <a:srgbClr val="5D666E"/>
                </a:solidFill>
                <a:latin typeface="Calibri" pitchFamily="34" charset="0"/>
                <a:ea typeface="Calibri" pitchFamily="34" charset="-122"/>
                <a:cs typeface="Calibri" pitchFamily="34" charset="-120"/>
              </a:rPr>
              <a:t>estimate from 50 rows</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3200400"/>
          <a:ext cx="10881360" cy="914400"/>
        </p:xfrm>
        <a:graphic>
          <a:graphicData uri="http://schemas.openxmlformats.org/drawingml/2006/table">
            <a:tbl>
              <a:tblPr/>
              <a:tblGrid>
                <a:gridCol w="3749040"/>
                <a:gridCol w="1828800"/>
                <a:gridCol w="1554480"/>
                <a:gridCol w="2103120"/>
                <a:gridCol w="1645920"/>
              </a:tblGrid>
              <a:tr h="475488">
                <a:tc>
                  <a:txBody>
                    <a:bodyPr/>
                    <a:lstStyle/>
                    <a:p>
                      <a:pPr indent="0" marL="0">
                        <a:buNone/>
                      </a:pP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FFFFF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Utterances</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Hours</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Rate</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Speakers</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r>
              <a:tr h="475488">
                <a:tc>
                  <a:txBody>
                    <a:bodyPr/>
                    <a:lstStyle/>
                    <a:p>
                      <a:pPr indent="0" marL="0">
                        <a:buNone/>
                      </a:pPr>
                      <a:r>
                        <a:rPr lang="en-US" sz="1350" b="1" dirty="0">
                          <a:solidFill>
                            <a:srgbClr val="13383B"/>
                          </a:solidFill>
                          <a:latin typeface="Calibri" pitchFamily="34" charset="0"/>
                          <a:ea typeface="Calibri" pitchFamily="34" charset="-122"/>
                          <a:cs typeface="Calibri" pitchFamily="34" charset="-120"/>
                        </a:rPr>
                        <a:t>Hindi</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11,825</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26.23</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48 kHz</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75488">
                <a:tc>
                  <a:txBody>
                    <a:bodyPr/>
                    <a:lstStyle/>
                    <a:p>
                      <a:pPr indent="0" marL="0">
                        <a:buNone/>
                      </a:pPr>
                      <a:r>
                        <a:rPr lang="en-US" sz="1350" b="1" dirty="0">
                          <a:solidFill>
                            <a:srgbClr val="13383B"/>
                          </a:solidFill>
                          <a:latin typeface="Calibri" pitchFamily="34" charset="0"/>
                          <a:ea typeface="Calibri" pitchFamily="34" charset="-122"/>
                          <a:cs typeface="Calibri" pitchFamily="34" charset="-120"/>
                        </a:rPr>
                        <a:t>Marathi</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10,939</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22.37</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48 kHz</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75488">
                <a:tc>
                  <a:txBody>
                    <a:bodyPr/>
                    <a:lstStyle/>
                    <a:p>
                      <a:pPr indent="0" marL="0">
                        <a:buNone/>
                      </a:pPr>
                      <a:r>
                        <a:rPr lang="en-US" sz="1350" b="1" dirty="0">
                          <a:solidFill>
                            <a:srgbClr val="13383B"/>
                          </a:solidFill>
                          <a:latin typeface="Calibri" pitchFamily="34" charset="0"/>
                          <a:ea typeface="Calibri" pitchFamily="34" charset="-122"/>
                          <a:cs typeface="Calibri" pitchFamily="34" charset="-120"/>
                        </a:rPr>
                        <a:t>Standardised, male speaker</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11,044</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20.17</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22.05 / 16 kHz</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50" dirty="0">
                          <a:solidFill>
                            <a:srgbClr val="23303A"/>
                          </a:solidFill>
                          <a:latin typeface="Calibri" pitchFamily="34" charset="0"/>
                          <a:ea typeface="Calibri" pitchFamily="34" charset="-122"/>
                          <a:cs typeface="Calibri" pitchFamily="34" charset="-120"/>
                        </a:rPr>
                        <a:t>1 each</a:t>
                      </a:r>
                      <a:endParaRPr lang="en-US" sz="135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bl>
          </a:graphicData>
        </a:graphic>
      </p:graphicFrame>
      <p:sp>
        <p:nvSpPr>
          <p:cNvPr id="15" name="Text 12"/>
          <p:cNvSpPr txBox="1"/>
          <p:nvPr/>
        </p:nvSpPr>
        <p:spPr>
          <a:xfrm>
            <a:off x="640080" y="5394960"/>
            <a:ext cx="10881360" cy="777240"/>
          </a:xfrm>
          <a:prstGeom prst="rect">
            <a:avLst/>
          </a:prstGeom>
          <a:noFill/>
          <a:ln/>
        </p:spPr>
        <p:txBody>
          <a:bodyPr wrap="square" lIns="0" tIns="0" rIns="0" bIns="0" rtlCol="0" anchor="ctr"/>
          <a:lstStyle/>
          <a:p>
            <a:pPr indent="0" marL="0">
              <a:lnSpc>
                <a:spcPts val="2100"/>
              </a:lnSpc>
              <a:buNone/>
            </a:pPr>
            <a:r>
              <a:rPr lang="en-US" sz="1400" dirty="0">
                <a:solidFill>
                  <a:srgbClr val="23303A"/>
                </a:solidFill>
                <a:latin typeface="Calibri" pitchFamily="34" charset="0"/>
                <a:ea typeface="Calibri" pitchFamily="34" charset="-122"/>
                <a:cs typeface="Calibri" pitchFamily="34" charset="-120"/>
              </a:rPr>
              <a:t>Neither dataset card states hours, speaker count or sampling rate. All three were measured. My first estimate, extrapolated from 50 utterances, was 19% low for Hindi, which is why nothing in the report is quoted from a sample.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Recovering speaker identity from pitch</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9</a:t>
            </a:r>
            <a:endParaRPr lang="en-US" sz="1100" dirty="0"/>
          </a:p>
        </p:txBody>
      </p:sp>
      <p:sp>
        <p:nvSpPr>
          <p:cNvPr id="6" name="Text 4"/>
          <p:cNvSpPr txBox="1"/>
          <p:nvPr/>
        </p:nvSpPr>
        <p:spPr>
          <a:xfrm>
            <a:off x="640080" y="1298448"/>
            <a:ext cx="10881360" cy="548640"/>
          </a:xfrm>
          <a:prstGeom prst="rect">
            <a:avLst/>
          </a:prstGeom>
          <a:noFill/>
          <a:ln/>
        </p:spPr>
        <p:txBody>
          <a:bodyPr wrap="square" lIns="0" tIns="0" rIns="0" bIns="0" rtlCol="0" anchor="t"/>
          <a:lstStyle/>
          <a:p>
            <a:pPr indent="0" marL="0">
              <a:lnSpc>
                <a:spcPts val="2100"/>
              </a:lnSpc>
              <a:buNone/>
            </a:pPr>
            <a:r>
              <a:rPr lang="en-US" sz="1450" dirty="0">
                <a:solidFill>
                  <a:srgbClr val="23303A"/>
                </a:solidFill>
                <a:latin typeface="Calibri" pitchFamily="34" charset="0"/>
                <a:ea typeface="Calibri" pitchFamily="34" charset="-122"/>
                <a:cs typeface="Calibri" pitchFamily="34" charset="-120"/>
              </a:rPr>
              <a:t>The corpora label speakers 0 and 1 with no key. The two arms must be matched on speaker characteristics, so the labels had to be recovered acoustically.</a:t>
            </a:r>
            <a:endParaRPr lang="en-US" sz="1450" dirty="0"/>
          </a:p>
        </p:txBody>
      </p:sp>
      <p:graphicFrame>
        <p:nvGraphicFramePr>
          <p:cNvPr id="7" name="Chart 0" descr=""/>
          <p:cNvGraphicFramePr/>
          <p:nvPr/>
        </p:nvGraphicFramePr>
        <p:xfrm>
          <a:off x="640080" y="2194560"/>
          <a:ext cx="6400800" cy="32461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315200" y="2194560"/>
            <a:ext cx="4206240" cy="3246120"/>
          </a:xfrm>
          <a:prstGeom prst="roundRect">
            <a:avLst>
              <a:gd name="adj" fmla="val 1690"/>
            </a:avLst>
          </a:prstGeom>
          <a:solidFill>
            <a:srgbClr val="F2F5F5"/>
          </a:solidFill>
          <a:ln w="9525">
            <a:solidFill>
              <a:srgbClr val="D8DEDF"/>
            </a:solidFill>
            <a:prstDash val="solid"/>
          </a:ln>
        </p:spPr>
      </p:sp>
      <p:sp>
        <p:nvSpPr>
          <p:cNvPr id="9" name="Text 6"/>
          <p:cNvSpPr txBox="1"/>
          <p:nvPr/>
        </p:nvSpPr>
        <p:spPr>
          <a:xfrm>
            <a:off x="7635240" y="2395728"/>
            <a:ext cx="3566160" cy="365760"/>
          </a:xfrm>
          <a:prstGeom prst="rect">
            <a:avLst/>
          </a:prstGeom>
          <a:noFill/>
          <a:ln/>
        </p:spPr>
        <p:txBody>
          <a:bodyPr wrap="square" lIns="0" tIns="0" rIns="0" bIns="0" rtlCol="0" anchor="ctr"/>
          <a:lstStyle/>
          <a:p>
            <a:pPr indent="0" marL="0">
              <a:buNone/>
            </a:pPr>
            <a:r>
              <a:rPr lang="en-US" sz="1700" b="1" dirty="0">
                <a:solidFill>
                  <a:srgbClr val="13383B"/>
                </a:solidFill>
                <a:latin typeface="Cambria" pitchFamily="34" charset="0"/>
                <a:ea typeface="Cambria" pitchFamily="34" charset="-122"/>
                <a:cs typeface="Cambria" pitchFamily="34" charset="-120"/>
              </a:rPr>
              <a:t>Why male, in both</a:t>
            </a:r>
            <a:endParaRPr lang="en-US" sz="1700" dirty="0"/>
          </a:p>
        </p:txBody>
      </p:sp>
      <p:sp>
        <p:nvSpPr>
          <p:cNvPr id="10" name="Text 7"/>
          <p:cNvSpPr txBox="1"/>
          <p:nvPr/>
        </p:nvSpPr>
        <p:spPr>
          <a:xfrm>
            <a:off x="7635240" y="2852928"/>
            <a:ext cx="3566160" cy="2468880"/>
          </a:xfrm>
          <a:prstGeom prst="rect">
            <a:avLst/>
          </a:prstGeom>
          <a:noFill/>
          <a:ln/>
        </p:spPr>
        <p:txBody>
          <a:bodyPr wrap="square" lIns="0" tIns="0" rIns="0" bIns="0" rtlCol="0" anchor="t"/>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Hours are near identical either way.</a:t>
            </a:r>
            <a:endParaRPr lang="en-US" sz="1300" dirty="0"/>
          </a:p>
          <a:p>
            <a:pPr indent="0" marL="0">
              <a:lnSpc>
                <a:spcPts val="1900"/>
              </a:lnSpc>
              <a:buNone/>
            </a:pPr>
            <a:endParaRPr lang="en-US" sz="1300" dirty="0"/>
          </a:p>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Pitch decided it. The two male voices sit 17 Hz apart across the two languages; the female pair are 38 Hz apart.</a:t>
            </a:r>
            <a:endParaRPr lang="en-US" sz="1300" dirty="0"/>
          </a:p>
          <a:p>
            <a:pPr indent="0" marL="0">
              <a:lnSpc>
                <a:spcPts val="1900"/>
              </a:lnSpc>
              <a:buNone/>
            </a:pPr>
            <a:endParaRPr lang="en-US" sz="1300" dirty="0"/>
          </a:p>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Matching on male leaves less acoustic difference between the Hindi and Marathi arms that has nothing to do with schwa deletion.</a:t>
            </a:r>
            <a:endParaRPr lang="en-US" sz="1300" dirty="0"/>
          </a:p>
        </p:txBody>
      </p:sp>
      <p:sp>
        <p:nvSpPr>
          <p:cNvPr id="11" name="Text 8"/>
          <p:cNvSpPr txBox="1"/>
          <p:nvPr/>
        </p:nvSpPr>
        <p:spPr>
          <a:xfrm>
            <a:off x="640080" y="5715000"/>
            <a:ext cx="10881360" cy="457200"/>
          </a:xfrm>
          <a:prstGeom prst="rect">
            <a:avLst/>
          </a:prstGeom>
          <a:noFill/>
          <a:ln/>
        </p:spPr>
        <p:txBody>
          <a:bodyPr wrap="square" lIns="0" tIns="0" rIns="0" bIns="0" rtlCol="0" anchor="ctr"/>
          <a:lstStyle/>
          <a:p>
            <a:pPr indent="0" marL="0">
              <a:buNone/>
            </a:pPr>
            <a:r>
              <a:rPr lang="en-US" sz="1350" i="1" dirty="0">
                <a:solidFill>
                  <a:srgbClr val="5D666E"/>
                </a:solidFill>
                <a:latin typeface="Calibri" pitchFamily="34" charset="0"/>
                <a:ea typeface="Calibri" pitchFamily="34" charset="-122"/>
                <a:cs typeface="Calibri" pitchFamily="34" charset="-120"/>
              </a:rPr>
              <a:t>Every gender label in this project rests on this measurement, not on anything the dataset says. It is reported as an inference.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The G2P front end: four separable stages</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10</a:t>
            </a:r>
            <a:endParaRPr lang="en-US" sz="1100" dirty="0"/>
          </a:p>
        </p:txBody>
      </p:sp>
      <p:sp>
        <p:nvSpPr>
          <p:cNvPr id="6" name="Shape 4"/>
          <p:cNvSpPr/>
          <p:nvPr/>
        </p:nvSpPr>
        <p:spPr>
          <a:xfrm>
            <a:off x="640080" y="1417320"/>
            <a:ext cx="2414016" cy="2651760"/>
          </a:xfrm>
          <a:prstGeom prst="roundRect">
            <a:avLst>
              <a:gd name="adj" fmla="val 2273"/>
            </a:avLst>
          </a:prstGeom>
          <a:solidFill>
            <a:srgbClr val="F2F5F5"/>
          </a:solidFill>
          <a:ln w="9525">
            <a:solidFill>
              <a:srgbClr val="D8DEDF"/>
            </a:solidFill>
            <a:prstDash val="solid"/>
          </a:ln>
        </p:spPr>
      </p:sp>
      <p:sp>
        <p:nvSpPr>
          <p:cNvPr id="7" name="Shape 5"/>
          <p:cNvSpPr/>
          <p:nvPr/>
        </p:nvSpPr>
        <p:spPr>
          <a:xfrm>
            <a:off x="896112" y="1664208"/>
            <a:ext cx="402336" cy="402336"/>
          </a:xfrm>
          <a:prstGeom prst="ellipse">
            <a:avLst/>
          </a:prstGeom>
          <a:solidFill>
            <a:srgbClr val="13383B"/>
          </a:solidFill>
          <a:ln/>
        </p:spPr>
      </p:sp>
      <p:sp>
        <p:nvSpPr>
          <p:cNvPr id="8" name="Text 6"/>
          <p:cNvSpPr txBox="1"/>
          <p:nvPr/>
        </p:nvSpPr>
        <p:spPr>
          <a:xfrm>
            <a:off x="896112" y="16642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877824" y="2212848"/>
            <a:ext cx="1938528" cy="365760"/>
          </a:xfrm>
          <a:prstGeom prst="rect">
            <a:avLst/>
          </a:prstGeom>
          <a:noFill/>
          <a:ln/>
        </p:spPr>
        <p:txBody>
          <a:bodyPr wrap="square" lIns="0" tIns="0" rIns="0" bIns="0" rtlCol="0" anchor="t"/>
          <a:lstStyle/>
          <a:p>
            <a:pPr indent="0" marL="0">
              <a:buNone/>
            </a:pPr>
            <a:r>
              <a:rPr lang="en-US" sz="1600" b="1" dirty="0">
                <a:solidFill>
                  <a:srgbClr val="13383B"/>
                </a:solidFill>
                <a:latin typeface="Cambria" pitchFamily="34" charset="0"/>
                <a:ea typeface="Cambria" pitchFamily="34" charset="-122"/>
                <a:cs typeface="Cambria" pitchFamily="34" charset="-120"/>
              </a:rPr>
              <a:t>Normalise</a:t>
            </a:r>
            <a:endParaRPr lang="en-US" sz="1600" dirty="0"/>
          </a:p>
        </p:txBody>
      </p:sp>
      <p:sp>
        <p:nvSpPr>
          <p:cNvPr id="10" name="Text 8"/>
          <p:cNvSpPr txBox="1"/>
          <p:nvPr/>
        </p:nvSpPr>
        <p:spPr>
          <a:xfrm>
            <a:off x="877824" y="2633472"/>
            <a:ext cx="1938528" cy="1280160"/>
          </a:xfrm>
          <a:prstGeom prst="rect">
            <a:avLst/>
          </a:prstGeom>
          <a:noFill/>
          <a:ln/>
        </p:spPr>
        <p:txBody>
          <a:bodyPr wrap="square" lIns="0" tIns="0" rIns="0" bIns="0" rtlCol="0" anchor="t"/>
          <a:lstStyle/>
          <a:p>
            <a:pPr indent="0" marL="0">
              <a:lnSpc>
                <a:spcPts val="1600"/>
              </a:lnSpc>
              <a:buNone/>
            </a:pPr>
            <a:r>
              <a:rPr lang="en-US" sz="1150" dirty="0">
                <a:solidFill>
                  <a:srgbClr val="23303A"/>
                </a:solidFill>
                <a:latin typeface="Calibri" pitchFamily="34" charset="0"/>
                <a:ea typeface="Calibri" pitchFamily="34" charset="-122"/>
                <a:cs typeface="Calibri" pitchFamily="34" charset="-120"/>
              </a:rPr>
              <a:t>NFC, nukta composition, corpus spelling repair, digit expansion, punctuation folded to four marks</a:t>
            </a:r>
            <a:endParaRPr lang="en-US" sz="1150" dirty="0"/>
          </a:p>
        </p:txBody>
      </p:sp>
      <p:sp>
        <p:nvSpPr>
          <p:cNvPr id="11" name="Text 9"/>
          <p:cNvSpPr txBox="1"/>
          <p:nvPr/>
        </p:nvSpPr>
        <p:spPr>
          <a:xfrm>
            <a:off x="3159252" y="2468880"/>
            <a:ext cx="219456" cy="365760"/>
          </a:xfrm>
          <a:prstGeom prst="rect">
            <a:avLst/>
          </a:prstGeom>
          <a:noFill/>
          <a:ln/>
        </p:spPr>
        <p:txBody>
          <a:bodyPr wrap="square" lIns="0" tIns="0" rIns="0" bIns="0" rtlCol="0" anchor="ctr"/>
          <a:lstStyle/>
          <a:p>
            <a:pPr algn="ctr" indent="0" marL="0">
              <a:buNone/>
            </a:pPr>
            <a:r>
              <a:rPr lang="en-US" sz="2200" dirty="0">
                <a:solidFill>
                  <a:srgbClr val="D8DEDF"/>
                </a:solidFill>
                <a:latin typeface="Cambria" pitchFamily="34" charset="0"/>
                <a:ea typeface="Cambria" pitchFamily="34" charset="-122"/>
                <a:cs typeface="Cambria" pitchFamily="34" charset="-120"/>
              </a:rPr>
              <a:t>›</a:t>
            </a:r>
            <a:endParaRPr lang="en-US" sz="2200" dirty="0"/>
          </a:p>
        </p:txBody>
      </p:sp>
      <p:sp>
        <p:nvSpPr>
          <p:cNvPr id="12" name="Shape 10"/>
          <p:cNvSpPr/>
          <p:nvPr/>
        </p:nvSpPr>
        <p:spPr>
          <a:xfrm>
            <a:off x="3462833" y="1417320"/>
            <a:ext cx="2414016" cy="2651760"/>
          </a:xfrm>
          <a:prstGeom prst="roundRect">
            <a:avLst>
              <a:gd name="adj" fmla="val 2273"/>
            </a:avLst>
          </a:prstGeom>
          <a:solidFill>
            <a:srgbClr val="F2F5F5"/>
          </a:solidFill>
          <a:ln w="9525">
            <a:solidFill>
              <a:srgbClr val="D8DEDF"/>
            </a:solidFill>
            <a:prstDash val="solid"/>
          </a:ln>
        </p:spPr>
      </p:sp>
      <p:sp>
        <p:nvSpPr>
          <p:cNvPr id="13" name="Shape 11"/>
          <p:cNvSpPr/>
          <p:nvPr/>
        </p:nvSpPr>
        <p:spPr>
          <a:xfrm>
            <a:off x="3718865" y="1664208"/>
            <a:ext cx="402336" cy="402336"/>
          </a:xfrm>
          <a:prstGeom prst="ellipse">
            <a:avLst/>
          </a:prstGeom>
          <a:solidFill>
            <a:srgbClr val="13383B"/>
          </a:solidFill>
          <a:ln/>
        </p:spPr>
      </p:sp>
      <p:sp>
        <p:nvSpPr>
          <p:cNvPr id="14" name="Text 12"/>
          <p:cNvSpPr txBox="1"/>
          <p:nvPr/>
        </p:nvSpPr>
        <p:spPr>
          <a:xfrm>
            <a:off x="3718865" y="16642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3700577" y="2212848"/>
            <a:ext cx="1938528" cy="365760"/>
          </a:xfrm>
          <a:prstGeom prst="rect">
            <a:avLst/>
          </a:prstGeom>
          <a:noFill/>
          <a:ln/>
        </p:spPr>
        <p:txBody>
          <a:bodyPr wrap="square" lIns="0" tIns="0" rIns="0" bIns="0" rtlCol="0" anchor="t"/>
          <a:lstStyle/>
          <a:p>
            <a:pPr indent="0" marL="0">
              <a:buNone/>
            </a:pPr>
            <a:r>
              <a:rPr lang="en-US" sz="1600" b="1" dirty="0">
                <a:solidFill>
                  <a:srgbClr val="13383B"/>
                </a:solidFill>
                <a:latin typeface="Cambria" pitchFamily="34" charset="0"/>
                <a:ea typeface="Cambria" pitchFamily="34" charset="-122"/>
                <a:cs typeface="Cambria" pitchFamily="34" charset="-120"/>
              </a:rPr>
              <a:t>Segment</a:t>
            </a:r>
            <a:endParaRPr lang="en-US" sz="1600" dirty="0"/>
          </a:p>
        </p:txBody>
      </p:sp>
      <p:sp>
        <p:nvSpPr>
          <p:cNvPr id="16" name="Text 14"/>
          <p:cNvSpPr txBox="1"/>
          <p:nvPr/>
        </p:nvSpPr>
        <p:spPr>
          <a:xfrm>
            <a:off x="3700577" y="2633472"/>
            <a:ext cx="1938528" cy="1280160"/>
          </a:xfrm>
          <a:prstGeom prst="rect">
            <a:avLst/>
          </a:prstGeom>
          <a:noFill/>
          <a:ln/>
        </p:spPr>
        <p:txBody>
          <a:bodyPr wrap="square" lIns="0" tIns="0" rIns="0" bIns="0" rtlCol="0" anchor="t"/>
          <a:lstStyle/>
          <a:p>
            <a:pPr indent="0" marL="0">
              <a:lnSpc>
                <a:spcPts val="1600"/>
              </a:lnSpc>
              <a:buNone/>
            </a:pPr>
            <a:r>
              <a:rPr lang="en-US" sz="1150" dirty="0">
                <a:solidFill>
                  <a:srgbClr val="23303A"/>
                </a:solidFill>
                <a:latin typeface="Calibri" pitchFamily="34" charset="0"/>
                <a:ea typeface="Calibri" pitchFamily="34" charset="-122"/>
                <a:cs typeface="Calibri" pitchFamily="34" charset="-120"/>
              </a:rPr>
              <a:t>Every inherent schwa the abugida implies is made explicit and tagged as unwritten</a:t>
            </a:r>
            <a:endParaRPr lang="en-US" sz="1150" dirty="0"/>
          </a:p>
        </p:txBody>
      </p:sp>
      <p:sp>
        <p:nvSpPr>
          <p:cNvPr id="17" name="Text 15"/>
          <p:cNvSpPr txBox="1"/>
          <p:nvPr/>
        </p:nvSpPr>
        <p:spPr>
          <a:xfrm>
            <a:off x="5982005" y="2468880"/>
            <a:ext cx="219456" cy="365760"/>
          </a:xfrm>
          <a:prstGeom prst="rect">
            <a:avLst/>
          </a:prstGeom>
          <a:noFill/>
          <a:ln/>
        </p:spPr>
        <p:txBody>
          <a:bodyPr wrap="square" lIns="0" tIns="0" rIns="0" bIns="0" rtlCol="0" anchor="ctr"/>
          <a:lstStyle/>
          <a:p>
            <a:pPr algn="ctr" indent="0" marL="0">
              <a:buNone/>
            </a:pPr>
            <a:r>
              <a:rPr lang="en-US" sz="2200" dirty="0">
                <a:solidFill>
                  <a:srgbClr val="D8DEDF"/>
                </a:solidFill>
                <a:latin typeface="Cambria" pitchFamily="34" charset="0"/>
                <a:ea typeface="Cambria" pitchFamily="34" charset="-122"/>
                <a:cs typeface="Cambria" pitchFamily="34" charset="-120"/>
              </a:rPr>
              <a:t>›</a:t>
            </a:r>
            <a:endParaRPr lang="en-US" sz="2200" dirty="0"/>
          </a:p>
        </p:txBody>
      </p:sp>
      <p:sp>
        <p:nvSpPr>
          <p:cNvPr id="18" name="Shape 16"/>
          <p:cNvSpPr/>
          <p:nvPr/>
        </p:nvSpPr>
        <p:spPr>
          <a:xfrm>
            <a:off x="6285586" y="1417320"/>
            <a:ext cx="2414016" cy="2651760"/>
          </a:xfrm>
          <a:prstGeom prst="roundRect">
            <a:avLst>
              <a:gd name="adj" fmla="val 2273"/>
            </a:avLst>
          </a:prstGeom>
          <a:solidFill>
            <a:srgbClr val="F2F5F5"/>
          </a:solidFill>
          <a:ln w="9525">
            <a:solidFill>
              <a:srgbClr val="D8DEDF"/>
            </a:solidFill>
            <a:prstDash val="solid"/>
          </a:ln>
        </p:spPr>
      </p:sp>
      <p:sp>
        <p:nvSpPr>
          <p:cNvPr id="19" name="Shape 17"/>
          <p:cNvSpPr/>
          <p:nvPr/>
        </p:nvSpPr>
        <p:spPr>
          <a:xfrm>
            <a:off x="6541618" y="1664208"/>
            <a:ext cx="402336" cy="402336"/>
          </a:xfrm>
          <a:prstGeom prst="ellipse">
            <a:avLst/>
          </a:prstGeom>
          <a:solidFill>
            <a:srgbClr val="B0432A"/>
          </a:solidFill>
          <a:ln/>
        </p:spPr>
      </p:sp>
      <p:sp>
        <p:nvSpPr>
          <p:cNvPr id="20" name="Text 18"/>
          <p:cNvSpPr txBox="1"/>
          <p:nvPr/>
        </p:nvSpPr>
        <p:spPr>
          <a:xfrm>
            <a:off x="6541618" y="16642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1" name="Text 19"/>
          <p:cNvSpPr txBox="1"/>
          <p:nvPr/>
        </p:nvSpPr>
        <p:spPr>
          <a:xfrm>
            <a:off x="6523330" y="2212848"/>
            <a:ext cx="1938528" cy="365760"/>
          </a:xfrm>
          <a:prstGeom prst="rect">
            <a:avLst/>
          </a:prstGeom>
          <a:noFill/>
          <a:ln/>
        </p:spPr>
        <p:txBody>
          <a:bodyPr wrap="square" lIns="0" tIns="0" rIns="0" bIns="0" rtlCol="0" anchor="t"/>
          <a:lstStyle/>
          <a:p>
            <a:pPr indent="0" marL="0">
              <a:buNone/>
            </a:pPr>
            <a:r>
              <a:rPr lang="en-US" sz="1600" b="1" dirty="0">
                <a:solidFill>
                  <a:srgbClr val="13383B"/>
                </a:solidFill>
                <a:latin typeface="Cambria" pitchFamily="34" charset="0"/>
                <a:ea typeface="Cambria" pitchFamily="34" charset="-122"/>
                <a:cs typeface="Cambria" pitchFamily="34" charset="-120"/>
              </a:rPr>
              <a:t>Delete schwa</a:t>
            </a:r>
            <a:endParaRPr lang="en-US" sz="1600" dirty="0"/>
          </a:p>
        </p:txBody>
      </p:sp>
      <p:sp>
        <p:nvSpPr>
          <p:cNvPr id="22" name="Text 20"/>
          <p:cNvSpPr txBox="1"/>
          <p:nvPr/>
        </p:nvSpPr>
        <p:spPr>
          <a:xfrm>
            <a:off x="6523330" y="2633472"/>
            <a:ext cx="1938528" cy="1280160"/>
          </a:xfrm>
          <a:prstGeom prst="rect">
            <a:avLst/>
          </a:prstGeom>
          <a:noFill/>
          <a:ln/>
        </p:spPr>
        <p:txBody>
          <a:bodyPr wrap="square" lIns="0" tIns="0" rIns="0" bIns="0" rtlCol="0" anchor="t"/>
          <a:lstStyle/>
          <a:p>
            <a:pPr indent="0" marL="0">
              <a:lnSpc>
                <a:spcPts val="1600"/>
              </a:lnSpc>
              <a:buNone/>
            </a:pPr>
            <a:r>
              <a:rPr lang="en-US" sz="1150" dirty="0">
                <a:solidFill>
                  <a:srgbClr val="23303A"/>
                </a:solidFill>
                <a:latin typeface="Calibri" pitchFamily="34" charset="0"/>
                <a:ea typeface="Calibri" pitchFamily="34" charset="-122"/>
                <a:cs typeface="Calibri" pitchFamily="34" charset="-120"/>
              </a:rPr>
              <a:t>V C _ C V right-to-left, plus word-final deletion, plus lexicon override</a:t>
            </a:r>
            <a:endParaRPr lang="en-US" sz="1150" dirty="0"/>
          </a:p>
        </p:txBody>
      </p:sp>
      <p:sp>
        <p:nvSpPr>
          <p:cNvPr id="23" name="Text 21"/>
          <p:cNvSpPr txBox="1"/>
          <p:nvPr/>
        </p:nvSpPr>
        <p:spPr>
          <a:xfrm>
            <a:off x="8804758" y="2468880"/>
            <a:ext cx="219456" cy="365760"/>
          </a:xfrm>
          <a:prstGeom prst="rect">
            <a:avLst/>
          </a:prstGeom>
          <a:noFill/>
          <a:ln/>
        </p:spPr>
        <p:txBody>
          <a:bodyPr wrap="square" lIns="0" tIns="0" rIns="0" bIns="0" rtlCol="0" anchor="ctr"/>
          <a:lstStyle/>
          <a:p>
            <a:pPr algn="ctr" indent="0" marL="0">
              <a:buNone/>
            </a:pPr>
            <a:r>
              <a:rPr lang="en-US" sz="2200" dirty="0">
                <a:solidFill>
                  <a:srgbClr val="D8DEDF"/>
                </a:solidFill>
                <a:latin typeface="Cambria" pitchFamily="34" charset="0"/>
                <a:ea typeface="Cambria" pitchFamily="34" charset="-122"/>
                <a:cs typeface="Cambria" pitchFamily="34" charset="-120"/>
              </a:rPr>
              <a:t>›</a:t>
            </a:r>
            <a:endParaRPr lang="en-US" sz="2200" dirty="0"/>
          </a:p>
        </p:txBody>
      </p:sp>
      <p:sp>
        <p:nvSpPr>
          <p:cNvPr id="24" name="Shape 22"/>
          <p:cNvSpPr/>
          <p:nvPr/>
        </p:nvSpPr>
        <p:spPr>
          <a:xfrm>
            <a:off x="9108338" y="1417320"/>
            <a:ext cx="2414016" cy="2651760"/>
          </a:xfrm>
          <a:prstGeom prst="roundRect">
            <a:avLst>
              <a:gd name="adj" fmla="val 2273"/>
            </a:avLst>
          </a:prstGeom>
          <a:solidFill>
            <a:srgbClr val="F2F5F5"/>
          </a:solidFill>
          <a:ln w="9525">
            <a:solidFill>
              <a:srgbClr val="D8DEDF"/>
            </a:solidFill>
            <a:prstDash val="solid"/>
          </a:ln>
        </p:spPr>
      </p:sp>
      <p:sp>
        <p:nvSpPr>
          <p:cNvPr id="25" name="Shape 23"/>
          <p:cNvSpPr/>
          <p:nvPr/>
        </p:nvSpPr>
        <p:spPr>
          <a:xfrm>
            <a:off x="9364370" y="1664208"/>
            <a:ext cx="402336" cy="402336"/>
          </a:xfrm>
          <a:prstGeom prst="ellipse">
            <a:avLst/>
          </a:prstGeom>
          <a:solidFill>
            <a:srgbClr val="13383B"/>
          </a:solidFill>
          <a:ln/>
        </p:spPr>
      </p:sp>
      <p:sp>
        <p:nvSpPr>
          <p:cNvPr id="26" name="Text 24"/>
          <p:cNvSpPr txBox="1"/>
          <p:nvPr/>
        </p:nvSpPr>
        <p:spPr>
          <a:xfrm>
            <a:off x="9364370" y="16642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7" name="Text 25"/>
          <p:cNvSpPr txBox="1"/>
          <p:nvPr/>
        </p:nvSpPr>
        <p:spPr>
          <a:xfrm>
            <a:off x="9346082" y="2212848"/>
            <a:ext cx="1938528" cy="365760"/>
          </a:xfrm>
          <a:prstGeom prst="rect">
            <a:avLst/>
          </a:prstGeom>
          <a:noFill/>
          <a:ln/>
        </p:spPr>
        <p:txBody>
          <a:bodyPr wrap="square" lIns="0" tIns="0" rIns="0" bIns="0" rtlCol="0" anchor="t"/>
          <a:lstStyle/>
          <a:p>
            <a:pPr indent="0" marL="0">
              <a:buNone/>
            </a:pPr>
            <a:r>
              <a:rPr lang="en-US" sz="1600" b="1" dirty="0">
                <a:solidFill>
                  <a:srgbClr val="13383B"/>
                </a:solidFill>
                <a:latin typeface="Cambria" pitchFamily="34" charset="0"/>
                <a:ea typeface="Cambria" pitchFamily="34" charset="-122"/>
                <a:cs typeface="Cambria" pitchFamily="34" charset="-120"/>
              </a:rPr>
              <a:t>Map to IPA</a:t>
            </a:r>
            <a:endParaRPr lang="en-US" sz="1600" dirty="0"/>
          </a:p>
        </p:txBody>
      </p:sp>
      <p:sp>
        <p:nvSpPr>
          <p:cNvPr id="28" name="Text 26"/>
          <p:cNvSpPr txBox="1"/>
          <p:nvPr/>
        </p:nvSpPr>
        <p:spPr>
          <a:xfrm>
            <a:off x="9346082" y="2633472"/>
            <a:ext cx="1938528" cy="1280160"/>
          </a:xfrm>
          <a:prstGeom prst="rect">
            <a:avLst/>
          </a:prstGeom>
          <a:noFill/>
          <a:ln/>
        </p:spPr>
        <p:txBody>
          <a:bodyPr wrap="square" lIns="0" tIns="0" rIns="0" bIns="0" rtlCol="0" anchor="t"/>
          <a:lstStyle/>
          <a:p>
            <a:pPr indent="0" marL="0">
              <a:lnSpc>
                <a:spcPts val="1600"/>
              </a:lnSpc>
              <a:buNone/>
            </a:pPr>
            <a:r>
              <a:rPr lang="en-US" sz="1150" dirty="0">
                <a:solidFill>
                  <a:srgbClr val="23303A"/>
                </a:solidFill>
                <a:latin typeface="Calibri" pitchFamily="34" charset="0"/>
                <a:ea typeface="Calibri" pitchFamily="34" charset="-122"/>
                <a:cs typeface="Calibri" pitchFamily="34" charset="-120"/>
              </a:rPr>
              <a:t>One inventory shared by both languages, so the two arms occupy one symbol space</a:t>
            </a:r>
            <a:endParaRPr lang="en-US" sz="1150" dirty="0"/>
          </a:p>
        </p:txBody>
      </p:sp>
      <p:sp>
        <p:nvSpPr>
          <p:cNvPr id="29" name="Shape 27"/>
          <p:cNvSpPr/>
          <p:nvPr/>
        </p:nvSpPr>
        <p:spPr>
          <a:xfrm>
            <a:off x="640080" y="4434840"/>
            <a:ext cx="5257800" cy="1920240"/>
          </a:xfrm>
          <a:prstGeom prst="roundRect">
            <a:avLst>
              <a:gd name="adj" fmla="val 2857"/>
            </a:avLst>
          </a:prstGeom>
          <a:solidFill>
            <a:srgbClr val="F6EAE6"/>
          </a:solidFill>
          <a:ln w="9525">
            <a:solidFill>
              <a:srgbClr val="D8DEDF"/>
            </a:solidFill>
            <a:prstDash val="solid"/>
          </a:ln>
        </p:spPr>
      </p:sp>
      <p:sp>
        <p:nvSpPr>
          <p:cNvPr id="30" name="Text 28"/>
          <p:cNvSpPr txBox="1"/>
          <p:nvPr/>
        </p:nvSpPr>
        <p:spPr>
          <a:xfrm>
            <a:off x="960120" y="4617720"/>
            <a:ext cx="4572000" cy="365760"/>
          </a:xfrm>
          <a:prstGeom prst="rect">
            <a:avLst/>
          </a:prstGeom>
          <a:noFill/>
          <a:ln/>
        </p:spPr>
        <p:txBody>
          <a:bodyPr wrap="square" lIns="0" tIns="0" rIns="0" bIns="0" rtlCol="0" anchor="t"/>
          <a:lstStyle/>
          <a:p>
            <a:pPr indent="0" marL="0">
              <a:buNone/>
            </a:pPr>
            <a:r>
              <a:rPr lang="en-US" sz="1600" b="1" dirty="0">
                <a:solidFill>
                  <a:srgbClr val="B0432A"/>
                </a:solidFill>
                <a:latin typeface="Cambria" pitchFamily="34" charset="0"/>
                <a:ea typeface="Cambria" pitchFamily="34" charset="-122"/>
                <a:cs typeface="Cambria" pitchFamily="34" charset="-120"/>
              </a:rPr>
              <a:t>Stage 3 is the only switch</a:t>
            </a:r>
            <a:endParaRPr lang="en-US" sz="1600" dirty="0"/>
          </a:p>
        </p:txBody>
      </p:sp>
      <p:sp>
        <p:nvSpPr>
          <p:cNvPr id="31" name="Text 29"/>
          <p:cNvSpPr txBox="1"/>
          <p:nvPr/>
        </p:nvSpPr>
        <p:spPr>
          <a:xfrm>
            <a:off x="960120" y="5047488"/>
            <a:ext cx="4663440" cy="1188720"/>
          </a:xfrm>
          <a:prstGeom prst="rect">
            <a:avLst/>
          </a:prstGeom>
          <a:noFill/>
          <a:ln/>
        </p:spPr>
        <p:txBody>
          <a:bodyPr wrap="square" lIns="0" tIns="0" rIns="0" bIns="0" rtlCol="0" anchor="t"/>
          <a:lstStyle/>
          <a:p>
            <a:pPr indent="0" marL="0">
              <a:lnSpc>
                <a:spcPts val="1900"/>
              </a:lnSpc>
              <a:buNone/>
            </a:pPr>
            <a:r>
              <a:rPr lang="en-US" sz="1300" dirty="0">
                <a:solidFill>
                  <a:srgbClr val="5A2A1C"/>
                </a:solidFill>
                <a:latin typeface="Calibri" pitchFamily="34" charset="0"/>
                <a:ea typeface="Calibri" pitchFamily="34" charset="-122"/>
                <a:cs typeface="Calibri" pitchFamily="34" charset="-120"/>
              </a:rPr>
              <a:t>Marathi runs identical code with medial deletion disabled. That one flag is the entire control condition.</a:t>
            </a:r>
            <a:endParaRPr lang="en-US" sz="1300" dirty="0"/>
          </a:p>
        </p:txBody>
      </p:sp>
      <p:sp>
        <p:nvSpPr>
          <p:cNvPr id="32" name="Shape 30"/>
          <p:cNvSpPr/>
          <p:nvPr/>
        </p:nvSpPr>
        <p:spPr>
          <a:xfrm>
            <a:off x="6263640" y="4434840"/>
            <a:ext cx="5257800" cy="1920240"/>
          </a:xfrm>
          <a:prstGeom prst="roundRect">
            <a:avLst>
              <a:gd name="adj" fmla="val 2857"/>
            </a:avLst>
          </a:prstGeom>
          <a:solidFill>
            <a:srgbClr val="F2F5F5"/>
          </a:solidFill>
          <a:ln w="9525">
            <a:solidFill>
              <a:srgbClr val="D8DEDF"/>
            </a:solidFill>
            <a:prstDash val="solid"/>
          </a:ln>
        </p:spPr>
      </p:sp>
      <p:sp>
        <p:nvSpPr>
          <p:cNvPr id="33" name="Text 31"/>
          <p:cNvSpPr txBox="1"/>
          <p:nvPr/>
        </p:nvSpPr>
        <p:spPr>
          <a:xfrm>
            <a:off x="6583680" y="4617720"/>
            <a:ext cx="4663440" cy="365760"/>
          </a:xfrm>
          <a:prstGeom prst="rect">
            <a:avLst/>
          </a:prstGeom>
          <a:noFill/>
          <a:ln/>
        </p:spPr>
        <p:txBody>
          <a:bodyPr wrap="square" lIns="0" tIns="0" rIns="0" bIns="0" rtlCol="0" anchor="t"/>
          <a:lstStyle/>
          <a:p>
            <a:pPr indent="0" marL="0">
              <a:buNone/>
            </a:pPr>
            <a:r>
              <a:rPr lang="en-US" sz="1600" b="1" dirty="0">
                <a:solidFill>
                  <a:srgbClr val="13383B"/>
                </a:solidFill>
                <a:latin typeface="Cambria" pitchFamily="34" charset="0"/>
                <a:ea typeface="Cambria" pitchFamily="34" charset="-122"/>
                <a:cs typeface="Cambria" pitchFamily="34" charset="-120"/>
              </a:rPr>
              <a:t>The grapheme arm shares the normaliser</a:t>
            </a:r>
            <a:endParaRPr lang="en-US" sz="1600" dirty="0"/>
          </a:p>
        </p:txBody>
      </p:sp>
      <p:sp>
        <p:nvSpPr>
          <p:cNvPr id="34" name="Text 32"/>
          <p:cNvSpPr txBox="1"/>
          <p:nvPr/>
        </p:nvSpPr>
        <p:spPr>
          <a:xfrm>
            <a:off x="6583680" y="5047488"/>
            <a:ext cx="4663440" cy="1188720"/>
          </a:xfrm>
          <a:prstGeom prst="rect">
            <a:avLst/>
          </a:prstGeom>
          <a:noFill/>
          <a:ln/>
        </p:spPr>
        <p:txBody>
          <a:bodyPr wrap="square" lIns="0" tIns="0" rIns="0" bIns="0" rtlCol="0" anchor="t"/>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Both arms pass through the identical normalisation chain. If they did not, the ablation would be measuring the normaliser instead of the phonology.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Coverage: from 49 words to 11,044 transcripts</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11</a:t>
            </a:r>
            <a:endParaRPr lang="en-US" sz="1100" dirty="0"/>
          </a:p>
        </p:txBody>
      </p:sp>
      <p:sp>
        <p:nvSpPr>
          <p:cNvPr id="6" name="Shape 4"/>
          <p:cNvSpPr/>
          <p:nvPr/>
        </p:nvSpPr>
        <p:spPr>
          <a:xfrm>
            <a:off x="640080" y="1417320"/>
            <a:ext cx="5257800" cy="2103120"/>
          </a:xfrm>
          <a:prstGeom prst="roundRect">
            <a:avLst>
              <a:gd name="adj" fmla="val 2609"/>
            </a:avLst>
          </a:prstGeom>
          <a:solidFill>
            <a:srgbClr val="F6EAE6"/>
          </a:solidFill>
          <a:ln w="9525">
            <a:solidFill>
              <a:srgbClr val="D8DEDF"/>
            </a:solidFill>
            <a:prstDash val="solid"/>
          </a:ln>
        </p:spPr>
      </p:sp>
      <p:sp>
        <p:nvSpPr>
          <p:cNvPr id="7" name="Text 5"/>
          <p:cNvSpPr txBox="1"/>
          <p:nvPr/>
        </p:nvSpPr>
        <p:spPr>
          <a:xfrm>
            <a:off x="960120" y="1627632"/>
            <a:ext cx="4663440" cy="365760"/>
          </a:xfrm>
          <a:prstGeom prst="rect">
            <a:avLst/>
          </a:prstGeom>
          <a:noFill/>
          <a:ln/>
        </p:spPr>
        <p:txBody>
          <a:bodyPr wrap="square" lIns="0" tIns="0" rIns="0" bIns="0" rtlCol="0" anchor="ctr"/>
          <a:lstStyle/>
          <a:p>
            <a:pPr indent="0" marL="0">
              <a:buNone/>
            </a:pPr>
            <a:r>
              <a:rPr lang="en-US" sz="1600" b="1" dirty="0">
                <a:solidFill>
                  <a:srgbClr val="B0432A"/>
                </a:solidFill>
                <a:latin typeface="Cambria" pitchFamily="34" charset="0"/>
                <a:ea typeface="Cambria" pitchFamily="34" charset="-122"/>
                <a:cs typeface="Cambria" pitchFamily="34" charset="-120"/>
              </a:rPr>
              <a:t>Developed on 49 hand-picked words</a:t>
            </a:r>
            <a:endParaRPr lang="en-US" sz="1600" dirty="0"/>
          </a:p>
        </p:txBody>
      </p:sp>
      <p:sp>
        <p:nvSpPr>
          <p:cNvPr id="8" name="Text 6"/>
          <p:cNvSpPr txBox="1"/>
          <p:nvPr/>
        </p:nvSpPr>
        <p:spPr>
          <a:xfrm>
            <a:off x="960120" y="2057400"/>
            <a:ext cx="4663440" cy="1280160"/>
          </a:xfrm>
          <a:prstGeom prst="rect">
            <a:avLst/>
          </a:prstGeom>
          <a:noFill/>
          <a:ln/>
        </p:spPr>
        <p:txBody>
          <a:bodyPr wrap="square" lIns="0" tIns="0" rIns="0" bIns="0" rtlCol="0" anchor="ctr"/>
          <a:lstStyle/>
          <a:p>
            <a:pPr indent="0" marL="0">
              <a:lnSpc>
                <a:spcPts val="2000"/>
              </a:lnSpc>
              <a:buNone/>
            </a:pPr>
            <a:r>
              <a:rPr lang="en-US" sz="1350" dirty="0">
                <a:solidFill>
                  <a:srgbClr val="5A2A1C"/>
                </a:solidFill>
                <a:latin typeface="Calibri" pitchFamily="34" charset="0"/>
                <a:ea typeface="Calibri" pitchFamily="34" charset="-122"/>
                <a:cs typeface="Calibri" pitchFamily="34" charset="-120"/>
              </a:rPr>
              <a:t>Handled all of them.</a:t>
            </a:r>
            <a:endParaRPr lang="en-US" sz="1350" dirty="0"/>
          </a:p>
          <a:p>
            <a:pPr indent="0" marL="0">
              <a:lnSpc>
                <a:spcPts val="2000"/>
              </a:lnSpc>
              <a:buNone/>
            </a:pPr>
            <a:r>
              <a:rPr lang="en-US" sz="1350" dirty="0">
                <a:solidFill>
                  <a:srgbClr val="5A2A1C"/>
                </a:solidFill>
                <a:latin typeface="Calibri" pitchFamily="34" charset="0"/>
                <a:ea typeface="Calibri" pitchFamily="34" charset="-122"/>
                <a:cs typeface="Calibri" pitchFamily="34" charset="-120"/>
              </a:rPr>
              <a:t>Run over the full corpora, 4.1% of Hindi phone tokens and 2.7% of Marathi had no mapping at all.</a:t>
            </a:r>
            <a:endParaRPr lang="en-US" sz="1350" dirty="0"/>
          </a:p>
        </p:txBody>
      </p:sp>
      <p:sp>
        <p:nvSpPr>
          <p:cNvPr id="9" name="Shape 7"/>
          <p:cNvSpPr/>
          <p:nvPr/>
        </p:nvSpPr>
        <p:spPr>
          <a:xfrm>
            <a:off x="6263640" y="1417320"/>
            <a:ext cx="5257800" cy="2103120"/>
          </a:xfrm>
          <a:prstGeom prst="roundRect">
            <a:avLst>
              <a:gd name="adj" fmla="val 2609"/>
            </a:avLst>
          </a:prstGeom>
          <a:solidFill>
            <a:srgbClr val="E8F0EC"/>
          </a:solidFill>
          <a:ln w="9525">
            <a:solidFill>
              <a:srgbClr val="D8DEDF"/>
            </a:solidFill>
            <a:prstDash val="solid"/>
          </a:ln>
        </p:spPr>
      </p:sp>
      <p:sp>
        <p:nvSpPr>
          <p:cNvPr id="10" name="Text 8"/>
          <p:cNvSpPr txBox="1"/>
          <p:nvPr/>
        </p:nvSpPr>
        <p:spPr>
          <a:xfrm>
            <a:off x="6583680" y="1627632"/>
            <a:ext cx="4663440" cy="365760"/>
          </a:xfrm>
          <a:prstGeom prst="rect">
            <a:avLst/>
          </a:prstGeom>
          <a:noFill/>
          <a:ln/>
        </p:spPr>
        <p:txBody>
          <a:bodyPr wrap="square" lIns="0" tIns="0" rIns="0" bIns="0" rtlCol="0" anchor="ctr"/>
          <a:lstStyle/>
          <a:p>
            <a:pPr indent="0" marL="0">
              <a:buNone/>
            </a:pPr>
            <a:r>
              <a:rPr lang="en-US" sz="1600" b="1" dirty="0">
                <a:solidFill>
                  <a:srgbClr val="2C6E4B"/>
                </a:solidFill>
                <a:latin typeface="Cambria" pitchFamily="34" charset="0"/>
                <a:ea typeface="Cambria" pitchFamily="34" charset="-122"/>
                <a:cs typeface="Cambria" pitchFamily="34" charset="-120"/>
              </a:rPr>
              <a:t>After correction</a:t>
            </a:r>
            <a:endParaRPr lang="en-US" sz="1600" dirty="0"/>
          </a:p>
        </p:txBody>
      </p:sp>
      <p:sp>
        <p:nvSpPr>
          <p:cNvPr id="11" name="Text 9"/>
          <p:cNvSpPr txBox="1"/>
          <p:nvPr/>
        </p:nvSpPr>
        <p:spPr>
          <a:xfrm>
            <a:off x="6583680" y="2057400"/>
            <a:ext cx="4663440" cy="1280160"/>
          </a:xfrm>
          <a:prstGeom prst="rect">
            <a:avLst/>
          </a:prstGeom>
          <a:noFill/>
          <a:ln/>
        </p:spPr>
        <p:txBody>
          <a:bodyPr wrap="square" lIns="0" tIns="0" rIns="0" bIns="0" rtlCol="0" anchor="ctr"/>
          <a:lstStyle/>
          <a:p>
            <a:pPr indent="0" marL="0">
              <a:lnSpc>
                <a:spcPts val="2000"/>
              </a:lnSpc>
              <a:buNone/>
            </a:pPr>
            <a:r>
              <a:rPr lang="en-US" sz="1350" dirty="0">
                <a:solidFill>
                  <a:srgbClr val="1D4433"/>
                </a:solidFill>
                <a:latin typeface="Calibri" pitchFamily="34" charset="0"/>
                <a:ea typeface="Calibri" pitchFamily="34" charset="-122"/>
                <a:cs typeface="Calibri" pitchFamily="34" charset="-120"/>
              </a:rPr>
              <a:t>Zero unknown symbols in both languages, across 870,547 phone tokens.</a:t>
            </a:r>
            <a:endParaRPr lang="en-US" sz="1350" dirty="0"/>
          </a:p>
          <a:p>
            <a:pPr indent="0" marL="0">
              <a:lnSpc>
                <a:spcPts val="2000"/>
              </a:lnSpc>
              <a:buNone/>
            </a:pPr>
            <a:r>
              <a:rPr lang="en-US" sz="1350" dirty="0">
                <a:solidFill>
                  <a:srgbClr val="1D4433"/>
                </a:solidFill>
                <a:latin typeface="Calibri" pitchFamily="34" charset="0"/>
                <a:ea typeface="Calibri" pitchFamily="34" charset="-122"/>
                <a:cs typeface="Calibri" pitchFamily="34" charset="-120"/>
              </a:rPr>
              <a:t>Inventory: Hindi uses 72 of 75, Marathi 67.</a:t>
            </a:r>
            <a:endParaRPr lang="en-US" sz="1350" dirty="0"/>
          </a:p>
        </p:txBody>
      </p:sp>
      <p:sp>
        <p:nvSpPr>
          <p:cNvPr id="12" name="Text 10"/>
          <p:cNvSpPr txBox="1"/>
          <p:nvPr/>
        </p:nvSpPr>
        <p:spPr>
          <a:xfrm>
            <a:off x="640080" y="3749040"/>
            <a:ext cx="10881360" cy="365760"/>
          </a:xfrm>
          <a:prstGeom prst="rect">
            <a:avLst/>
          </a:prstGeom>
          <a:noFill/>
          <a:ln/>
        </p:spPr>
        <p:txBody>
          <a:bodyPr wrap="square" lIns="0" tIns="0" rIns="0" bIns="0" rtlCol="0" anchor="ctr"/>
          <a:lstStyle/>
          <a:p>
            <a:pPr indent="0" marL="0">
              <a:buNone/>
            </a:pPr>
            <a:r>
              <a:rPr lang="en-US" sz="1700" b="1" dirty="0">
                <a:solidFill>
                  <a:srgbClr val="13383B"/>
                </a:solidFill>
                <a:latin typeface="Cambria" pitchFamily="34" charset="0"/>
                <a:ea typeface="Cambria" pitchFamily="34" charset="-122"/>
                <a:cs typeface="Cambria" pitchFamily="34" charset="-120"/>
              </a:rPr>
              <a:t>What a curated test set was never going to surface</a:t>
            </a:r>
            <a:endParaRPr lang="en-US" sz="1700" dirty="0"/>
          </a:p>
        </p:txBody>
      </p:sp>
      <p:sp>
        <p:nvSpPr>
          <p:cNvPr id="13" name="Text 11"/>
          <p:cNvSpPr txBox="1"/>
          <p:nvPr/>
        </p:nvSpPr>
        <p:spPr>
          <a:xfrm>
            <a:off x="640080" y="4251960"/>
            <a:ext cx="10881360" cy="2103120"/>
          </a:xfrm>
          <a:prstGeom prst="rect">
            <a:avLst/>
          </a:prstGeom>
          <a:noFill/>
          <a:ln/>
        </p:spPr>
        <p:txBody>
          <a:bodyPr wrap="square" lIns="0" tIns="0" rIns="0" bIns="0" rtlCol="0" anchor="t"/>
          <a:lstStyle/>
          <a:p>
            <a:pPr marL="342900" indent="-342900">
              <a:lnSpc>
                <a:spcPts val="1917"/>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Nine Hindi tokens with a nukta on a consonant that has no nukta form — the stray mark also broke the parse of the next character</a:t>
            </a:r>
            <a:endParaRPr lang="en-US" sz="1350" dirty="0"/>
          </a:p>
          <a:p>
            <a:pPr marL="342900" indent="-342900">
              <a:lnSpc>
                <a:spcPts val="1917"/>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199 Marathi tokens of the letter RRA, which occurs only in the rya cluster</a:t>
            </a:r>
            <a:endParaRPr lang="en-US" sz="1350" dirty="0"/>
          </a:p>
          <a:p>
            <a:pPr marL="342900" indent="-342900">
              <a:lnSpc>
                <a:spcPts val="1917"/>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A colon typed where a visarga belonged, inside a word; the OM ligature, which is a syllable rather than a letter</a:t>
            </a:r>
            <a:endParaRPr lang="en-US" sz="1350" dirty="0"/>
          </a:p>
          <a:p>
            <a:pPr marL="342900" indent="-342900">
              <a:lnSpc>
                <a:spcPts val="1917"/>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Southern short vowels neither language distinguishes; vowel signs left with no consonant to attach to</a:t>
            </a:r>
            <a:endParaRPr lang="en-US" sz="1350" dirty="0"/>
          </a:p>
          <a:p>
            <a:pPr marL="342900" indent="-342900">
              <a:lnSpc>
                <a:spcPts val="1917"/>
              </a:lnSpc>
              <a:spcAft>
                <a:spcPts val="900"/>
              </a:spcAft>
              <a:buSzPct val="100000"/>
              <a:buChar char="•"/>
            </a:pPr>
            <a:r>
              <a:rPr lang="en-US" sz="1350" dirty="0">
                <a:solidFill>
                  <a:srgbClr val="23303A"/>
                </a:solidFill>
                <a:latin typeface="Calibri" pitchFamily="34" charset="0"/>
                <a:ea typeface="Calibri" pitchFamily="34" charset="-122"/>
                <a:cs typeface="Calibri" pitchFamily="34" charset="-120"/>
              </a:rPr>
              <a:t>Digits in 15 Marathi utterances — the expander refuses anything it cannot expand confidently rather than guessing</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Verifying the metrics, not just running them</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12</a:t>
            </a:r>
            <a:endParaRPr lang="en-US" sz="1100" dirty="0"/>
          </a:p>
        </p:txBody>
      </p:sp>
      <p:sp>
        <p:nvSpPr>
          <p:cNvPr id="6" name="Text 4"/>
          <p:cNvSpPr txBox="1"/>
          <p:nvPr/>
        </p:nvSpPr>
        <p:spPr>
          <a:xfrm>
            <a:off x="640080" y="1298448"/>
            <a:ext cx="10881360" cy="548640"/>
          </a:xfrm>
          <a:prstGeom prst="rect">
            <a:avLst/>
          </a:prstGeom>
          <a:noFill/>
          <a:ln/>
        </p:spPr>
        <p:txBody>
          <a:bodyPr wrap="square" lIns="0" tIns="0" rIns="0" bIns="0" rtlCol="0" anchor="t"/>
          <a:lstStyle/>
          <a:p>
            <a:pPr indent="0" marL="0">
              <a:lnSpc>
                <a:spcPts val="2100"/>
              </a:lnSpc>
              <a:buNone/>
            </a:pPr>
            <a:r>
              <a:rPr lang="en-US" sz="1450" dirty="0">
                <a:solidFill>
                  <a:srgbClr val="23303A"/>
                </a:solidFill>
                <a:latin typeface="Calibri" pitchFamily="34" charset="0"/>
                <a:ea typeface="Calibri" pitchFamily="34" charset="-122"/>
                <a:cs typeface="Calibri" pitchFamily="34" charset="-120"/>
              </a:rPr>
              <a:t>A metric only ever exercised on real audio tends to be wrong in ways nobody notices until a reviewer asks. Both were checked against answers derivable on paper.</a:t>
            </a:r>
            <a:endParaRPr lang="en-US" sz="1450" dirty="0"/>
          </a:p>
        </p:txBody>
      </p:sp>
      <p:sp>
        <p:nvSpPr>
          <p:cNvPr id="7" name="Shape 5"/>
          <p:cNvSpPr/>
          <p:nvPr/>
        </p:nvSpPr>
        <p:spPr>
          <a:xfrm>
            <a:off x="640080" y="2029968"/>
            <a:ext cx="5257800" cy="2971800"/>
          </a:xfrm>
          <a:prstGeom prst="roundRect">
            <a:avLst>
              <a:gd name="adj" fmla="val 1846"/>
            </a:avLst>
          </a:prstGeom>
          <a:solidFill>
            <a:srgbClr val="F2F5F5"/>
          </a:solidFill>
          <a:ln w="9525">
            <a:solidFill>
              <a:srgbClr val="D8DEDF"/>
            </a:solidFill>
            <a:prstDash val="solid"/>
          </a:ln>
        </p:spPr>
      </p:sp>
      <p:sp>
        <p:nvSpPr>
          <p:cNvPr id="8" name="Text 6"/>
          <p:cNvSpPr txBox="1"/>
          <p:nvPr/>
        </p:nvSpPr>
        <p:spPr>
          <a:xfrm>
            <a:off x="960120" y="2231136"/>
            <a:ext cx="4663440" cy="365760"/>
          </a:xfrm>
          <a:prstGeom prst="rect">
            <a:avLst/>
          </a:prstGeom>
          <a:noFill/>
          <a:ln/>
        </p:spPr>
        <p:txBody>
          <a:bodyPr wrap="square" lIns="0" tIns="0" rIns="0" bIns="0" rtlCol="0" anchor="ctr"/>
          <a:lstStyle/>
          <a:p>
            <a:pPr indent="0" marL="0">
              <a:buNone/>
            </a:pPr>
            <a:r>
              <a:rPr lang="en-US" sz="1700" b="1" dirty="0">
                <a:solidFill>
                  <a:srgbClr val="13383B"/>
                </a:solidFill>
                <a:latin typeface="Cambria" pitchFamily="34" charset="0"/>
                <a:ea typeface="Cambria" pitchFamily="34" charset="-122"/>
                <a:cs typeface="Cambria" pitchFamily="34" charset="-120"/>
              </a:rPr>
              <a:t>MCD is amplitude invariant</a:t>
            </a:r>
            <a:endParaRPr lang="en-US" sz="1700" dirty="0"/>
          </a:p>
        </p:txBody>
      </p:sp>
      <p:sp>
        <p:nvSpPr>
          <p:cNvPr id="9" name="Text 7"/>
          <p:cNvSpPr txBox="1"/>
          <p:nvPr/>
        </p:nvSpPr>
        <p:spPr>
          <a:xfrm>
            <a:off x="960120" y="2651760"/>
            <a:ext cx="4663440" cy="548640"/>
          </a:xfrm>
          <a:prstGeom prst="rect">
            <a:avLst/>
          </a:prstGeom>
          <a:noFill/>
          <a:ln/>
        </p:spPr>
        <p:txBody>
          <a:bodyPr wrap="square" lIns="0" tIns="0" rIns="0" bIns="0" rtlCol="0" anchor="ctr"/>
          <a:lstStyle/>
          <a:p>
            <a:pPr indent="0" marL="0">
              <a:buNone/>
            </a:pPr>
            <a:r>
              <a:rPr lang="en-US" sz="3000" b="1" dirty="0">
                <a:solidFill>
                  <a:srgbClr val="B0432A"/>
                </a:solidFill>
                <a:latin typeface="Cambria" pitchFamily="34" charset="0"/>
                <a:ea typeface="Cambria" pitchFamily="34" charset="-122"/>
                <a:cs typeface="Cambria" pitchFamily="34" charset="-120"/>
              </a:rPr>
              <a:t>&lt; 10⁻⁶ dB</a:t>
            </a:r>
            <a:endParaRPr lang="en-US" sz="3000" dirty="0"/>
          </a:p>
        </p:txBody>
      </p:sp>
      <p:sp>
        <p:nvSpPr>
          <p:cNvPr id="10" name="Text 8"/>
          <p:cNvSpPr txBox="1"/>
          <p:nvPr/>
        </p:nvSpPr>
        <p:spPr>
          <a:xfrm>
            <a:off x="960120" y="3200400"/>
            <a:ext cx="4663440" cy="1691640"/>
          </a:xfrm>
          <a:prstGeom prst="rect">
            <a:avLst/>
          </a:prstGeom>
          <a:noFill/>
          <a:ln/>
        </p:spPr>
        <p:txBody>
          <a:bodyPr wrap="square" lIns="0" tIns="0" rIns="0" bIns="0" rtlCol="0" anchor="t"/>
          <a:lstStyle/>
          <a:p>
            <a:pPr indent="0" marL="0">
              <a:lnSpc>
                <a:spcPts val="1800"/>
              </a:lnSpc>
              <a:buNone/>
            </a:pPr>
            <a:r>
              <a:rPr lang="en-US" sz="1250" dirty="0">
                <a:solidFill>
                  <a:srgbClr val="23303A"/>
                </a:solidFill>
                <a:latin typeface="Calibri" pitchFamily="34" charset="0"/>
                <a:ea typeface="Calibri" pitchFamily="34" charset="-122"/>
                <a:cs typeface="Calibri" pitchFamily="34" charset="-120"/>
              </a:rPr>
              <a:t>change when the input waveform is scaled by 0.25.</a:t>
            </a:r>
            <a:endParaRPr lang="en-US" sz="1250" dirty="0"/>
          </a:p>
          <a:p>
            <a:pPr indent="0" marL="0">
              <a:lnSpc>
                <a:spcPts val="1800"/>
              </a:lnSpc>
              <a:buNone/>
            </a:pPr>
            <a:endParaRPr lang="en-US" sz="1250" dirty="0"/>
          </a:p>
          <a:p>
            <a:pPr indent="0" marL="0">
              <a:lnSpc>
                <a:spcPts val="1800"/>
              </a:lnSpc>
              <a:buNone/>
            </a:pPr>
            <a:r>
              <a:rPr lang="en-US" sz="1250" dirty="0">
                <a:solidFill>
                  <a:srgbClr val="23303A"/>
                </a:solidFill>
                <a:latin typeface="Calibri" pitchFamily="34" charset="0"/>
                <a:ea typeface="Calibri" pitchFamily="34" charset="-122"/>
                <a:cs typeface="Calibri" pitchFamily="34" charset="-120"/>
              </a:rPr>
              <a:t>Scaling multiplies the power spectrum by a constant, a constant dB offset across every mel band, which lands entirely in the zeroth DCT coefficient. Dropping c₀ makes the measure blind to gain.</a:t>
            </a:r>
            <a:endParaRPr lang="en-US" sz="1250" dirty="0"/>
          </a:p>
        </p:txBody>
      </p:sp>
      <p:sp>
        <p:nvSpPr>
          <p:cNvPr id="11" name="Shape 9"/>
          <p:cNvSpPr/>
          <p:nvPr/>
        </p:nvSpPr>
        <p:spPr>
          <a:xfrm>
            <a:off x="6263640" y="2029968"/>
            <a:ext cx="5257800" cy="2971800"/>
          </a:xfrm>
          <a:prstGeom prst="roundRect">
            <a:avLst>
              <a:gd name="adj" fmla="val 1846"/>
            </a:avLst>
          </a:prstGeom>
          <a:solidFill>
            <a:srgbClr val="F2F5F5"/>
          </a:solidFill>
          <a:ln w="9525">
            <a:solidFill>
              <a:srgbClr val="D8DEDF"/>
            </a:solidFill>
            <a:prstDash val="solid"/>
          </a:ln>
        </p:spPr>
      </p:sp>
      <p:sp>
        <p:nvSpPr>
          <p:cNvPr id="12" name="Text 10"/>
          <p:cNvSpPr txBox="1"/>
          <p:nvPr/>
        </p:nvSpPr>
        <p:spPr>
          <a:xfrm>
            <a:off x="6583680" y="2231136"/>
            <a:ext cx="4663440" cy="365760"/>
          </a:xfrm>
          <a:prstGeom prst="rect">
            <a:avLst/>
          </a:prstGeom>
          <a:noFill/>
          <a:ln/>
        </p:spPr>
        <p:txBody>
          <a:bodyPr wrap="square" lIns="0" tIns="0" rIns="0" bIns="0" rtlCol="0" anchor="ctr"/>
          <a:lstStyle/>
          <a:p>
            <a:pPr indent="0" marL="0">
              <a:buNone/>
            </a:pPr>
            <a:r>
              <a:rPr lang="en-US" sz="1700" b="1" dirty="0">
                <a:solidFill>
                  <a:srgbClr val="13383B"/>
                </a:solidFill>
                <a:latin typeface="Cambria" pitchFamily="34" charset="0"/>
                <a:ea typeface="Cambria" pitchFamily="34" charset="-122"/>
                <a:cs typeface="Cambria" pitchFamily="34" charset="-120"/>
              </a:rPr>
              <a:t>log-F0 RMSE is scale invariant</a:t>
            </a:r>
            <a:endParaRPr lang="en-US" sz="1700" dirty="0"/>
          </a:p>
        </p:txBody>
      </p:sp>
      <p:sp>
        <p:nvSpPr>
          <p:cNvPr id="13" name="Text 11"/>
          <p:cNvSpPr txBox="1"/>
          <p:nvPr/>
        </p:nvSpPr>
        <p:spPr>
          <a:xfrm>
            <a:off x="6583680" y="2651760"/>
            <a:ext cx="4663440" cy="548640"/>
          </a:xfrm>
          <a:prstGeom prst="rect">
            <a:avLst/>
          </a:prstGeom>
          <a:noFill/>
          <a:ln/>
        </p:spPr>
        <p:txBody>
          <a:bodyPr wrap="square" lIns="0" tIns="0" rIns="0" bIns="0" rtlCol="0" anchor="ctr"/>
          <a:lstStyle/>
          <a:p>
            <a:pPr indent="0" marL="0">
              <a:buNone/>
            </a:pPr>
            <a:r>
              <a:rPr lang="en-US" sz="3000" b="1" dirty="0">
                <a:solidFill>
                  <a:srgbClr val="B0432A"/>
                </a:solidFill>
                <a:latin typeface="Cambria" pitchFamily="34" charset="0"/>
                <a:ea typeface="Cambria" pitchFamily="34" charset="-122"/>
                <a:cs typeface="Cambria" pitchFamily="34" charset="-120"/>
              </a:rPr>
              <a:t>ln(1.1) to 10⁻¹²</a:t>
            </a:r>
            <a:endParaRPr lang="en-US" sz="3000" dirty="0"/>
          </a:p>
        </p:txBody>
      </p:sp>
      <p:sp>
        <p:nvSpPr>
          <p:cNvPr id="14" name="Text 12"/>
          <p:cNvSpPr txBox="1"/>
          <p:nvPr/>
        </p:nvSpPr>
        <p:spPr>
          <a:xfrm>
            <a:off x="6583680" y="3200400"/>
            <a:ext cx="4663440" cy="1691640"/>
          </a:xfrm>
          <a:prstGeom prst="rect">
            <a:avLst/>
          </a:prstGeom>
          <a:noFill/>
          <a:ln/>
        </p:spPr>
        <p:txBody>
          <a:bodyPr wrap="square" lIns="0" tIns="0" rIns="0" bIns="0" rtlCol="0" anchor="t"/>
          <a:lstStyle/>
          <a:p>
            <a:pPr indent="0" marL="0">
              <a:lnSpc>
                <a:spcPts val="1800"/>
              </a:lnSpc>
              <a:buNone/>
            </a:pPr>
            <a:r>
              <a:rPr lang="en-US" sz="1250" dirty="0">
                <a:solidFill>
                  <a:srgbClr val="23303A"/>
                </a:solidFill>
                <a:latin typeface="Calibri" pitchFamily="34" charset="0"/>
                <a:ea typeface="Calibri" pitchFamily="34" charset="-122"/>
                <a:cs typeface="Calibri" pitchFamily="34" charset="-120"/>
              </a:rPr>
              <a:t>for a 10% pitch error, at both 100 Hz and 300 Hz.</a:t>
            </a:r>
            <a:endParaRPr lang="en-US" sz="1250" dirty="0"/>
          </a:p>
          <a:p>
            <a:pPr indent="0" marL="0">
              <a:lnSpc>
                <a:spcPts val="1800"/>
              </a:lnSpc>
              <a:buNone/>
            </a:pPr>
            <a:endParaRPr lang="en-US" sz="1250" dirty="0"/>
          </a:p>
          <a:p>
            <a:pPr indent="0" marL="0">
              <a:lnSpc>
                <a:spcPts val="1800"/>
              </a:lnSpc>
              <a:buNone/>
            </a:pPr>
            <a:r>
              <a:rPr lang="en-US" sz="1250" dirty="0">
                <a:solidFill>
                  <a:srgbClr val="23303A"/>
                </a:solidFill>
                <a:latin typeface="Calibri" pitchFamily="34" charset="0"/>
                <a:ea typeface="Calibri" pitchFamily="34" charset="-122"/>
                <a:cs typeface="Calibri" pitchFamily="34" charset="-120"/>
              </a:rPr>
              <a:t>A linear RMSE would call the same perceptual error 10 Hz on one voice and 30 Hz on another, and any average across speakers would be dominated by the lower-pitched one.</a:t>
            </a:r>
            <a:endParaRPr lang="en-US" sz="1250" dirty="0"/>
          </a:p>
        </p:txBody>
      </p:sp>
      <p:sp>
        <p:nvSpPr>
          <p:cNvPr id="15" name="Shape 13"/>
          <p:cNvSpPr/>
          <p:nvPr/>
        </p:nvSpPr>
        <p:spPr>
          <a:xfrm>
            <a:off x="640080" y="5349240"/>
            <a:ext cx="10881360" cy="1051560"/>
          </a:xfrm>
          <a:prstGeom prst="roundRect">
            <a:avLst>
              <a:gd name="adj" fmla="val 5217"/>
            </a:avLst>
          </a:prstGeom>
          <a:solidFill>
            <a:srgbClr val="F2F5F5"/>
          </a:solidFill>
          <a:ln w="9525">
            <a:solidFill>
              <a:srgbClr val="D8DEDF"/>
            </a:solidFill>
            <a:prstDash val="solid"/>
          </a:ln>
        </p:spPr>
      </p:sp>
      <p:sp>
        <p:nvSpPr>
          <p:cNvPr id="16" name="Text 14"/>
          <p:cNvSpPr txBox="1"/>
          <p:nvPr/>
        </p:nvSpPr>
        <p:spPr>
          <a:xfrm>
            <a:off x="960120" y="5513832"/>
            <a:ext cx="10241280" cy="777240"/>
          </a:xfrm>
          <a:prstGeom prst="rect">
            <a:avLst/>
          </a:prstGeom>
          <a:noFill/>
          <a:ln/>
        </p:spPr>
        <p:txBody>
          <a:bodyPr wrap="square" lIns="0" tIns="0" rIns="0" bIns="0" rtlCol="0" anchor="ctr"/>
          <a:lstStyle/>
          <a:p>
            <a:pPr indent="0" marL="0">
              <a:lnSpc>
                <a:spcPts val="1800"/>
              </a:lnSpc>
              <a:buNone/>
            </a:pPr>
            <a:r>
              <a:rPr lang="en-US" sz="1300" dirty="0">
                <a:solidFill>
                  <a:srgbClr val="23303A"/>
                </a:solidFill>
                <a:latin typeface="Calibri" pitchFamily="34" charset="0"/>
                <a:ea typeface="Calibri" pitchFamily="34" charset="-122"/>
                <a:cs typeface="Calibri" pitchFamily="34" charset="-120"/>
              </a:rPr>
              <a:t>Two guards against silent bias, both tested: unequal-length F0 tracks raise rather than truncate, since truncation would favour systems predicting shorter durations; and a comparison with no commonly voiced frames returns NaN rather than zero, so an empty comparison cannot pass for a perfect score.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Three defects, none of which announced itself</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13</a:t>
            </a:r>
            <a:endParaRPr lang="en-US" sz="1100" dirty="0"/>
          </a:p>
        </p:txBody>
      </p:sp>
      <p:sp>
        <p:nvSpPr>
          <p:cNvPr id="6" name="Shape 4"/>
          <p:cNvSpPr/>
          <p:nvPr/>
        </p:nvSpPr>
        <p:spPr>
          <a:xfrm>
            <a:off x="640080" y="1325880"/>
            <a:ext cx="10881360" cy="2194560"/>
          </a:xfrm>
          <a:prstGeom prst="roundRect">
            <a:avLst>
              <a:gd name="adj" fmla="val 2500"/>
            </a:avLst>
          </a:prstGeom>
          <a:solidFill>
            <a:srgbClr val="F6EAE6"/>
          </a:solidFill>
          <a:ln w="9525">
            <a:solidFill>
              <a:srgbClr val="D8DEDF"/>
            </a:solidFill>
            <a:prstDash val="solid"/>
          </a:ln>
        </p:spPr>
      </p:sp>
      <p:sp>
        <p:nvSpPr>
          <p:cNvPr id="7" name="Text 5"/>
          <p:cNvSpPr txBox="1"/>
          <p:nvPr/>
        </p:nvSpPr>
        <p:spPr>
          <a:xfrm>
            <a:off x="960120" y="1508760"/>
            <a:ext cx="7315200" cy="365760"/>
          </a:xfrm>
          <a:prstGeom prst="rect">
            <a:avLst/>
          </a:prstGeom>
          <a:noFill/>
          <a:ln/>
        </p:spPr>
        <p:txBody>
          <a:bodyPr wrap="square" lIns="0" tIns="0" rIns="0" bIns="0" rtlCol="0" anchor="ctr"/>
          <a:lstStyle/>
          <a:p>
            <a:pPr indent="0" marL="0">
              <a:buNone/>
            </a:pPr>
            <a:r>
              <a:rPr lang="en-US" sz="1800" b="1" dirty="0">
                <a:solidFill>
                  <a:srgbClr val="B0432A"/>
                </a:solidFill>
                <a:latin typeface="Cambria" pitchFamily="34" charset="0"/>
                <a:ea typeface="Cambria" pitchFamily="34" charset="-122"/>
                <a:cs typeface="Cambria" pitchFamily="34" charset="-120"/>
              </a:rPr>
              <a:t>Punctuation was rewriting words</a:t>
            </a:r>
            <a:endParaRPr lang="en-US" sz="1800" dirty="0"/>
          </a:p>
        </p:txBody>
      </p:sp>
      <p:sp>
        <p:nvSpPr>
          <p:cNvPr id="8" name="Text 6"/>
          <p:cNvSpPr txBox="1"/>
          <p:nvPr/>
        </p:nvSpPr>
        <p:spPr>
          <a:xfrm>
            <a:off x="960120" y="1956816"/>
            <a:ext cx="7315200" cy="411480"/>
          </a:xfrm>
          <a:prstGeom prst="rect">
            <a:avLst/>
          </a:prstGeom>
          <a:noFill/>
          <a:ln/>
        </p:spPr>
        <p:txBody>
          <a:bodyPr wrap="square" lIns="0" tIns="0" rIns="0" bIns="0" rtlCol="0" anchor="ctr"/>
          <a:lstStyle/>
          <a:p>
            <a:pPr indent="0" marL="0">
              <a:buNone/>
            </a:pPr>
            <a:r>
              <a:rPr lang="en-US" sz="1800" dirty="0">
                <a:solidFill>
                  <a:srgbClr val="13383B"/>
                </a:solidFill>
                <a:latin typeface="Cambria" pitchFamily="34" charset="0"/>
                <a:ea typeface="Cambria" pitchFamily="34" charset="-122"/>
                <a:cs typeface="Cambria" pitchFamily="34" charset="-120"/>
              </a:rPr>
              <a:t>namak  =  nəmək</a:t>
            </a:r>
            <a:pPr indent="0" marL="0">
              <a:buNone/>
            </a:pPr>
            <a:r>
              <a:rPr lang="en-US" sz="1400" dirty="0">
                <a:solidFill>
                  <a:srgbClr val="5D666E"/>
                </a:solidFill>
                <a:latin typeface="Cambria" pitchFamily="34" charset="0"/>
                <a:ea typeface="Cambria" pitchFamily="34" charset="-122"/>
                <a:cs typeface="Cambria" pitchFamily="34" charset="-120"/>
              </a:rPr>
              <a:t>        came out as        </a:t>
            </a:r>
            <a:pPr indent="0" marL="0">
              <a:buNone/>
            </a:pPr>
            <a:r>
              <a:rPr lang="en-US" sz="1800" b="1" dirty="0">
                <a:solidFill>
                  <a:srgbClr val="B0432A"/>
                </a:solidFill>
                <a:latin typeface="Cambria" pitchFamily="34" charset="0"/>
                <a:ea typeface="Cambria" pitchFamily="34" charset="-122"/>
                <a:cs typeface="Cambria" pitchFamily="34" charset="-120"/>
              </a:rPr>
              <a:t>nəmkə</a:t>
            </a:r>
            <a:endParaRPr lang="en-US" sz="1800" dirty="0"/>
          </a:p>
        </p:txBody>
      </p:sp>
      <p:sp>
        <p:nvSpPr>
          <p:cNvPr id="9" name="Text 7"/>
          <p:cNvSpPr txBox="1"/>
          <p:nvPr/>
        </p:nvSpPr>
        <p:spPr>
          <a:xfrm>
            <a:off x="960120" y="2450592"/>
            <a:ext cx="10241280" cy="960120"/>
          </a:xfrm>
          <a:prstGeom prst="rect">
            <a:avLst/>
          </a:prstGeom>
          <a:noFill/>
          <a:ln/>
        </p:spPr>
        <p:txBody>
          <a:bodyPr wrap="square" lIns="0" tIns="0" rIns="0" bIns="0" rtlCol="0" anchor="t"/>
          <a:lstStyle/>
          <a:p>
            <a:pPr indent="0" marL="0">
              <a:lnSpc>
                <a:spcPts val="1800"/>
              </a:lnSpc>
              <a:buNone/>
            </a:pPr>
            <a:r>
              <a:rPr lang="en-US" sz="1300" dirty="0">
                <a:solidFill>
                  <a:srgbClr val="5A2A1C"/>
                </a:solidFill>
                <a:latin typeface="Calibri" pitchFamily="34" charset="0"/>
                <a:ea typeface="Calibri" pitchFamily="34" charset="-122"/>
                <a:cs typeface="Calibri" pitchFamily="34" charset="-120"/>
              </a:rPr>
              <a:t>A trailing comma means the word-final schwa is no longer final, so it survives; its survival then supplies the right-hand vowel that lets the schwa to its left delete. 16.5% of Hindi word tokens carry punctuation, and the damage fell on the phonemic arm alone, since the grapheme path never touches the schwa stage.</a:t>
            </a:r>
            <a:endParaRPr lang="en-US" sz="1300" dirty="0"/>
          </a:p>
        </p:txBody>
      </p:sp>
      <p:sp>
        <p:nvSpPr>
          <p:cNvPr id="10" name="Shape 8"/>
          <p:cNvSpPr/>
          <p:nvPr/>
        </p:nvSpPr>
        <p:spPr>
          <a:xfrm>
            <a:off x="640080" y="3840480"/>
            <a:ext cx="5257800" cy="1783080"/>
          </a:xfrm>
          <a:prstGeom prst="roundRect">
            <a:avLst>
              <a:gd name="adj" fmla="val 3077"/>
            </a:avLst>
          </a:prstGeom>
          <a:solidFill>
            <a:srgbClr val="F2F5F5"/>
          </a:solidFill>
          <a:ln w="9525">
            <a:solidFill>
              <a:srgbClr val="D8DEDF"/>
            </a:solidFill>
            <a:prstDash val="solid"/>
          </a:ln>
        </p:spPr>
      </p:sp>
      <p:sp>
        <p:nvSpPr>
          <p:cNvPr id="11" name="Text 9"/>
          <p:cNvSpPr txBox="1"/>
          <p:nvPr/>
        </p:nvSpPr>
        <p:spPr>
          <a:xfrm>
            <a:off x="960120" y="3977640"/>
            <a:ext cx="4663440" cy="365760"/>
          </a:xfrm>
          <a:prstGeom prst="rect">
            <a:avLst/>
          </a:prstGeom>
          <a:noFill/>
          <a:ln/>
        </p:spPr>
        <p:txBody>
          <a:bodyPr wrap="square" lIns="0" tIns="0" rIns="0" bIns="0" rtlCol="0" anchor="ctr"/>
          <a:lstStyle/>
          <a:p>
            <a:pPr indent="0" marL="0">
              <a:buNone/>
            </a:pPr>
            <a:r>
              <a:rPr lang="en-US" sz="1600" b="1" dirty="0">
                <a:solidFill>
                  <a:srgbClr val="13383B"/>
                </a:solidFill>
                <a:latin typeface="Cambria" pitchFamily="34" charset="0"/>
                <a:ea typeface="Cambria" pitchFamily="34" charset="-122"/>
                <a:cs typeface="Cambria" pitchFamily="34" charset="-120"/>
              </a:rPr>
              <a:t>A run was in the plan twice</a:t>
            </a:r>
            <a:endParaRPr lang="en-US" sz="1600" dirty="0"/>
          </a:p>
        </p:txBody>
      </p:sp>
      <p:sp>
        <p:nvSpPr>
          <p:cNvPr id="12" name="Text 10"/>
          <p:cNvSpPr txBox="1"/>
          <p:nvPr/>
        </p:nvSpPr>
        <p:spPr>
          <a:xfrm>
            <a:off x="960120" y="4389120"/>
            <a:ext cx="4663440" cy="1097280"/>
          </a:xfrm>
          <a:prstGeom prst="rect">
            <a:avLst/>
          </a:prstGeom>
          <a:noFill/>
          <a:ln/>
        </p:spPr>
        <p:txBody>
          <a:bodyPr wrap="square" lIns="0" tIns="0" rIns="0" bIns="0" rtlCol="0" anchor="ctr"/>
          <a:lstStyle/>
          <a:p>
            <a:pPr indent="0" marL="0">
              <a:lnSpc>
                <a:spcPts val="1700"/>
              </a:lnSpc>
              <a:buNone/>
            </a:pPr>
            <a:r>
              <a:rPr lang="en-US" sz="1250" dirty="0">
                <a:solidFill>
                  <a:srgbClr val="23303A"/>
                </a:solidFill>
                <a:latin typeface="Calibri" pitchFamily="34" charset="0"/>
                <a:ea typeface="Calibri" pitchFamily="34" charset="-122"/>
                <a:cs typeface="Calibri" pitchFamily="34" charset="-120"/>
              </a:rPr>
              <a:t>The ladder's 9 h rung was a second copy of the main run. Invisible because the run id sat inside the config hash, which makes two identical runs look distinct. 10 GPU-hours.</a:t>
            </a:r>
            <a:endParaRPr lang="en-US" sz="1250" dirty="0"/>
          </a:p>
        </p:txBody>
      </p:sp>
      <p:sp>
        <p:nvSpPr>
          <p:cNvPr id="13" name="Shape 11"/>
          <p:cNvSpPr/>
          <p:nvPr/>
        </p:nvSpPr>
        <p:spPr>
          <a:xfrm>
            <a:off x="6263640" y="3840480"/>
            <a:ext cx="5257800" cy="1783080"/>
          </a:xfrm>
          <a:prstGeom prst="roundRect">
            <a:avLst>
              <a:gd name="adj" fmla="val 3077"/>
            </a:avLst>
          </a:prstGeom>
          <a:solidFill>
            <a:srgbClr val="F2F5F5"/>
          </a:solidFill>
          <a:ln w="9525">
            <a:solidFill>
              <a:srgbClr val="D8DEDF"/>
            </a:solidFill>
            <a:prstDash val="solid"/>
          </a:ln>
        </p:spPr>
      </p:sp>
      <p:sp>
        <p:nvSpPr>
          <p:cNvPr id="14" name="Text 12"/>
          <p:cNvSpPr txBox="1"/>
          <p:nvPr/>
        </p:nvSpPr>
        <p:spPr>
          <a:xfrm>
            <a:off x="6583680" y="3977640"/>
            <a:ext cx="4663440" cy="365760"/>
          </a:xfrm>
          <a:prstGeom prst="rect">
            <a:avLst/>
          </a:prstGeom>
          <a:noFill/>
          <a:ln/>
        </p:spPr>
        <p:txBody>
          <a:bodyPr wrap="square" lIns="0" tIns="0" rIns="0" bIns="0" rtlCol="0" anchor="ctr"/>
          <a:lstStyle/>
          <a:p>
            <a:pPr indent="0" marL="0">
              <a:buNone/>
            </a:pPr>
            <a:r>
              <a:rPr lang="en-US" sz="1600" b="1" dirty="0">
                <a:solidFill>
                  <a:srgbClr val="13383B"/>
                </a:solidFill>
                <a:latin typeface="Cambria" pitchFamily="34" charset="0"/>
                <a:ea typeface="Cambria" pitchFamily="34" charset="-122"/>
                <a:cs typeface="Cambria" pitchFamily="34" charset="-120"/>
              </a:rPr>
              <a:t>The elicitation sheet leaked its answers</a:t>
            </a:r>
            <a:endParaRPr lang="en-US" sz="1600" dirty="0"/>
          </a:p>
        </p:txBody>
      </p:sp>
      <p:sp>
        <p:nvSpPr>
          <p:cNvPr id="15" name="Text 13"/>
          <p:cNvSpPr txBox="1"/>
          <p:nvPr/>
        </p:nvSpPr>
        <p:spPr>
          <a:xfrm>
            <a:off x="6583680" y="4389120"/>
            <a:ext cx="4663440" cy="1097280"/>
          </a:xfrm>
          <a:prstGeom prst="rect">
            <a:avLst/>
          </a:prstGeom>
          <a:noFill/>
          <a:ln/>
        </p:spPr>
        <p:txBody>
          <a:bodyPr wrap="square" lIns="0" tIns="0" rIns="0" bIns="0" rtlCol="0" anchor="ctr"/>
          <a:lstStyle/>
          <a:p>
            <a:pPr indent="0" marL="0">
              <a:lnSpc>
                <a:spcPts val="1700"/>
              </a:lnSpc>
              <a:buNone/>
            </a:pPr>
            <a:r>
              <a:rPr lang="en-US" sz="1250" dirty="0">
                <a:solidFill>
                  <a:srgbClr val="23303A"/>
                </a:solidFill>
                <a:latin typeface="Calibri" pitchFamily="34" charset="0"/>
                <a:ea typeface="Calibri" pitchFamily="34" charset="-122"/>
                <a:cs typeface="Calibri" pitchFamily="34" charset="-120"/>
              </a:rPr>
              <a:t>Its worked examples were themselves items from the 49-word test set, handing every participant three answers. Noticed only because a reader asked about one.</a:t>
            </a:r>
            <a:endParaRPr lang="en-US" sz="1250" dirty="0"/>
          </a:p>
        </p:txBody>
      </p:sp>
      <p:sp>
        <p:nvSpPr>
          <p:cNvPr id="16" name="Text 14"/>
          <p:cNvSpPr txBox="1"/>
          <p:nvPr/>
        </p:nvSpPr>
        <p:spPr>
          <a:xfrm>
            <a:off x="640080" y="5806440"/>
            <a:ext cx="10881360" cy="502920"/>
          </a:xfrm>
          <a:prstGeom prst="rect">
            <a:avLst/>
          </a:prstGeom>
          <a:noFill/>
          <a:ln/>
        </p:spPr>
        <p:txBody>
          <a:bodyPr wrap="square" lIns="0" tIns="0" rIns="0" bIns="0" rtlCol="0" anchor="ctr"/>
          <a:lstStyle/>
          <a:p>
            <a:pPr indent="0" marL="0">
              <a:lnSpc>
                <a:spcPts val="2000"/>
              </a:lnSpc>
              <a:buNone/>
            </a:pPr>
            <a:r>
              <a:rPr lang="en-US" sz="1400" i="1" dirty="0">
                <a:solidFill>
                  <a:srgbClr val="5D666E"/>
                </a:solidFill>
                <a:latin typeface="Calibri" pitchFamily="34" charset="0"/>
                <a:ea typeface="Calibri" pitchFamily="34" charset="-122"/>
                <a:cs typeface="Calibri" pitchFamily="34" charset="-120"/>
              </a:rPr>
              <a:t>All three were found by running the apparatus over real data, or by watching a person use it. Not by the 78 unit tests. Each now has a regression test or an assertion.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17 runs, 136 GPU-hours</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14</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881360" cy="914400"/>
        </p:xfrm>
        <a:graphic>
          <a:graphicData uri="http://schemas.openxmlformats.org/drawingml/2006/table">
            <a:tbl>
              <a:tblPr/>
              <a:tblGrid>
                <a:gridCol w="1371600"/>
                <a:gridCol w="4023360"/>
                <a:gridCol w="822960"/>
                <a:gridCol w="3200400"/>
                <a:gridCol w="146304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Runs</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Lang</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GPU-h</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solidFill>
                      <a:srgbClr val="13383B"/>
                    </a:solidFill>
                  </a:tcPr>
                </a:tc>
              </a:tr>
              <a:tr h="411480">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r01–r03</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FastSpeech 2 / VITS / Matcha</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hi</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phoneme</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algn="r" indent="0" marL="0">
                        <a:buNone/>
                      </a:pPr>
                      <a:r>
                        <a:rPr lang="en-US" sz="1300" dirty="0">
                          <a:solidFill>
                            <a:srgbClr val="23303A"/>
                          </a:solidFill>
                          <a:latin typeface="Calibri" pitchFamily="34" charset="0"/>
                          <a:ea typeface="Calibri" pitchFamily="34" charset="-122"/>
                          <a:cs typeface="Calibri" pitchFamily="34" charset="-120"/>
                        </a:rPr>
                        <a:t>36</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11480">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r04–r05</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FastSpeech 2 / VITS</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hi</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grapheme — the ablation</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algn="r" indent="0" marL="0">
                        <a:buNone/>
                      </a:pPr>
                      <a:r>
                        <a:rPr lang="en-US" sz="1300" dirty="0">
                          <a:solidFill>
                            <a:srgbClr val="23303A"/>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11480">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r06</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HiFi-GAN</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hi</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ground-truth mel</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algn="r" indent="0" marL="0">
                        <a:buNone/>
                      </a:pPr>
                      <a:r>
                        <a:rPr lang="en-US" sz="1300" dirty="0">
                          <a:solidFill>
                            <a:srgbClr val="23303A"/>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11480">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r07–r10</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FastSpeech 2</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hi</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ladder: 5 h → 10 min</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algn="r" indent="0" marL="0">
                        <a:buNone/>
                      </a:pPr>
                      <a:r>
                        <a:rPr lang="en-US" sz="1300" dirty="0">
                          <a:solidFill>
                            <a:srgbClr val="23303A"/>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11480">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r11–r14</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VITS</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hi</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ladder: 5 h → 10 min</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algn="r" indent="0" marL="0">
                        <a:buNone/>
                      </a:pPr>
                      <a:r>
                        <a:rPr lang="en-US" sz="1300" dirty="0">
                          <a:solidFill>
                            <a:srgbClr val="23303A"/>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11480">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r15–r16</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FastSpeech 2 / VITS</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mr</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phoneme — the control</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algn="r" indent="0" marL="0">
                        <a:buNone/>
                      </a:pPr>
                      <a:r>
                        <a:rPr lang="en-US" sz="1300" dirty="0">
                          <a:solidFill>
                            <a:srgbClr val="23303A"/>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11480">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r17</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HiFi-GAN</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mr</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r>
                        <a:rPr lang="en-US" sz="1300" dirty="0">
                          <a:solidFill>
                            <a:srgbClr val="23303A"/>
                          </a:solidFill>
                          <a:latin typeface="Calibri" pitchFamily="34" charset="0"/>
                          <a:ea typeface="Calibri" pitchFamily="34" charset="-122"/>
                          <a:cs typeface="Calibri" pitchFamily="34" charset="-120"/>
                        </a:rPr>
                        <a:t>ground-truth mel</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algn="r" indent="0" marL="0">
                        <a:buNone/>
                      </a:pPr>
                      <a:r>
                        <a:rPr lang="en-US" sz="1300" dirty="0">
                          <a:solidFill>
                            <a:srgbClr val="23303A"/>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r h="411480">
                <a:tc>
                  <a:txBody>
                    <a:bodyPr/>
                    <a:lstStyle/>
                    <a:p>
                      <a:pPr indent="0" marL="0">
                        <a:buNone/>
                      </a:pPr>
                      <a:r>
                        <a:rPr lang="en-US" sz="1300" b="1" dirty="0">
                          <a:solidFill>
                            <a:srgbClr val="13383B"/>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c>
                  <a:txBody>
                    <a:bodyPr/>
                    <a:lstStyle/>
                    <a:p>
                      <a:pPr algn="r" indent="0" marL="0">
                        <a:buNone/>
                      </a:pPr>
                      <a:r>
                        <a:rPr lang="en-US" sz="1300" b="1" dirty="0">
                          <a:solidFill>
                            <a:srgbClr val="13383B"/>
                          </a:solidFill>
                          <a:latin typeface="Calibri" pitchFamily="34" charset="0"/>
                          <a:ea typeface="Calibri" pitchFamily="34" charset="-122"/>
                          <a:cs typeface="Calibri" pitchFamily="34" charset="-120"/>
                        </a:rPr>
                        <a:t>136</a:t>
                      </a:r>
                      <a:endParaRPr lang="en-US" sz="1300" dirty="0">
                        <a:latin typeface="Calibri" charset="0"/>
                        <a:ea typeface="Calibri" charset="0"/>
                        <a:cs typeface="Calibri" charset="0"/>
                      </a:endParaRPr>
                    </a:p>
                  </a:txBody>
                  <a:tcPr marL="91440" marR="91440" marT="45720" marB="45720" anchor="ctr">
                    <a:lnL w="9525" cap="flat" cmpd="sng" algn="ctr">
                      <a:solidFill>
                        <a:srgbClr val="D8DEDF"/>
                      </a:solidFill>
                      <a:prstDash val="solid"/>
                      <a:round/>
                      <a:headEnd type="none" w="med" len="med"/>
                      <a:tailEnd type="none" w="med" len="med"/>
                    </a:lnL>
                    <a:lnR w="9525" cap="flat" cmpd="sng" algn="ctr">
                      <a:solidFill>
                        <a:srgbClr val="D8DEDF"/>
                      </a:solidFill>
                      <a:prstDash val="solid"/>
                      <a:round/>
                      <a:headEnd type="none" w="med" len="med"/>
                      <a:tailEnd type="none" w="med" len="med"/>
                    </a:lnR>
                    <a:lnT w="9525" cap="flat" cmpd="sng" algn="ctr">
                      <a:solidFill>
                        <a:srgbClr val="D8DEDF"/>
                      </a:solidFill>
                      <a:prstDash val="solid"/>
                      <a:round/>
                      <a:headEnd type="none" w="med" len="med"/>
                      <a:tailEnd type="none" w="med" len="med"/>
                    </a:lnT>
                    <a:lnB w="9525" cap="flat" cmpd="sng" algn="ctr">
                      <a:solidFill>
                        <a:srgbClr val="D8DEDF"/>
                      </a:solidFill>
                      <a:prstDash val="solid"/>
                      <a:round/>
                      <a:headEnd type="none" w="med" len="med"/>
                      <a:tailEnd type="none" w="med" len="med"/>
                    </a:lnB>
                  </a:tcPr>
                </a:tc>
              </a:tr>
            </a:tbl>
          </a:graphicData>
        </a:graphic>
      </p:graphicFrame>
      <p:sp>
        <p:nvSpPr>
          <p:cNvPr id="7" name="Shape 4"/>
          <p:cNvSpPr/>
          <p:nvPr/>
        </p:nvSpPr>
        <p:spPr>
          <a:xfrm>
            <a:off x="640080" y="5486400"/>
            <a:ext cx="5257800" cy="914400"/>
          </a:xfrm>
          <a:prstGeom prst="roundRect">
            <a:avLst>
              <a:gd name="adj" fmla="val 6000"/>
            </a:avLst>
          </a:prstGeom>
          <a:solidFill>
            <a:srgbClr val="F2F5F5"/>
          </a:solidFill>
          <a:ln w="9525">
            <a:solidFill>
              <a:srgbClr val="D8DEDF"/>
            </a:solidFill>
            <a:prstDash val="solid"/>
          </a:ln>
        </p:spPr>
      </p:sp>
      <p:sp>
        <p:nvSpPr>
          <p:cNvPr id="8" name="Text 5"/>
          <p:cNvSpPr txBox="1"/>
          <p:nvPr/>
        </p:nvSpPr>
        <p:spPr>
          <a:xfrm>
            <a:off x="914400" y="5650992"/>
            <a:ext cx="4754880" cy="640080"/>
          </a:xfrm>
          <a:prstGeom prst="rect">
            <a:avLst/>
          </a:prstGeom>
          <a:noFill/>
          <a:ln/>
        </p:spPr>
        <p:txBody>
          <a:bodyPr wrap="square" lIns="0" tIns="0" rIns="0" bIns="0" rtlCol="0" anchor="ctr"/>
          <a:lstStyle/>
          <a:p>
            <a:pPr indent="0" marL="0">
              <a:lnSpc>
                <a:spcPts val="1700"/>
              </a:lnSpc>
              <a:buNone/>
            </a:pPr>
            <a:r>
              <a:rPr lang="en-US" sz="1250" dirty="0">
                <a:solidFill>
                  <a:srgbClr val="23303A"/>
                </a:solidFill>
                <a:latin typeface="Calibri" pitchFamily="34" charset="0"/>
                <a:ea typeface="Calibri" pitchFamily="34" charset="-122"/>
                <a:cs typeface="Calibri" pitchFamily="34" charset="-120"/>
              </a:rPr>
              <a:t>The 9 h ladder rung is r01 and r02. Listing it again would be the same run paid for twice.</a:t>
            </a:r>
            <a:endParaRPr lang="en-US" sz="1250" dirty="0"/>
          </a:p>
        </p:txBody>
      </p:sp>
      <p:sp>
        <p:nvSpPr>
          <p:cNvPr id="9" name="Shape 6"/>
          <p:cNvSpPr/>
          <p:nvPr/>
        </p:nvSpPr>
        <p:spPr>
          <a:xfrm>
            <a:off x="6263640" y="5486400"/>
            <a:ext cx="5257800" cy="914400"/>
          </a:xfrm>
          <a:prstGeom prst="roundRect">
            <a:avLst>
              <a:gd name="adj" fmla="val 6000"/>
            </a:avLst>
          </a:prstGeom>
          <a:solidFill>
            <a:srgbClr val="F6EAE6"/>
          </a:solidFill>
          <a:ln w="9525">
            <a:solidFill>
              <a:srgbClr val="D8DEDF"/>
            </a:solidFill>
            <a:prstDash val="solid"/>
          </a:ln>
        </p:spPr>
      </p:sp>
      <p:sp>
        <p:nvSpPr>
          <p:cNvPr id="10" name="Text 7"/>
          <p:cNvSpPr txBox="1"/>
          <p:nvPr/>
        </p:nvSpPr>
        <p:spPr>
          <a:xfrm>
            <a:off x="6537960" y="5650992"/>
            <a:ext cx="4754880" cy="640080"/>
          </a:xfrm>
          <a:prstGeom prst="rect">
            <a:avLst/>
          </a:prstGeom>
          <a:noFill/>
          <a:ln/>
        </p:spPr>
        <p:txBody>
          <a:bodyPr wrap="square" lIns="0" tIns="0" rIns="0" bIns="0" rtlCol="0" anchor="ctr"/>
          <a:lstStyle/>
          <a:p>
            <a:pPr indent="0" marL="0">
              <a:lnSpc>
                <a:spcPts val="1700"/>
              </a:lnSpc>
              <a:buNone/>
            </a:pPr>
            <a:r>
              <a:rPr lang="en-US" sz="1250" dirty="0">
                <a:solidFill>
                  <a:srgbClr val="5A2A1C"/>
                </a:solidFill>
                <a:latin typeface="Calibri" pitchFamily="34" charset="0"/>
                <a:ea typeface="Calibri" pitchFamily="34" charset="-122"/>
                <a:cs typeface="Calibri" pitchFamily="34" charset="-120"/>
              </a:rPr>
              <a:t>One seed per cell. Three seeds throughout would cost 368 GPU-hours and is what the variance floor really needs.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Two decisions I changed, and why</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15</a:t>
            </a:r>
            <a:endParaRPr lang="en-US" sz="1100" dirty="0"/>
          </a:p>
        </p:txBody>
      </p:sp>
      <p:sp>
        <p:nvSpPr>
          <p:cNvPr id="6" name="Shape 4"/>
          <p:cNvSpPr/>
          <p:nvPr/>
        </p:nvSpPr>
        <p:spPr>
          <a:xfrm>
            <a:off x="640080" y="1417320"/>
            <a:ext cx="5257800" cy="4206240"/>
          </a:xfrm>
          <a:prstGeom prst="roundRect">
            <a:avLst>
              <a:gd name="adj" fmla="val 1304"/>
            </a:avLst>
          </a:prstGeom>
          <a:solidFill>
            <a:srgbClr val="F2F5F5"/>
          </a:solidFill>
          <a:ln w="9525">
            <a:solidFill>
              <a:srgbClr val="D8DEDF"/>
            </a:solidFill>
            <a:prstDash val="solid"/>
          </a:ln>
        </p:spPr>
      </p:sp>
      <p:sp>
        <p:nvSpPr>
          <p:cNvPr id="7" name="Text 5"/>
          <p:cNvSpPr txBox="1"/>
          <p:nvPr/>
        </p:nvSpPr>
        <p:spPr>
          <a:xfrm>
            <a:off x="960120" y="1645920"/>
            <a:ext cx="4663440" cy="365760"/>
          </a:xfrm>
          <a:prstGeom prst="rect">
            <a:avLst/>
          </a:prstGeom>
          <a:noFill/>
          <a:ln/>
        </p:spPr>
        <p:txBody>
          <a:bodyPr wrap="square" lIns="0" tIns="0" rIns="0" bIns="0" rtlCol="0" anchor="ctr"/>
          <a:lstStyle/>
          <a:p>
            <a:pPr indent="0" marL="0">
              <a:buNone/>
            </a:pPr>
            <a:r>
              <a:rPr lang="en-US" sz="1800" b="1" dirty="0">
                <a:solidFill>
                  <a:srgbClr val="13383B"/>
                </a:solidFill>
                <a:latin typeface="Cambria" pitchFamily="34" charset="0"/>
                <a:ea typeface="Cambria" pitchFamily="34" charset="-122"/>
                <a:cs typeface="Cambria" pitchFamily="34" charset="-120"/>
              </a:rPr>
              <a:t>Forced alignment dropped</a:t>
            </a:r>
            <a:endParaRPr lang="en-US" sz="1800" dirty="0"/>
          </a:p>
        </p:txBody>
      </p:sp>
      <p:sp>
        <p:nvSpPr>
          <p:cNvPr id="8" name="Text 6"/>
          <p:cNvSpPr txBox="1"/>
          <p:nvPr/>
        </p:nvSpPr>
        <p:spPr>
          <a:xfrm>
            <a:off x="960120" y="2084832"/>
            <a:ext cx="4663440" cy="640080"/>
          </a:xfrm>
          <a:prstGeom prst="rect">
            <a:avLst/>
          </a:prstGeom>
          <a:noFill/>
          <a:ln/>
        </p:spPr>
        <p:txBody>
          <a:bodyPr wrap="square" lIns="0" tIns="0" rIns="0" bIns="0" rtlCol="0" anchor="ctr"/>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The plan took FastSpeech 2's durations from MFA. Now every model learns alignment internally.</a:t>
            </a:r>
            <a:endParaRPr lang="en-US" sz="1300" dirty="0"/>
          </a:p>
        </p:txBody>
      </p:sp>
      <p:sp>
        <p:nvSpPr>
          <p:cNvPr id="9" name="Text 7"/>
          <p:cNvSpPr txBox="1"/>
          <p:nvPr/>
        </p:nvSpPr>
        <p:spPr>
          <a:xfrm>
            <a:off x="960120" y="2788920"/>
            <a:ext cx="4663440" cy="2377440"/>
          </a:xfrm>
          <a:prstGeom prst="rect">
            <a:avLst/>
          </a:prstGeom>
          <a:noFill/>
          <a:ln/>
        </p:spPr>
        <p:txBody>
          <a:bodyPr wrap="square" lIns="0" tIns="0" rIns="0" bIns="0" rtlCol="0" anchor="t"/>
          <a:lstStyle/>
          <a:p>
            <a:pPr marL="342900" indent="-342900">
              <a:lnSpc>
                <a:spcPts val="1775"/>
              </a:lnSpc>
              <a:spcAft>
                <a:spcPts val="900"/>
              </a:spcAft>
              <a:buSzPct val="100000"/>
              <a:buChar char="•"/>
            </a:pPr>
            <a:r>
              <a:rPr lang="en-US" sz="1250" dirty="0">
                <a:solidFill>
                  <a:srgbClr val="23303A"/>
                </a:solidFill>
                <a:latin typeface="Calibri" pitchFamily="34" charset="0"/>
                <a:ea typeface="Calibri" pitchFamily="34" charset="-122"/>
                <a:cs typeface="Calibri" pitchFamily="34" charset="-120"/>
              </a:rPr>
              <a:t>VITS and Matcha align internally. Giving FastSpeech 2 supervised durations hands one architecture information the others never get</a:t>
            </a:r>
            <a:endParaRPr lang="en-US" sz="1250" dirty="0"/>
          </a:p>
          <a:p>
            <a:pPr marL="342900" indent="-342900">
              <a:lnSpc>
                <a:spcPts val="1775"/>
              </a:lnSpc>
              <a:spcAft>
                <a:spcPts val="900"/>
              </a:spcAft>
              <a:buSzPct val="100000"/>
              <a:buChar char="•"/>
            </a:pPr>
            <a:r>
              <a:rPr lang="en-US" sz="1250" dirty="0">
                <a:solidFill>
                  <a:srgbClr val="23303A"/>
                </a:solidFill>
                <a:latin typeface="Calibri" pitchFamily="34" charset="0"/>
                <a:ea typeface="Calibri" pitchFamily="34" charset="-122"/>
                <a:cs typeface="Calibri" pitchFamily="34" charset="-120"/>
              </a:rPr>
              <a:t>MFA has a pretrained Hindi model and no Marathi one, putting that asymmetry inside the control arm</a:t>
            </a:r>
            <a:endParaRPr lang="en-US" sz="1250" dirty="0"/>
          </a:p>
          <a:p>
            <a:pPr marL="342900" indent="-342900">
              <a:lnSpc>
                <a:spcPts val="1775"/>
              </a:lnSpc>
              <a:spcAft>
                <a:spcPts val="900"/>
              </a:spcAft>
              <a:buSzPct val="100000"/>
              <a:buChar char="•"/>
            </a:pPr>
            <a:r>
              <a:rPr lang="en-US" sz="1250" dirty="0">
                <a:solidFill>
                  <a:srgbClr val="23303A"/>
                </a:solidFill>
                <a:latin typeface="Calibri" pitchFamily="34" charset="0"/>
                <a:ea typeface="Calibri" pitchFamily="34" charset="-122"/>
                <a:cs typeface="Calibri" pitchFamily="34" charset="-120"/>
              </a:rPr>
              <a:t>And it would not run: Kaldi bindings have no wheel for the target architecture</a:t>
            </a:r>
            <a:endParaRPr lang="en-US" sz="1250" dirty="0"/>
          </a:p>
        </p:txBody>
      </p:sp>
      <p:sp>
        <p:nvSpPr>
          <p:cNvPr id="10" name="Shape 8"/>
          <p:cNvSpPr/>
          <p:nvPr/>
        </p:nvSpPr>
        <p:spPr>
          <a:xfrm>
            <a:off x="6263640" y="1417320"/>
            <a:ext cx="5257800" cy="4206240"/>
          </a:xfrm>
          <a:prstGeom prst="roundRect">
            <a:avLst>
              <a:gd name="adj" fmla="val 1304"/>
            </a:avLst>
          </a:prstGeom>
          <a:solidFill>
            <a:srgbClr val="F2F5F5"/>
          </a:solidFill>
          <a:ln w="9525">
            <a:solidFill>
              <a:srgbClr val="D8DEDF"/>
            </a:solidFill>
            <a:prstDash val="solid"/>
          </a:ln>
        </p:spPr>
      </p:sp>
      <p:sp>
        <p:nvSpPr>
          <p:cNvPr id="11" name="Text 9"/>
          <p:cNvSpPr txBox="1"/>
          <p:nvPr/>
        </p:nvSpPr>
        <p:spPr>
          <a:xfrm>
            <a:off x="6583680" y="1645920"/>
            <a:ext cx="4663440" cy="365760"/>
          </a:xfrm>
          <a:prstGeom prst="rect">
            <a:avLst/>
          </a:prstGeom>
          <a:noFill/>
          <a:ln/>
        </p:spPr>
        <p:txBody>
          <a:bodyPr wrap="square" lIns="0" tIns="0" rIns="0" bIns="0" rtlCol="0" anchor="ctr"/>
          <a:lstStyle/>
          <a:p>
            <a:pPr indent="0" marL="0">
              <a:buNone/>
            </a:pPr>
            <a:r>
              <a:rPr lang="en-US" sz="1800" b="1" dirty="0">
                <a:solidFill>
                  <a:srgbClr val="13383B"/>
                </a:solidFill>
                <a:latin typeface="Cambria" pitchFamily="34" charset="0"/>
                <a:ea typeface="Cambria" pitchFamily="34" charset="-122"/>
                <a:cs typeface="Cambria" pitchFamily="34" charset="-120"/>
              </a:rPr>
              <a:t>Sampling rate: 22.05 kHz master</a:t>
            </a:r>
            <a:endParaRPr lang="en-US" sz="1800" dirty="0"/>
          </a:p>
        </p:txBody>
      </p:sp>
      <p:sp>
        <p:nvSpPr>
          <p:cNvPr id="12" name="Text 10"/>
          <p:cNvSpPr txBox="1"/>
          <p:nvPr/>
        </p:nvSpPr>
        <p:spPr>
          <a:xfrm>
            <a:off x="6583680" y="2084832"/>
            <a:ext cx="4663440" cy="640080"/>
          </a:xfrm>
          <a:prstGeom prst="rect">
            <a:avLst/>
          </a:prstGeom>
          <a:noFill/>
          <a:ln/>
        </p:spPr>
        <p:txBody>
          <a:bodyPr wrap="square" lIns="0" tIns="0" rIns="0" bIns="0" rtlCol="0" anchor="ctr"/>
          <a:lstStyle/>
          <a:p>
            <a:pPr indent="0" marL="0">
              <a:lnSpc>
                <a:spcPts val="1900"/>
              </a:lnSpc>
              <a:buNone/>
            </a:pPr>
            <a:r>
              <a:rPr lang="en-US" sz="1300" dirty="0">
                <a:solidFill>
                  <a:srgbClr val="23303A"/>
                </a:solidFill>
                <a:latin typeface="Calibri" pitchFamily="34" charset="0"/>
                <a:ea typeface="Calibri" pitchFamily="34" charset="-122"/>
                <a:cs typeface="Calibri" pitchFamily="34" charset="-120"/>
              </a:rPr>
              <a:t>VITS initialises from MMS, which is natively 16 kHz, so its output carries nothing above 8 kHz.</a:t>
            </a:r>
            <a:endParaRPr lang="en-US" sz="1300" dirty="0"/>
          </a:p>
        </p:txBody>
      </p:sp>
      <p:sp>
        <p:nvSpPr>
          <p:cNvPr id="13" name="Text 11"/>
          <p:cNvSpPr txBox="1"/>
          <p:nvPr/>
        </p:nvSpPr>
        <p:spPr>
          <a:xfrm>
            <a:off x="6583680" y="2788920"/>
            <a:ext cx="4663440" cy="2377440"/>
          </a:xfrm>
          <a:prstGeom prst="rect">
            <a:avLst/>
          </a:prstGeom>
          <a:noFill/>
          <a:ln/>
        </p:spPr>
        <p:txBody>
          <a:bodyPr wrap="square" lIns="0" tIns="0" rIns="0" bIns="0" rtlCol="0" anchor="t"/>
          <a:lstStyle/>
          <a:p>
            <a:pPr marL="342900" indent="-342900">
              <a:lnSpc>
                <a:spcPts val="1775"/>
              </a:lnSpc>
              <a:spcAft>
                <a:spcPts val="900"/>
              </a:spcAft>
              <a:buSzPct val="100000"/>
              <a:buChar char="•"/>
            </a:pPr>
            <a:r>
              <a:rPr lang="en-US" sz="1250" dirty="0">
                <a:solidFill>
                  <a:srgbClr val="23303A"/>
                </a:solidFill>
                <a:latin typeface="Calibri" pitchFamily="34" charset="0"/>
                <a:ea typeface="Calibri" pitchFamily="34" charset="-122"/>
                <a:cs typeface="Calibri" pitchFamily="34" charset="-120"/>
              </a:rPr>
              <a:t>Full-band MCD would charge VITS for missing bandwidth, not worse modelling</a:t>
            </a:r>
            <a:endParaRPr lang="en-US" sz="1250" dirty="0"/>
          </a:p>
          <a:p>
            <a:pPr marL="342900" indent="-342900">
              <a:lnSpc>
                <a:spcPts val="1775"/>
              </a:lnSpc>
              <a:spcAft>
                <a:spcPts val="900"/>
              </a:spcAft>
              <a:buSzPct val="100000"/>
              <a:buChar char="•"/>
            </a:pPr>
            <a:r>
              <a:rPr lang="en-US" sz="1250" dirty="0">
                <a:solidFill>
                  <a:srgbClr val="23303A"/>
                </a:solidFill>
                <a:latin typeface="Calibri" pitchFamily="34" charset="0"/>
                <a:ea typeface="Calibri" pitchFamily="34" charset="-122"/>
                <a:cs typeface="Calibri" pitchFamily="34" charset="-120"/>
              </a:rPr>
              <a:t>MCD reported in two columns, full band and band-limited to 8 kHz, with band-limited as the headline</a:t>
            </a:r>
            <a:endParaRPr lang="en-US" sz="1250" dirty="0"/>
          </a:p>
          <a:p>
            <a:pPr marL="342900" indent="-342900">
              <a:lnSpc>
                <a:spcPts val="1775"/>
              </a:lnSpc>
              <a:spcAft>
                <a:spcPts val="900"/>
              </a:spcAft>
              <a:buSzPct val="100000"/>
              <a:buChar char="•"/>
            </a:pPr>
            <a:r>
              <a:rPr lang="en-US" sz="1250" dirty="0">
                <a:solidFill>
                  <a:srgbClr val="23303A"/>
                </a:solidFill>
                <a:latin typeface="Calibri" pitchFamily="34" charset="0"/>
                <a:ea typeface="Calibri" pitchFamily="34" charset="-122"/>
                <a:cs typeface="Calibri" pitchFamily="34" charset="-120"/>
              </a:rPr>
              <a:t>Listening stimuli low-passed to 8 kHz for every system, so raters hear equal bandwidth</a:t>
            </a:r>
            <a:endParaRPr lang="en-US" sz="1250" dirty="0"/>
          </a:p>
        </p:txBody>
      </p:sp>
      <p:sp>
        <p:nvSpPr>
          <p:cNvPr id="14" name="Text 12"/>
          <p:cNvSpPr txBox="1"/>
          <p:nvPr/>
        </p:nvSpPr>
        <p:spPr>
          <a:xfrm>
            <a:off x="640080" y="5852160"/>
            <a:ext cx="10881360" cy="457200"/>
          </a:xfrm>
          <a:prstGeom prst="rect">
            <a:avLst/>
          </a:prstGeom>
          <a:noFill/>
          <a:ln/>
        </p:spPr>
        <p:txBody>
          <a:bodyPr wrap="square" lIns="0" tIns="0" rIns="0" bIns="0" rtlCol="0" anchor="ctr"/>
          <a:lstStyle/>
          <a:p>
            <a:pPr indent="0" marL="0">
              <a:buNone/>
            </a:pPr>
            <a:r>
              <a:rPr lang="en-US" sz="1350" i="1" dirty="0">
                <a:solidFill>
                  <a:srgbClr val="5D666E"/>
                </a:solidFill>
                <a:latin typeface="Calibri" pitchFamily="34" charset="0"/>
                <a:ea typeface="Calibri" pitchFamily="34" charset="-122"/>
                <a:cs typeface="Calibri" pitchFamily="34" charset="-120"/>
              </a:rPr>
              <a:t>Both changes were made to remove an asymmetry, not to save effort. Each is recorded in RESULTS.md with the reasoning and the limitation it introduces.</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75488"/>
            <a:ext cx="420624" cy="420624"/>
          </a:xfrm>
          <a:prstGeom prst="ellipse">
            <a:avLst/>
          </a:prstGeom>
          <a:solidFill>
            <a:srgbClr val="13383B"/>
          </a:solidFill>
          <a:ln/>
        </p:spPr>
      </p:sp>
      <p:sp>
        <p:nvSpPr>
          <p:cNvPr id="3" name="Text 1"/>
          <p:cNvSpPr txBox="1"/>
          <p:nvPr/>
        </p:nvSpPr>
        <p:spPr>
          <a:xfrm>
            <a:off x="640080" y="475488"/>
            <a:ext cx="420624" cy="420624"/>
          </a:xfrm>
          <a:prstGeom prst="rect">
            <a:avLst/>
          </a:prstGeom>
          <a:noFill/>
          <a:ln/>
        </p:spPr>
        <p:txBody>
          <a:bodyPr wrap="square" lIns="0" tIns="0" rIns="0" bIns="0" rtlCol="0" anchor="ctr"/>
          <a:lstStyle/>
          <a:p>
            <a:pPr algn="ctr" indent="0" marL="0">
              <a:buNone/>
            </a:pPr>
            <a:r>
              <a:rPr lang="en-US" sz="1900" dirty="0">
                <a:solidFill>
                  <a:srgbClr val="FFFFFF"/>
                </a:solidFill>
                <a:latin typeface="Cambria" pitchFamily="34" charset="0"/>
                <a:ea typeface="Cambria" pitchFamily="34" charset="-122"/>
                <a:cs typeface="Cambria" pitchFamily="34" charset="-120"/>
              </a:rPr>
              <a:t>ə</a:t>
            </a:r>
            <a:endParaRPr lang="en-US" sz="1900" dirty="0"/>
          </a:p>
        </p:txBody>
      </p:sp>
      <p:sp>
        <p:nvSpPr>
          <p:cNvPr id="4" name="Text 2"/>
          <p:cNvSpPr txBox="1"/>
          <p:nvPr/>
        </p:nvSpPr>
        <p:spPr>
          <a:xfrm>
            <a:off x="1261872" y="438912"/>
            <a:ext cx="9509760" cy="566928"/>
          </a:xfrm>
          <a:prstGeom prst="rect">
            <a:avLst/>
          </a:prstGeom>
          <a:noFill/>
          <a:ln/>
        </p:spPr>
        <p:txBody>
          <a:bodyPr wrap="square" lIns="0" tIns="0" rIns="0" bIns="0" rtlCol="0" anchor="ctr"/>
          <a:lstStyle/>
          <a:p>
            <a:pPr indent="0" marL="0">
              <a:buNone/>
            </a:pPr>
            <a:r>
              <a:rPr lang="en-US" sz="2800" b="1" dirty="0">
                <a:solidFill>
                  <a:srgbClr val="13383B"/>
                </a:solidFill>
                <a:latin typeface="Cambria" pitchFamily="34" charset="0"/>
                <a:ea typeface="Cambria" pitchFamily="34" charset="-122"/>
                <a:cs typeface="Cambria" pitchFamily="34" charset="-120"/>
              </a:rPr>
              <a:t>Where the project stands</a:t>
            </a:r>
            <a:endParaRPr lang="en-US" sz="2800" dirty="0"/>
          </a:p>
        </p:txBody>
      </p:sp>
      <p:sp>
        <p:nvSpPr>
          <p:cNvPr id="5" name="Text 3"/>
          <p:cNvSpPr txBox="1"/>
          <p:nvPr/>
        </p:nvSpPr>
        <p:spPr>
          <a:xfrm>
            <a:off x="10972800" y="438912"/>
            <a:ext cx="548640" cy="566928"/>
          </a:xfrm>
          <a:prstGeom prst="rect">
            <a:avLst/>
          </a:prstGeom>
          <a:noFill/>
          <a:ln/>
        </p:spPr>
        <p:txBody>
          <a:bodyPr wrap="square" lIns="0" tIns="0" rIns="0" bIns="0" rtlCol="0" anchor="ctr"/>
          <a:lstStyle/>
          <a:p>
            <a:pPr algn="r" indent="0" marL="0">
              <a:buNone/>
            </a:pPr>
            <a:r>
              <a:rPr lang="en-US" sz="1100" dirty="0">
                <a:solidFill>
                  <a:srgbClr val="5D666E"/>
                </a:solidFill>
                <a:latin typeface="Calibri" pitchFamily="34" charset="0"/>
                <a:ea typeface="Calibri" pitchFamily="34" charset="-122"/>
                <a:cs typeface="Calibri" pitchFamily="34" charset="-120"/>
              </a:rPr>
              <a:t>16</a:t>
            </a:r>
            <a:endParaRPr lang="en-US" sz="1100" dirty="0"/>
          </a:p>
        </p:txBody>
      </p:sp>
      <p:sp>
        <p:nvSpPr>
          <p:cNvPr id="6" name="Shape 4"/>
          <p:cNvSpPr/>
          <p:nvPr/>
        </p:nvSpPr>
        <p:spPr>
          <a:xfrm>
            <a:off x="640080" y="1417320"/>
            <a:ext cx="5257800" cy="3611880"/>
          </a:xfrm>
          <a:prstGeom prst="roundRect">
            <a:avLst>
              <a:gd name="adj" fmla="val 1519"/>
            </a:avLst>
          </a:prstGeom>
          <a:solidFill>
            <a:srgbClr val="E8F0EC"/>
          </a:solidFill>
          <a:ln w="9525">
            <a:solidFill>
              <a:srgbClr val="D8DEDF"/>
            </a:solidFill>
            <a:prstDash val="solid"/>
          </a:ln>
        </p:spPr>
      </p:sp>
      <p:sp>
        <p:nvSpPr>
          <p:cNvPr id="7" name="Text 5"/>
          <p:cNvSpPr txBox="1"/>
          <p:nvPr/>
        </p:nvSpPr>
        <p:spPr>
          <a:xfrm>
            <a:off x="960120" y="1645920"/>
            <a:ext cx="4572000" cy="365760"/>
          </a:xfrm>
          <a:prstGeom prst="rect">
            <a:avLst/>
          </a:prstGeom>
          <a:noFill/>
          <a:ln/>
        </p:spPr>
        <p:txBody>
          <a:bodyPr wrap="square" lIns="0" tIns="0" rIns="0" bIns="0" rtlCol="0" anchor="ctr"/>
          <a:lstStyle/>
          <a:p>
            <a:pPr indent="0" marL="0">
              <a:buNone/>
            </a:pPr>
            <a:r>
              <a:rPr lang="en-US" sz="1900" b="1" dirty="0">
                <a:solidFill>
                  <a:srgbClr val="2C6E4B"/>
                </a:solidFill>
                <a:latin typeface="Cambria" pitchFamily="34" charset="0"/>
                <a:ea typeface="Cambria" pitchFamily="34" charset="-122"/>
                <a:cs typeface="Cambria" pitchFamily="34" charset="-120"/>
              </a:rPr>
              <a:t>Done</a:t>
            </a:r>
            <a:endParaRPr lang="en-US" sz="1900" dirty="0"/>
          </a:p>
        </p:txBody>
      </p:sp>
      <p:sp>
        <p:nvSpPr>
          <p:cNvPr id="8" name="Text 6"/>
          <p:cNvSpPr txBox="1"/>
          <p:nvPr/>
        </p:nvSpPr>
        <p:spPr>
          <a:xfrm>
            <a:off x="960120" y="2121408"/>
            <a:ext cx="4663440" cy="3566160"/>
          </a:xfrm>
          <a:prstGeom prst="rect">
            <a:avLst/>
          </a:prstGeom>
          <a:noFill/>
          <a:ln/>
        </p:spPr>
        <p:txBody>
          <a:bodyPr wrap="square" lIns="0" tIns="0" rIns="0" bIns="0" rtlCol="0" anchor="t"/>
          <a:lstStyle/>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Corpora profiled, standardised, speaker-matched</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Splits frozen, checksummed, byte-reproducible</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G2P front end: zero unknown symbols on both corpora</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MCD and F0 verified against analytic answers</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17 run configs generated, budget enforced by assertion</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78 tests passing</a:t>
            </a:r>
            <a:endParaRPr lang="en-US" sz="1400" dirty="0"/>
          </a:p>
        </p:txBody>
      </p:sp>
      <p:sp>
        <p:nvSpPr>
          <p:cNvPr id="9" name="Shape 7"/>
          <p:cNvSpPr/>
          <p:nvPr/>
        </p:nvSpPr>
        <p:spPr>
          <a:xfrm>
            <a:off x="6263640" y="1417320"/>
            <a:ext cx="5257800" cy="3611880"/>
          </a:xfrm>
          <a:prstGeom prst="roundRect">
            <a:avLst>
              <a:gd name="adj" fmla="val 1519"/>
            </a:avLst>
          </a:prstGeom>
          <a:solidFill>
            <a:srgbClr val="F2F5F5"/>
          </a:solidFill>
          <a:ln w="9525">
            <a:solidFill>
              <a:srgbClr val="D8DEDF"/>
            </a:solidFill>
            <a:prstDash val="solid"/>
          </a:ln>
        </p:spPr>
      </p:sp>
      <p:sp>
        <p:nvSpPr>
          <p:cNvPr id="10" name="Text 8"/>
          <p:cNvSpPr txBox="1"/>
          <p:nvPr/>
        </p:nvSpPr>
        <p:spPr>
          <a:xfrm>
            <a:off x="6583680" y="1645920"/>
            <a:ext cx="4572000" cy="365760"/>
          </a:xfrm>
          <a:prstGeom prst="rect">
            <a:avLst/>
          </a:prstGeom>
          <a:noFill/>
          <a:ln/>
        </p:spPr>
        <p:txBody>
          <a:bodyPr wrap="square" lIns="0" tIns="0" rIns="0" bIns="0" rtlCol="0" anchor="ctr"/>
          <a:lstStyle/>
          <a:p>
            <a:pPr indent="0" marL="0">
              <a:buNone/>
            </a:pPr>
            <a:r>
              <a:rPr lang="en-US" sz="1900" b="1" dirty="0">
                <a:solidFill>
                  <a:srgbClr val="5D666E"/>
                </a:solidFill>
                <a:latin typeface="Cambria" pitchFamily="34" charset="0"/>
                <a:ea typeface="Cambria" pitchFamily="34" charset="-122"/>
                <a:cs typeface="Cambria" pitchFamily="34" charset="-120"/>
              </a:rPr>
              <a:t>Remaining</a:t>
            </a:r>
            <a:endParaRPr lang="en-US" sz="1900" dirty="0"/>
          </a:p>
        </p:txBody>
      </p:sp>
      <p:sp>
        <p:nvSpPr>
          <p:cNvPr id="11" name="Text 9"/>
          <p:cNvSpPr txBox="1"/>
          <p:nvPr/>
        </p:nvSpPr>
        <p:spPr>
          <a:xfrm>
            <a:off x="6583680" y="2121408"/>
            <a:ext cx="4663440" cy="3566160"/>
          </a:xfrm>
          <a:prstGeom prst="rect">
            <a:avLst/>
          </a:prstGeom>
          <a:noFill/>
          <a:ln/>
        </p:spPr>
        <p:txBody>
          <a:bodyPr wrap="square" lIns="0" tIns="0" rIns="0" bIns="0" rtlCol="0" anchor="t"/>
          <a:lstStyle/>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Four training wrappers (FS2, VITS, Matcha, HiFi-GAN)</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ASR-WER with its ground-truth floor</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Predicted MOS (UTMOSv2, NISQA) and RTF harness</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Elicitation sheets from 2–3 native speakers — blocked on people</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Kaggle GPU round-trip verification</a:t>
            </a:r>
            <a:endParaRPr lang="en-US" sz="1400" dirty="0"/>
          </a:p>
          <a:p>
            <a:pPr marL="342900" indent="-342900">
              <a:lnSpc>
                <a:spcPts val="1988"/>
              </a:lnSpc>
              <a:spcAft>
                <a:spcPts val="900"/>
              </a:spcAft>
              <a:buSzPct val="100000"/>
              <a:buChar char="•"/>
            </a:pPr>
            <a:r>
              <a:rPr lang="en-US" sz="1400" dirty="0">
                <a:solidFill>
                  <a:srgbClr val="23303A"/>
                </a:solidFill>
                <a:latin typeface="Calibri" pitchFamily="34" charset="0"/>
                <a:ea typeface="Calibri" pitchFamily="34" charset="-122"/>
                <a:cs typeface="Calibri" pitchFamily="34" charset="-120"/>
              </a:rPr>
              <a:t>Listening-test infrastructure</a:t>
            </a:r>
            <a:endParaRPr lang="en-US" sz="1400" dirty="0"/>
          </a:p>
        </p:txBody>
      </p:sp>
      <p:sp>
        <p:nvSpPr>
          <p:cNvPr id="12" name="Text 10"/>
          <p:cNvSpPr txBox="1"/>
          <p:nvPr/>
        </p:nvSpPr>
        <p:spPr>
          <a:xfrm>
            <a:off x="640080" y="5349240"/>
            <a:ext cx="10881360" cy="548640"/>
          </a:xfrm>
          <a:prstGeom prst="rect">
            <a:avLst/>
          </a:prstGeom>
          <a:noFill/>
          <a:ln/>
        </p:spPr>
        <p:txBody>
          <a:bodyPr wrap="square" lIns="0" tIns="0" rIns="0" bIns="0" rtlCol="0" anchor="t"/>
          <a:lstStyle/>
          <a:p>
            <a:pPr indent="0" marL="0">
              <a:lnSpc>
                <a:spcPts val="1900"/>
              </a:lnSpc>
              <a:buNone/>
            </a:pPr>
            <a:r>
              <a:rPr lang="en-US" sz="1350" dirty="0">
                <a:solidFill>
                  <a:srgbClr val="23303A"/>
                </a:solidFill>
                <a:latin typeface="Calibri" pitchFamily="34" charset="0"/>
                <a:ea typeface="Calibri" pitchFamily="34" charset="-122"/>
                <a:cs typeface="Calibri" pitchFamily="34" charset="-120"/>
              </a:rPr>
              <a:t>Nothing has been trained yet. Everything reported so far is a property of the corpus, the front end, or the measuring apparatus — each established before any model is trained.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2427"/>
        </a:solidFill>
      </p:bgPr>
    </p:bg>
    <p:spTree>
      <p:nvGrpSpPr>
        <p:cNvPr id="1" name=""/>
        <p:cNvGrpSpPr/>
        <p:nvPr/>
      </p:nvGrpSpPr>
      <p:grpSpPr>
        <a:xfrm>
          <a:off x="0" y="0"/>
          <a:ext cx="0" cy="0"/>
          <a:chOff x="0" y="0"/>
          <a:chExt cx="0" cy="0"/>
        </a:xfrm>
      </p:grpSpPr>
      <p:sp>
        <p:nvSpPr>
          <p:cNvPr id="2" name="Text 0"/>
          <p:cNvSpPr txBox="1"/>
          <p:nvPr/>
        </p:nvSpPr>
        <p:spPr>
          <a:xfrm>
            <a:off x="640080" y="1325880"/>
            <a:ext cx="10058400" cy="274320"/>
          </a:xfrm>
          <a:prstGeom prst="rect">
            <a:avLst/>
          </a:prstGeom>
          <a:noFill/>
          <a:ln/>
        </p:spPr>
        <p:txBody>
          <a:bodyPr wrap="square" lIns="0" tIns="0" rIns="0" bIns="0" rtlCol="0" anchor="ctr"/>
          <a:lstStyle/>
          <a:p>
            <a:pPr indent="0" marL="0">
              <a:buNone/>
            </a:pPr>
            <a:r>
              <a:rPr lang="en-US" sz="1200" b="1" spc="300" kern="0" dirty="0">
                <a:solidFill>
                  <a:srgbClr val="8FB3B5"/>
                </a:solidFill>
                <a:latin typeface="Calibri" pitchFamily="34" charset="0"/>
                <a:ea typeface="Calibri" pitchFamily="34" charset="-122"/>
                <a:cs typeface="Calibri" pitchFamily="34" charset="-120"/>
              </a:rPr>
              <a:t>EXPECTED CONTRIBUTIONS</a:t>
            </a:r>
            <a:endParaRPr lang="en-US" sz="1200" dirty="0"/>
          </a:p>
        </p:txBody>
      </p:sp>
      <p:sp>
        <p:nvSpPr>
          <p:cNvPr id="3" name="Text 1"/>
          <p:cNvSpPr txBox="1"/>
          <p:nvPr/>
        </p:nvSpPr>
        <p:spPr>
          <a:xfrm>
            <a:off x="640080" y="1783080"/>
            <a:ext cx="10607040" cy="22860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What this produces that</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did not exist before</a:t>
            </a:r>
            <a:endParaRPr lang="en-US" sz="4000" dirty="0"/>
          </a:p>
        </p:txBody>
      </p:sp>
      <p:sp>
        <p:nvSpPr>
          <p:cNvPr id="4" name="Shape 2"/>
          <p:cNvSpPr/>
          <p:nvPr/>
        </p:nvSpPr>
        <p:spPr>
          <a:xfrm>
            <a:off x="667512" y="3758184"/>
            <a:ext cx="219456" cy="219456"/>
          </a:xfrm>
          <a:prstGeom prst="ellipse">
            <a:avLst/>
          </a:prstGeom>
          <a:solidFill>
            <a:srgbClr val="B0432A"/>
          </a:solidFill>
          <a:ln/>
        </p:spPr>
      </p:sp>
      <p:sp>
        <p:nvSpPr>
          <p:cNvPr id="5" name="Text 3"/>
          <p:cNvSpPr txBox="1"/>
          <p:nvPr/>
        </p:nvSpPr>
        <p:spPr>
          <a:xfrm>
            <a:off x="1143000" y="3703320"/>
            <a:ext cx="10241280" cy="621792"/>
          </a:xfrm>
          <a:prstGeom prst="rect">
            <a:avLst/>
          </a:prstGeom>
          <a:noFill/>
          <a:ln/>
        </p:spPr>
        <p:txBody>
          <a:bodyPr wrap="square" lIns="0" tIns="0" rIns="0" bIns="0" rtlCol="0" anchor="t"/>
          <a:lstStyle/>
          <a:p>
            <a:pPr indent="0" marL="0">
              <a:lnSpc>
                <a:spcPts val="1900"/>
              </a:lnSpc>
              <a:buNone/>
            </a:pPr>
            <a:r>
              <a:rPr lang="en-US" sz="1350" dirty="0">
                <a:solidFill>
                  <a:srgbClr val="D5E3E4"/>
                </a:solidFill>
                <a:latin typeface="Calibri" pitchFamily="34" charset="0"/>
                <a:ea typeface="Calibri" pitchFamily="34" charset="-122"/>
                <a:cs typeface="Calibri" pitchFamily="34" charset="-120"/>
              </a:rPr>
              <a:t>A controlled measurement of the phoneme-versus-grapheme effect, per architecture, with a same-script control that separates phonology from script</a:t>
            </a:r>
            <a:endParaRPr lang="en-US" sz="1350" dirty="0"/>
          </a:p>
        </p:txBody>
      </p:sp>
      <p:sp>
        <p:nvSpPr>
          <p:cNvPr id="6" name="Shape 4"/>
          <p:cNvSpPr/>
          <p:nvPr/>
        </p:nvSpPr>
        <p:spPr>
          <a:xfrm>
            <a:off x="667512" y="4626864"/>
            <a:ext cx="219456" cy="219456"/>
          </a:xfrm>
          <a:prstGeom prst="ellipse">
            <a:avLst/>
          </a:prstGeom>
          <a:solidFill>
            <a:srgbClr val="B0432A"/>
          </a:solidFill>
          <a:ln/>
        </p:spPr>
      </p:sp>
      <p:sp>
        <p:nvSpPr>
          <p:cNvPr id="7" name="Text 5"/>
          <p:cNvSpPr txBox="1"/>
          <p:nvPr/>
        </p:nvSpPr>
        <p:spPr>
          <a:xfrm>
            <a:off x="1143000" y="4572000"/>
            <a:ext cx="10241280" cy="621792"/>
          </a:xfrm>
          <a:prstGeom prst="rect">
            <a:avLst/>
          </a:prstGeom>
          <a:noFill/>
          <a:ln/>
        </p:spPr>
        <p:txBody>
          <a:bodyPr wrap="square" lIns="0" tIns="0" rIns="0" bIns="0" rtlCol="0" anchor="t"/>
          <a:lstStyle/>
          <a:p>
            <a:pPr indent="0" marL="0">
              <a:lnSpc>
                <a:spcPts val="1900"/>
              </a:lnSpc>
              <a:buNone/>
            </a:pPr>
            <a:r>
              <a:rPr lang="en-US" sz="1350" dirty="0">
                <a:solidFill>
                  <a:srgbClr val="D5E3E4"/>
                </a:solidFill>
                <a:latin typeface="Calibri" pitchFamily="34" charset="0"/>
                <a:ea typeface="Calibri" pitchFamily="34" charset="-122"/>
                <a:cs typeface="Calibri" pitchFamily="34" charset="-120"/>
              </a:rPr>
              <a:t>A released Hindi contested-schwa stress-test set with speaker-validated gold pronunciations</a:t>
            </a:r>
            <a:endParaRPr lang="en-US" sz="1350" dirty="0"/>
          </a:p>
        </p:txBody>
      </p:sp>
      <p:sp>
        <p:nvSpPr>
          <p:cNvPr id="8" name="Shape 6"/>
          <p:cNvSpPr/>
          <p:nvPr/>
        </p:nvSpPr>
        <p:spPr>
          <a:xfrm>
            <a:off x="667512" y="5303520"/>
            <a:ext cx="219456" cy="219456"/>
          </a:xfrm>
          <a:prstGeom prst="ellipse">
            <a:avLst/>
          </a:prstGeom>
          <a:solidFill>
            <a:srgbClr val="B0432A"/>
          </a:solidFill>
          <a:ln/>
        </p:spPr>
      </p:sp>
      <p:sp>
        <p:nvSpPr>
          <p:cNvPr id="9" name="Text 7"/>
          <p:cNvSpPr txBox="1"/>
          <p:nvPr/>
        </p:nvSpPr>
        <p:spPr>
          <a:xfrm>
            <a:off x="1143000" y="5248656"/>
            <a:ext cx="10241280" cy="621792"/>
          </a:xfrm>
          <a:prstGeom prst="rect">
            <a:avLst/>
          </a:prstGeom>
          <a:noFill/>
          <a:ln/>
        </p:spPr>
        <p:txBody>
          <a:bodyPr wrap="square" lIns="0" tIns="0" rIns="0" bIns="0" rtlCol="0" anchor="t"/>
          <a:lstStyle/>
          <a:p>
            <a:pPr indent="0" marL="0">
              <a:lnSpc>
                <a:spcPts val="1900"/>
              </a:lnSpc>
              <a:buNone/>
            </a:pPr>
            <a:r>
              <a:rPr lang="en-US" sz="1350" dirty="0">
                <a:solidFill>
                  <a:srgbClr val="D5E3E4"/>
                </a:solidFill>
                <a:latin typeface="Calibri" pitchFamily="34" charset="0"/>
                <a:ea typeface="Calibri" pitchFamily="34" charset="-122"/>
                <a:cs typeface="Calibri" pitchFamily="34" charset="-120"/>
              </a:rPr>
              <a:t>A data-scaling answer to a practitioner question: below what budget does front-end engineering stop being optional?</a:t>
            </a:r>
            <a:endParaRPr lang="en-US" sz="1350" dirty="0"/>
          </a:p>
        </p:txBody>
      </p:sp>
      <p:sp>
        <p:nvSpPr>
          <p:cNvPr id="10" name="Shape 8"/>
          <p:cNvSpPr/>
          <p:nvPr/>
        </p:nvSpPr>
        <p:spPr>
          <a:xfrm>
            <a:off x="667512" y="5980176"/>
            <a:ext cx="219456" cy="219456"/>
          </a:xfrm>
          <a:prstGeom prst="ellipse">
            <a:avLst/>
          </a:prstGeom>
          <a:solidFill>
            <a:srgbClr val="B0432A"/>
          </a:solidFill>
          <a:ln/>
        </p:spPr>
      </p:sp>
      <p:sp>
        <p:nvSpPr>
          <p:cNvPr id="11" name="Text 9"/>
          <p:cNvSpPr txBox="1"/>
          <p:nvPr/>
        </p:nvSpPr>
        <p:spPr>
          <a:xfrm>
            <a:off x="1143000" y="5925312"/>
            <a:ext cx="10241280" cy="621792"/>
          </a:xfrm>
          <a:prstGeom prst="rect">
            <a:avLst/>
          </a:prstGeom>
          <a:noFill/>
          <a:ln/>
        </p:spPr>
        <p:txBody>
          <a:bodyPr wrap="square" lIns="0" tIns="0" rIns="0" bIns="0" rtlCol="0" anchor="t"/>
          <a:lstStyle/>
          <a:p>
            <a:pPr indent="0" marL="0">
              <a:lnSpc>
                <a:spcPts val="1900"/>
              </a:lnSpc>
              <a:buNone/>
            </a:pPr>
            <a:r>
              <a:rPr lang="en-US" sz="1350" dirty="0">
                <a:solidFill>
                  <a:srgbClr val="D5E3E4"/>
                </a:solidFill>
                <a:latin typeface="Calibri" pitchFamily="34" charset="0"/>
                <a:ea typeface="Calibri" pitchFamily="34" charset="-122"/>
                <a:cs typeface="Calibri" pitchFamily="34" charset="-120"/>
              </a:rPr>
              <a:t>An open, config-reproducible testbed and fine-tuned checkpoints for both languages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Devanagari G2P Still Matter?</dc:title>
  <dc:subject>PptxGenJS Presentation</dc:subject>
  <dc:creator>Kaustubh Pandey</dc:creator>
  <cp:lastModifiedBy>Kaustubh Pandey</cp:lastModifiedBy>
  <cp:revision>1</cp:revision>
  <dcterms:created xsi:type="dcterms:W3CDTF">2026-09-26T08:23:24Z</dcterms:created>
  <dcterms:modified xsi:type="dcterms:W3CDTF">2026-09-26T08:23:24Z</dcterms:modified>
</cp:coreProperties>
</file>