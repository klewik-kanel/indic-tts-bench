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title, then move on. Do not read the names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Do not read the list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namak and namkeen out loud. That pair is the whole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bullet is the one examiners pick up. Every metric in this study was verified against an answer derivable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if challenged: people have compared architectures, and people have built Indic systems. Nobody has moved only the input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answer is useful to somebody building a system next year, and neither is in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here whenever a question drifts. Every design decision exists to keep one of these three comparisons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Do not read them;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Say: every row answers the question it set out to answer, and none of them isolates the front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separability is the point. A monolithic front end would make this study impossible to run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difference between the two arms in the second row is the input representation. Everything above and below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how do you know the budgets are identical? A function compares every budget field across all runs and refuses to write the configs if any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49 out of 49 score on the gold set is NOT a result. It measures self-consistency until independent speakers have marked the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a bug that would have corrupted the headline result is the strongest evidence that the apparatus is being checked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Do not add anything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20040"/>
            <a:ext cx="10908792" cy="1234440"/>
          </a:xfrm>
          <a:prstGeom prst="rect">
            <a:avLst/>
          </a:prstGeom>
          <a:noFill/>
          <a:ln/>
        </p:spPr>
        <p:txBody>
          <a:bodyPr wrap="square" lIns="0" tIns="0" rIns="0" bIns="0" rtlCol="0" anchor="ctr"/>
          <a:lstStyle/>
          <a:p>
            <a:pPr algn="ctr" indent="0" marL="0">
              <a:lnSpc>
                <a:spcPts val="3400"/>
              </a:lnSpc>
              <a:buNone/>
            </a:pPr>
            <a:r>
              <a:rPr lang="en-US" sz="2800" b="1" u="sng" dirty="0">
                <a:solidFill>
                  <a:srgbClr val="000000"/>
                </a:solidFill>
                <a:latin typeface="Calibri" pitchFamily="34" charset="0"/>
                <a:ea typeface="Calibri" pitchFamily="34" charset="-122"/>
                <a:cs typeface="Calibri" pitchFamily="34" charset="-120"/>
              </a:rPr>
              <a:t>Does Explicit Devanagari Grapheme-to-Phoneme Conversion Still Matter? An Empirical Benchmark of Neural TTS Architectures for Indic Languages</a:t>
            </a:r>
            <a:endParaRPr lang="en-US" sz="2800" dirty="0"/>
          </a:p>
        </p:txBody>
      </p:sp>
      <p:pic>
        <p:nvPicPr>
          <p:cNvPr id="3" name="Image 0" descr="nsut_logo.png">    </p:cNvPr>
          <p:cNvPicPr>
            <a:picLocks noChangeAspect="1"/>
          </p:cNvPicPr>
          <p:nvPr/>
        </p:nvPicPr>
        <p:blipFill>
          <a:blip r:embed="rId1"/>
          <a:stretch>
            <a:fillRect/>
          </a:stretch>
        </p:blipFill>
        <p:spPr>
          <a:xfrm>
            <a:off x="5413248" y="1691640"/>
            <a:ext cx="1371600" cy="1234440"/>
          </a:xfrm>
          <a:prstGeom prst="rect">
            <a:avLst/>
          </a:prstGeom>
        </p:spPr>
      </p:pic>
      <p:sp>
        <p:nvSpPr>
          <p:cNvPr id="4" name="Text 1"/>
          <p:cNvSpPr txBox="1"/>
          <p:nvPr/>
        </p:nvSpPr>
        <p:spPr>
          <a:xfrm>
            <a:off x="1371600" y="3063240"/>
            <a:ext cx="9445752" cy="777240"/>
          </a:xfrm>
          <a:prstGeom prst="rect">
            <a:avLst/>
          </a:prstGeom>
          <a:noFill/>
          <a:ln/>
        </p:spPr>
        <p:txBody>
          <a:bodyPr wrap="square" lIns="0" tIns="0" rIns="0" bIns="0" rtlCol="0" anchor="t"/>
          <a:lstStyle/>
          <a:p>
            <a:pPr algn="ctr" indent="0" marL="0">
              <a:lnSpc>
                <a:spcPts val="2900"/>
              </a:lnSpc>
              <a:buNone/>
            </a:pPr>
            <a:r>
              <a:rPr lang="en-US" sz="2200" b="1" dirty="0">
                <a:solidFill>
                  <a:srgbClr val="000000"/>
                </a:solidFill>
                <a:latin typeface="Times New Roman" pitchFamily="34" charset="0"/>
                <a:ea typeface="Times New Roman" pitchFamily="34" charset="-122"/>
                <a:cs typeface="Times New Roman" pitchFamily="34" charset="-120"/>
              </a:rPr>
              <a:t>Netaji Subhas University of Technology,</a:t>
            </a:r>
            <a:endParaRPr lang="en-US" sz="2200" dirty="0"/>
          </a:p>
          <a:p>
            <a:pPr algn="ctr" indent="0" marL="0">
              <a:lnSpc>
                <a:spcPts val="2900"/>
              </a:lnSpc>
              <a:buNone/>
            </a:pPr>
            <a:r>
              <a:rPr lang="en-US" sz="2200" b="1" dirty="0">
                <a:solidFill>
                  <a:srgbClr val="000000"/>
                </a:solidFill>
                <a:latin typeface="Times New Roman" pitchFamily="34" charset="0"/>
                <a:ea typeface="Times New Roman" pitchFamily="34" charset="-122"/>
                <a:cs typeface="Times New Roman" pitchFamily="34" charset="-120"/>
              </a:rPr>
              <a:t>New Delhi</a:t>
            </a:r>
            <a:endParaRPr lang="en-US" sz="2200" dirty="0"/>
          </a:p>
        </p:txBody>
      </p:sp>
      <p:sp>
        <p:nvSpPr>
          <p:cNvPr id="5" name="Text 2"/>
          <p:cNvSpPr txBox="1"/>
          <p:nvPr/>
        </p:nvSpPr>
        <p:spPr>
          <a:xfrm>
            <a:off x="1005840" y="4297680"/>
            <a:ext cx="4206240" cy="1463040"/>
          </a:xfrm>
          <a:prstGeom prst="rect">
            <a:avLst/>
          </a:prstGeom>
          <a:noFill/>
          <a:ln/>
        </p:spPr>
        <p:txBody>
          <a:bodyPr wrap="square" lIns="0" tIns="0" rIns="0" bIns="0" rtlCol="0" anchor="t"/>
          <a:lstStyle/>
          <a:p>
            <a:pPr algn="ctr" indent="0" marL="0">
              <a:lnSpc>
                <a:spcPts val="2800"/>
              </a:lnSpc>
              <a:buNone/>
            </a:pPr>
            <a:r>
              <a:rPr lang="en-US" sz="1800" u="sng" dirty="0">
                <a:solidFill>
                  <a:srgbClr val="000000"/>
                </a:solidFill>
                <a:latin typeface="Times New Roman" pitchFamily="34" charset="0"/>
                <a:ea typeface="Times New Roman" pitchFamily="34" charset="-122"/>
                <a:cs typeface="Times New Roman" pitchFamily="34" charset="-120"/>
              </a:rPr>
              <a:t>Presented By:</a:t>
            </a:r>
            <a:endParaRPr lang="en-US" sz="1800" dirty="0"/>
          </a:p>
          <a:p>
            <a:pPr algn="ctr" indent="0" marL="0">
              <a:lnSpc>
                <a:spcPts val="2800"/>
              </a:lnSpc>
              <a:buNone/>
            </a:pPr>
            <a:r>
              <a:rPr lang="en-US" sz="1800" dirty="0">
                <a:solidFill>
                  <a:srgbClr val="000000"/>
                </a:solidFill>
                <a:latin typeface="Times New Roman" pitchFamily="34" charset="0"/>
                <a:ea typeface="Times New Roman" pitchFamily="34" charset="-122"/>
                <a:cs typeface="Times New Roman" pitchFamily="34" charset="-120"/>
              </a:rPr>
              <a:t>Kaustubh Pandey (2025PA17326)</a:t>
            </a:r>
            <a:endParaRPr lang="en-US" sz="1800" dirty="0"/>
          </a:p>
          <a:p>
            <a:pPr algn="ctr" indent="0" marL="0">
              <a:lnSpc>
                <a:spcPts val="2800"/>
              </a:lnSpc>
              <a:buNone/>
            </a:pPr>
            <a:r>
              <a:rPr lang="en-US" sz="1800" dirty="0">
                <a:solidFill>
                  <a:srgbClr val="000000"/>
                </a:solidFill>
                <a:latin typeface="Times New Roman" pitchFamily="34" charset="0"/>
                <a:ea typeface="Times New Roman" pitchFamily="34" charset="-122"/>
                <a:cs typeface="Times New Roman" pitchFamily="34" charset="-120"/>
              </a:rPr>
              <a:t>CSE Department</a:t>
            </a:r>
            <a:endParaRPr lang="en-US" sz="1800" dirty="0"/>
          </a:p>
        </p:txBody>
      </p:sp>
      <p:sp>
        <p:nvSpPr>
          <p:cNvPr id="6" name="Text 3"/>
          <p:cNvSpPr txBox="1"/>
          <p:nvPr/>
        </p:nvSpPr>
        <p:spPr>
          <a:xfrm>
            <a:off x="6949440" y="4297680"/>
            <a:ext cx="4206240" cy="1645920"/>
          </a:xfrm>
          <a:prstGeom prst="rect">
            <a:avLst/>
          </a:prstGeom>
          <a:noFill/>
          <a:ln/>
        </p:spPr>
        <p:txBody>
          <a:bodyPr wrap="square" lIns="0" tIns="0" rIns="0" bIns="0" rtlCol="0" anchor="t"/>
          <a:lstStyle/>
          <a:p>
            <a:pPr algn="ctr" indent="0" marL="0">
              <a:lnSpc>
                <a:spcPts val="2800"/>
              </a:lnSpc>
              <a:buNone/>
            </a:pPr>
            <a:r>
              <a:rPr lang="en-US" sz="1800" u="sng" dirty="0">
                <a:solidFill>
                  <a:srgbClr val="000000"/>
                </a:solidFill>
                <a:latin typeface="Times New Roman" pitchFamily="34" charset="0"/>
                <a:ea typeface="Times New Roman" pitchFamily="34" charset="-122"/>
                <a:cs typeface="Times New Roman" pitchFamily="34" charset="-120"/>
              </a:rPr>
              <a:t>Supervised By:</a:t>
            </a:r>
            <a:endParaRPr lang="en-US" sz="1800" dirty="0"/>
          </a:p>
          <a:p>
            <a:pPr algn="ctr" indent="0" marL="0">
              <a:lnSpc>
                <a:spcPts val="2800"/>
              </a:lnSpc>
              <a:buNone/>
            </a:pPr>
            <a:r>
              <a:rPr lang="en-US" sz="1800" dirty="0">
                <a:solidFill>
                  <a:srgbClr val="000000"/>
                </a:solidFill>
                <a:latin typeface="Times New Roman" pitchFamily="34" charset="0"/>
                <a:ea typeface="Times New Roman" pitchFamily="34" charset="-122"/>
                <a:cs typeface="Times New Roman" pitchFamily="34" charset="-120"/>
              </a:rPr>
              <a:t>Dr. Shobha Bhatt</a:t>
            </a:r>
            <a:endParaRPr lang="en-US" sz="1800" dirty="0"/>
          </a:p>
          <a:p>
            <a:pPr algn="ctr" indent="0" marL="0">
              <a:lnSpc>
                <a:spcPts val="2800"/>
              </a:lnSpc>
              <a:buNone/>
            </a:pPr>
            <a:r>
              <a:rPr lang="en-US" sz="1800" dirty="0">
                <a:solidFill>
                  <a:srgbClr val="000000"/>
                </a:solidFill>
                <a:latin typeface="Times New Roman" pitchFamily="34" charset="0"/>
                <a:ea typeface="Times New Roman" pitchFamily="34" charset="-122"/>
                <a:cs typeface="Times New Roman" pitchFamily="34" charset="-120"/>
              </a:rPr>
              <a:t>Assistant Professor</a:t>
            </a:r>
            <a:endParaRPr lang="en-US" sz="1800" dirty="0"/>
          </a:p>
          <a:p>
            <a:pPr algn="ctr" indent="0" marL="0">
              <a:lnSpc>
                <a:spcPts val="2800"/>
              </a:lnSpc>
              <a:buNone/>
            </a:pPr>
            <a:r>
              <a:rPr lang="en-US" sz="1800" dirty="0">
                <a:solidFill>
                  <a:srgbClr val="000000"/>
                </a:solidFill>
                <a:latin typeface="Times New Roman" pitchFamily="34" charset="0"/>
                <a:ea typeface="Times New Roman" pitchFamily="34" charset="-122"/>
                <a:cs typeface="Times New Roman" pitchFamily="34" charset="-120"/>
              </a:rPr>
              <a:t>CSE(East), NSUT Delhi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Content</a:t>
            </a:r>
            <a:endParaRPr lang="en-US" sz="3000" dirty="0"/>
          </a:p>
        </p:txBody>
      </p:sp>
      <p:sp>
        <p:nvSpPr>
          <p:cNvPr id="3" name="Text 1"/>
          <p:cNvSpPr txBox="1"/>
          <p:nvPr/>
        </p:nvSpPr>
        <p:spPr>
          <a:xfrm>
            <a:off x="1234440" y="1371600"/>
            <a:ext cx="4572000" cy="5029200"/>
          </a:xfrm>
          <a:prstGeom prst="rect">
            <a:avLst/>
          </a:prstGeom>
          <a:noFill/>
          <a:ln/>
        </p:spPr>
        <p:txBody>
          <a:bodyPr wrap="square" lIns="0" tIns="0" rIns="0" bIns="0" rtlCol="0" anchor="t"/>
          <a:lstStyle/>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Introduction</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Challenges</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Research Gaps</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Motivation</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Problem Statement</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Research Objectives</a:t>
            </a:r>
            <a:endParaRPr lang="en-US" sz="2200" dirty="0"/>
          </a:p>
          <a:p>
            <a:pPr marL="431800" indent="-431800">
              <a:lnSpc>
                <a:spcPts val="5000"/>
              </a:lnSpc>
              <a:spcAft>
                <a:spcPts val="400"/>
              </a:spcAft>
              <a:buSzPct val="100000"/>
              <a:buFont typeface="+mj-lt"/>
              <a:buAutoNum type="arabicPeriod" startAt="1"/>
            </a:pPr>
            <a:r>
              <a:rPr lang="en-US" sz="2200" dirty="0">
                <a:solidFill>
                  <a:srgbClr val="000000"/>
                </a:solidFill>
                <a:latin typeface="Times New Roman" pitchFamily="34" charset="0"/>
                <a:ea typeface="Times New Roman" pitchFamily="34" charset="-122"/>
                <a:cs typeface="Times New Roman" pitchFamily="34" charset="-120"/>
              </a:rPr>
              <a:t>Literature Review</a:t>
            </a:r>
            <a:endParaRPr lang="en-US" sz="2200" dirty="0"/>
          </a:p>
        </p:txBody>
      </p:sp>
      <p:sp>
        <p:nvSpPr>
          <p:cNvPr id="4" name="Text 2"/>
          <p:cNvSpPr txBox="1"/>
          <p:nvPr/>
        </p:nvSpPr>
        <p:spPr>
          <a:xfrm>
            <a:off x="6629400" y="1371600"/>
            <a:ext cx="4572000" cy="5029200"/>
          </a:xfrm>
          <a:prstGeom prst="rect">
            <a:avLst/>
          </a:prstGeom>
          <a:noFill/>
          <a:ln/>
        </p:spPr>
        <p:txBody>
          <a:bodyPr wrap="square" lIns="0" tIns="0" rIns="0" bIns="0" rtlCol="0" anchor="t"/>
          <a:lstStyle/>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Research Methodology</a:t>
            </a:r>
            <a:endParaRPr lang="en-US" sz="2200" dirty="0"/>
          </a:p>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Experimental Setup</a:t>
            </a:r>
            <a:endParaRPr lang="en-US" sz="2200" dirty="0"/>
          </a:p>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Results</a:t>
            </a:r>
            <a:endParaRPr lang="en-US" sz="2200" dirty="0"/>
          </a:p>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Discussion</a:t>
            </a:r>
            <a:endParaRPr lang="en-US" sz="2200" dirty="0"/>
          </a:p>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Conclusion and Future Work</a:t>
            </a:r>
            <a:endParaRPr lang="en-US" sz="2200" dirty="0"/>
          </a:p>
          <a:p>
            <a:pPr marL="431800" indent="-431800">
              <a:lnSpc>
                <a:spcPts val="5000"/>
              </a:lnSpc>
              <a:spcAft>
                <a:spcPts val="400"/>
              </a:spcAft>
              <a:buSzPct val="100000"/>
              <a:buFont typeface="+mj-lt"/>
              <a:buAutoNum type="arabicPeriod" startAt="8"/>
            </a:pPr>
            <a:r>
              <a:rPr lang="en-US" sz="2200" dirty="0">
                <a:solidFill>
                  <a:srgbClr val="000000"/>
                </a:solidFill>
                <a:latin typeface="Times New Roman" pitchFamily="34" charset="0"/>
                <a:ea typeface="Times New Roman" pitchFamily="34" charset="-122"/>
                <a:cs typeface="Times New Roman" pitchFamily="34" charset="-120"/>
              </a:rPr>
              <a:t>References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1.  Introduction</a:t>
            </a:r>
            <a:endParaRPr lang="en-US" sz="3000" dirty="0"/>
          </a:p>
        </p:txBody>
      </p:sp>
      <p:sp>
        <p:nvSpPr>
          <p:cNvPr id="3" name="Text 1"/>
          <p:cNvSpPr txBox="1"/>
          <p:nvPr/>
        </p:nvSpPr>
        <p:spPr>
          <a:xfrm>
            <a:off x="777240" y="1143000"/>
            <a:ext cx="10634472" cy="1371600"/>
          </a:xfrm>
          <a:prstGeom prst="rect">
            <a:avLst/>
          </a:prstGeom>
          <a:noFill/>
          <a:ln/>
        </p:spPr>
        <p:txBody>
          <a:bodyPr wrap="square" lIns="0" tIns="0" rIns="0" bIns="0" rtlCol="0" anchor="t"/>
          <a:lstStyle/>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Devanagari is an abugida: every written consonant carries an unwritten inherent vowel, the schwa ə.</a:t>
            </a:r>
            <a:endParaRPr lang="en-US" sz="1800" dirty="0"/>
          </a:p>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Hindi deletes many of them in speech and keeps others. The spelling does not say which.</a:t>
            </a:r>
            <a:endParaRPr lang="en-US" sz="1800" dirty="0"/>
          </a:p>
        </p:txBody>
      </p:sp>
      <p:sp>
        <p:nvSpPr>
          <p:cNvPr id="4" name="Shape 2"/>
          <p:cNvSpPr/>
          <p:nvPr/>
        </p:nvSpPr>
        <p:spPr>
          <a:xfrm>
            <a:off x="1417320" y="2697480"/>
            <a:ext cx="4023360" cy="1371600"/>
          </a:xfrm>
          <a:prstGeom prst="roundRect">
            <a:avLst>
              <a:gd name="adj" fmla="val 3333"/>
            </a:avLst>
          </a:prstGeom>
          <a:solidFill>
            <a:srgbClr val="F2F2F2"/>
          </a:solidFill>
          <a:ln w="12700">
            <a:solidFill>
              <a:srgbClr val="808080"/>
            </a:solidFill>
            <a:prstDash val="solid"/>
          </a:ln>
        </p:spPr>
      </p:sp>
      <p:sp>
        <p:nvSpPr>
          <p:cNvPr id="5" name="Text 3"/>
          <p:cNvSpPr txBox="1"/>
          <p:nvPr/>
        </p:nvSpPr>
        <p:spPr>
          <a:xfrm>
            <a:off x="1508760" y="2852928"/>
            <a:ext cx="3840480" cy="502920"/>
          </a:xfrm>
          <a:prstGeom prst="rect">
            <a:avLst/>
          </a:prstGeom>
          <a:noFill/>
          <a:ln/>
        </p:spPr>
        <p:txBody>
          <a:bodyPr wrap="square" lIns="0" tIns="0" rIns="0" bIns="0" rtlCol="0" anchor="t"/>
          <a:lstStyle/>
          <a:p>
            <a:pPr algn="ctr" indent="0" marL="0">
              <a:lnSpc>
                <a:spcPts val="3640"/>
              </a:lnSpc>
              <a:buNone/>
            </a:pPr>
            <a:r>
              <a:rPr lang="en-US" sz="2600" b="1" dirty="0">
                <a:solidFill>
                  <a:srgbClr val="000000"/>
                </a:solidFill>
                <a:latin typeface="Nirmala UI" pitchFamily="34" charset="0"/>
                <a:ea typeface="Nirmala UI" pitchFamily="34" charset="-122"/>
                <a:cs typeface="Nirmala UI" pitchFamily="34" charset="-120"/>
              </a:rPr>
              <a:t>नमक</a:t>
            </a:r>
            <a:endParaRPr lang="en-US" sz="2600" dirty="0"/>
          </a:p>
        </p:txBody>
      </p:sp>
      <p:sp>
        <p:nvSpPr>
          <p:cNvPr id="6" name="Text 4"/>
          <p:cNvSpPr txBox="1"/>
          <p:nvPr/>
        </p:nvSpPr>
        <p:spPr>
          <a:xfrm>
            <a:off x="1508760" y="3401568"/>
            <a:ext cx="3840480" cy="457200"/>
          </a:xfrm>
          <a:prstGeom prst="rect">
            <a:avLst/>
          </a:prstGeom>
          <a:noFill/>
          <a:ln/>
        </p:spPr>
        <p:txBody>
          <a:bodyPr wrap="square" lIns="0" tIns="0" rIns="0" bIns="0" rtlCol="0" anchor="t"/>
          <a:lstStyle/>
          <a:p>
            <a:pPr algn="ctr" indent="0" marL="0">
              <a:lnSpc>
                <a:spcPts val="2380"/>
              </a:lnSpc>
              <a:buNone/>
            </a:pPr>
            <a:r>
              <a:rPr lang="en-US" sz="1700" dirty="0">
                <a:solidFill>
                  <a:srgbClr val="000000"/>
                </a:solidFill>
                <a:latin typeface="Times New Roman" pitchFamily="34" charset="0"/>
                <a:ea typeface="Times New Roman" pitchFamily="34" charset="-122"/>
                <a:cs typeface="Times New Roman" pitchFamily="34" charset="-120"/>
              </a:rPr>
              <a:t>namak    →    /nəmək/</a:t>
            </a:r>
            <a:endParaRPr lang="en-US" sz="1700" dirty="0"/>
          </a:p>
        </p:txBody>
      </p:sp>
      <p:sp>
        <p:nvSpPr>
          <p:cNvPr id="7" name="Shape 5"/>
          <p:cNvSpPr/>
          <p:nvPr/>
        </p:nvSpPr>
        <p:spPr>
          <a:xfrm>
            <a:off x="6766560" y="2697480"/>
            <a:ext cx="4023360" cy="1371600"/>
          </a:xfrm>
          <a:prstGeom prst="roundRect">
            <a:avLst>
              <a:gd name="adj" fmla="val 3333"/>
            </a:avLst>
          </a:prstGeom>
          <a:solidFill>
            <a:srgbClr val="FCECEC"/>
          </a:solidFill>
          <a:ln w="12700">
            <a:solidFill>
              <a:srgbClr val="C00000"/>
            </a:solidFill>
            <a:prstDash val="solid"/>
          </a:ln>
        </p:spPr>
      </p:sp>
      <p:sp>
        <p:nvSpPr>
          <p:cNvPr id="8" name="Text 6"/>
          <p:cNvSpPr txBox="1"/>
          <p:nvPr/>
        </p:nvSpPr>
        <p:spPr>
          <a:xfrm>
            <a:off x="6858000" y="2852928"/>
            <a:ext cx="3840480" cy="502920"/>
          </a:xfrm>
          <a:prstGeom prst="rect">
            <a:avLst/>
          </a:prstGeom>
          <a:noFill/>
          <a:ln/>
        </p:spPr>
        <p:txBody>
          <a:bodyPr wrap="square" lIns="0" tIns="0" rIns="0" bIns="0" rtlCol="0" anchor="t"/>
          <a:lstStyle/>
          <a:p>
            <a:pPr algn="ctr" indent="0" marL="0">
              <a:lnSpc>
                <a:spcPts val="3640"/>
              </a:lnSpc>
              <a:buNone/>
            </a:pPr>
            <a:r>
              <a:rPr lang="en-US" sz="2600" b="1" dirty="0">
                <a:solidFill>
                  <a:srgbClr val="000000"/>
                </a:solidFill>
                <a:latin typeface="Nirmala UI" pitchFamily="34" charset="0"/>
                <a:ea typeface="Nirmala UI" pitchFamily="34" charset="-122"/>
                <a:cs typeface="Nirmala UI" pitchFamily="34" charset="-120"/>
              </a:rPr>
              <a:t>नमकीन</a:t>
            </a:r>
            <a:endParaRPr lang="en-US" sz="2600" dirty="0"/>
          </a:p>
        </p:txBody>
      </p:sp>
      <p:sp>
        <p:nvSpPr>
          <p:cNvPr id="9" name="Text 7"/>
          <p:cNvSpPr txBox="1"/>
          <p:nvPr/>
        </p:nvSpPr>
        <p:spPr>
          <a:xfrm>
            <a:off x="6858000" y="3401568"/>
            <a:ext cx="3840480" cy="457200"/>
          </a:xfrm>
          <a:prstGeom prst="rect">
            <a:avLst/>
          </a:prstGeom>
          <a:noFill/>
          <a:ln/>
        </p:spPr>
        <p:txBody>
          <a:bodyPr wrap="square" lIns="0" tIns="0" rIns="0" bIns="0" rtlCol="0" anchor="t"/>
          <a:lstStyle/>
          <a:p>
            <a:pPr algn="ctr" indent="0" marL="0">
              <a:lnSpc>
                <a:spcPts val="2380"/>
              </a:lnSpc>
              <a:buNone/>
            </a:pPr>
            <a:r>
              <a:rPr lang="en-US" sz="1700" dirty="0">
                <a:solidFill>
                  <a:srgbClr val="C00000"/>
                </a:solidFill>
                <a:latin typeface="Times New Roman" pitchFamily="34" charset="0"/>
                <a:ea typeface="Times New Roman" pitchFamily="34" charset="-122"/>
                <a:cs typeface="Times New Roman" pitchFamily="34" charset="-120"/>
              </a:rPr>
              <a:t>namkeen    →    /nəmkiːn/</a:t>
            </a:r>
            <a:endParaRPr lang="en-US" sz="1700" dirty="0"/>
          </a:p>
        </p:txBody>
      </p:sp>
      <p:sp>
        <p:nvSpPr>
          <p:cNvPr id="10" name="Text 8"/>
          <p:cNvSpPr txBox="1"/>
          <p:nvPr/>
        </p:nvSpPr>
        <p:spPr>
          <a:xfrm>
            <a:off x="777240" y="4160520"/>
            <a:ext cx="10634472" cy="411480"/>
          </a:xfrm>
          <a:prstGeom prst="rect">
            <a:avLst/>
          </a:prstGeom>
          <a:noFill/>
          <a:ln/>
        </p:spPr>
        <p:txBody>
          <a:bodyPr wrap="square" lIns="0" tIns="0" rIns="0" bIns="0" rtlCol="0" anchor="t"/>
          <a:lstStyle/>
          <a:p>
            <a:pPr algn="ctr" indent="0" marL="0">
              <a:lnSpc>
                <a:spcPts val="2100"/>
              </a:lnSpc>
              <a:buNone/>
            </a:pPr>
            <a:r>
              <a:rPr lang="en-US" sz="1500" i="1" dirty="0">
                <a:solidFill>
                  <a:srgbClr val="595959"/>
                </a:solidFill>
                <a:latin typeface="Times New Roman" pitchFamily="34" charset="0"/>
                <a:ea typeface="Times New Roman" pitchFamily="34" charset="-122"/>
                <a:cs typeface="Times New Roman" pitchFamily="34" charset="-120"/>
              </a:rPr>
              <a:t>Same three consonants. No vowel sign after the second one in either word. One keeps the vowel, the other drops it.</a:t>
            </a:r>
            <a:endParaRPr lang="en-US" sz="1500" dirty="0"/>
          </a:p>
        </p:txBody>
      </p:sp>
      <p:sp>
        <p:nvSpPr>
          <p:cNvPr id="11" name="Text 9"/>
          <p:cNvSpPr txBox="1"/>
          <p:nvPr/>
        </p:nvSpPr>
        <p:spPr>
          <a:xfrm>
            <a:off x="777240" y="4983480"/>
            <a:ext cx="10634472" cy="1463040"/>
          </a:xfrm>
          <a:prstGeom prst="rect">
            <a:avLst/>
          </a:prstGeom>
          <a:noFill/>
          <a:ln/>
        </p:spPr>
        <p:txBody>
          <a:bodyPr wrap="square" lIns="0" tIns="0" rIns="0" bIns="0" rtlCol="0" anchor="t"/>
          <a:lstStyle/>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The conventional fix is an explicit G2P front end that applies a schwa deletion rule before any text reaches the acoustic model.</a:t>
            </a:r>
            <a:endParaRPr lang="en-US" sz="1800" dirty="0"/>
          </a:p>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Modern neural TTS is trained end to end and may learn the same distinction from audio. Nobody has measured which is true.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2.  Challenges</a:t>
            </a:r>
            <a:endParaRPr lang="en-US" sz="3000" dirty="0"/>
          </a:p>
        </p:txBody>
      </p:sp>
      <p:sp>
        <p:nvSpPr>
          <p:cNvPr id="3" name="Text 1"/>
          <p:cNvSpPr txBox="1"/>
          <p:nvPr/>
        </p:nvSpPr>
        <p:spPr>
          <a:xfrm>
            <a:off x="777240" y="1234440"/>
            <a:ext cx="10634472" cy="5257800"/>
          </a:xfrm>
          <a:prstGeom prst="rect">
            <a:avLst/>
          </a:prstGeom>
          <a:noFill/>
          <a:ln/>
        </p:spPr>
        <p:txBody>
          <a:bodyPr wrap="square" lIns="0" tIns="0" rIns="0" bIns="0" rtlCol="0" anchor="t"/>
          <a:lstStyle/>
          <a:p>
            <a:pPr marL="342900" indent="-342900">
              <a:lnSpc>
                <a:spcPts val="3150"/>
              </a:lnSpc>
              <a:spcAft>
                <a:spcPts val="1000"/>
              </a:spcAft>
              <a:buSzPct val="100000"/>
              <a:buChar char="•"/>
            </a:pPr>
            <a:r>
              <a:rPr lang="en-US" sz="2100" dirty="0">
                <a:solidFill>
                  <a:srgbClr val="000000"/>
                </a:solidFill>
                <a:latin typeface="Times New Roman" pitchFamily="34" charset="0"/>
                <a:ea typeface="Times New Roman" pitchFamily="34" charset="-122"/>
                <a:cs typeface="Times New Roman" pitchFamily="34" charset="-120"/>
              </a:rPr>
              <a:t>Devanagari underspecifies the vowel, so a phonemic front end has to guess, and the guesses are sometimes wrong.</a:t>
            </a:r>
            <a:endParaRPr lang="en-US" sz="2100" dirty="0"/>
          </a:p>
          <a:p>
            <a:pPr marL="342900" indent="-342900">
              <a:lnSpc>
                <a:spcPts val="3150"/>
              </a:lnSpc>
              <a:spcAft>
                <a:spcPts val="1000"/>
              </a:spcAft>
              <a:buSzPct val="100000"/>
              <a:buChar char="•"/>
            </a:pPr>
            <a:r>
              <a:rPr lang="en-US" sz="2100" dirty="0">
                <a:solidFill>
                  <a:srgbClr val="000000"/>
                </a:solidFill>
                <a:latin typeface="Times New Roman" pitchFamily="34" charset="0"/>
                <a:ea typeface="Times New Roman" pitchFamily="34" charset="-122"/>
                <a:cs typeface="Times New Roman" pitchFamily="34" charset="-120"/>
              </a:rPr>
              <a:t>Published comparisons hold nothing constant. Two systems usually differ in architecture, data, sampling rate, vocoder and front end at once, so no quality gap can be attributed to any one of them.</a:t>
            </a:r>
            <a:endParaRPr lang="en-US" sz="2100" dirty="0"/>
          </a:p>
          <a:p>
            <a:pPr marL="342900" indent="-342900">
              <a:lnSpc>
                <a:spcPts val="3150"/>
              </a:lnSpc>
              <a:spcAft>
                <a:spcPts val="1000"/>
              </a:spcAft>
              <a:buSzPct val="100000"/>
              <a:buChar char="•"/>
            </a:pPr>
            <a:r>
              <a:rPr lang="en-US" sz="2100" dirty="0">
                <a:solidFill>
                  <a:srgbClr val="000000"/>
                </a:solidFill>
                <a:latin typeface="Times New Roman" pitchFamily="34" charset="0"/>
                <a:ea typeface="Times New Roman" pitchFamily="34" charset="-122"/>
                <a:cs typeface="Times New Roman" pitchFamily="34" charset="-120"/>
              </a:rPr>
              <a:t>The metrics are easy to get wrong. MCD that keeps the zeroth coefficient is partly a loudness measure; pitch error on a linear scale is dominated by the higher-pitched speaker; word error rate means nothing without the recogniser's own floor on natural audio.</a:t>
            </a:r>
            <a:endParaRPr lang="en-US" sz="2100" dirty="0"/>
          </a:p>
          <a:p>
            <a:pPr marL="342900" indent="-342900">
              <a:lnSpc>
                <a:spcPts val="3150"/>
              </a:lnSpc>
              <a:spcAft>
                <a:spcPts val="1000"/>
              </a:spcAft>
              <a:buSzPct val="100000"/>
              <a:buChar char="•"/>
            </a:pPr>
            <a:r>
              <a:rPr lang="en-US" sz="2100" dirty="0">
                <a:solidFill>
                  <a:srgbClr val="000000"/>
                </a:solidFill>
                <a:latin typeface="Times New Roman" pitchFamily="34" charset="0"/>
                <a:ea typeface="Times New Roman" pitchFamily="34" charset="-122"/>
                <a:cs typeface="Times New Roman" pitchFamily="34" charset="-120"/>
              </a:rPr>
              <a:t>Tooling is unevenly mature. Forced aligners and speech recognisers are far better developed for Hindi than for Marathi, so an automated pipeline injects a tooling difference into a language comparison.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3.  Research Gaps</a:t>
            </a:r>
            <a:endParaRPr lang="en-US" sz="3000" dirty="0"/>
          </a:p>
        </p:txBody>
      </p:sp>
      <p:sp>
        <p:nvSpPr>
          <p:cNvPr id="3" name="Shape 1"/>
          <p:cNvSpPr/>
          <p:nvPr/>
        </p:nvSpPr>
        <p:spPr>
          <a:xfrm>
            <a:off x="777240" y="1508760"/>
            <a:ext cx="512064" cy="512064"/>
          </a:xfrm>
          <a:prstGeom prst="ellipse">
            <a:avLst/>
          </a:prstGeom>
          <a:solidFill>
            <a:srgbClr val="C00000"/>
          </a:solidFill>
          <a:ln w="12700">
            <a:solidFill>
              <a:srgbClr val="C00000"/>
            </a:solidFill>
            <a:prstDash val="solid"/>
          </a:ln>
        </p:spPr>
      </p:sp>
      <p:sp>
        <p:nvSpPr>
          <p:cNvPr id="4" name="Text 2"/>
          <p:cNvSpPr txBox="1"/>
          <p:nvPr/>
        </p:nvSpPr>
        <p:spPr>
          <a:xfrm>
            <a:off x="777240" y="15087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5" name="Text 3"/>
          <p:cNvSpPr txBox="1"/>
          <p:nvPr/>
        </p:nvSpPr>
        <p:spPr>
          <a:xfrm>
            <a:off x="1527048" y="1453896"/>
            <a:ext cx="10241280" cy="365760"/>
          </a:xfrm>
          <a:prstGeom prst="rect">
            <a:avLst/>
          </a:prstGeom>
          <a:noFill/>
          <a:ln/>
        </p:spPr>
        <p:txBody>
          <a:bodyPr wrap="square" lIns="0" tIns="0" rIns="0" bIns="0" rtlCol="0" anchor="t"/>
          <a:lstStyle/>
          <a:p>
            <a:pPr algn="l" indent="0" marL="0">
              <a:lnSpc>
                <a:spcPts val="2800"/>
              </a:lnSpc>
              <a:buNone/>
            </a:pPr>
            <a:r>
              <a:rPr lang="en-US" sz="2000" b="1" dirty="0">
                <a:solidFill>
                  <a:srgbClr val="000000"/>
                </a:solidFill>
                <a:latin typeface="Times New Roman" pitchFamily="34" charset="0"/>
                <a:ea typeface="Times New Roman" pitchFamily="34" charset="-122"/>
                <a:cs typeface="Times New Roman" pitchFamily="34" charset="-120"/>
              </a:rPr>
              <a:t>No isolated ablation</a:t>
            </a:r>
            <a:endParaRPr lang="en-US" sz="2000" dirty="0"/>
          </a:p>
        </p:txBody>
      </p:sp>
      <p:sp>
        <p:nvSpPr>
          <p:cNvPr id="6" name="Text 4"/>
          <p:cNvSpPr txBox="1"/>
          <p:nvPr/>
        </p:nvSpPr>
        <p:spPr>
          <a:xfrm>
            <a:off x="1527048" y="1984248"/>
            <a:ext cx="10241280" cy="8686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No study varies only the input representation while holding architecture, data, budget, vocoder and evaluation fixed.</a:t>
            </a:r>
            <a:endParaRPr lang="en-US" sz="1800" dirty="0"/>
          </a:p>
        </p:txBody>
      </p:sp>
      <p:sp>
        <p:nvSpPr>
          <p:cNvPr id="7" name="Shape 5"/>
          <p:cNvSpPr/>
          <p:nvPr/>
        </p:nvSpPr>
        <p:spPr>
          <a:xfrm>
            <a:off x="777240" y="3209544"/>
            <a:ext cx="512064" cy="512064"/>
          </a:xfrm>
          <a:prstGeom prst="ellipse">
            <a:avLst/>
          </a:prstGeom>
          <a:solidFill>
            <a:srgbClr val="C00000"/>
          </a:solidFill>
          <a:ln w="12700">
            <a:solidFill>
              <a:srgbClr val="C00000"/>
            </a:solidFill>
            <a:prstDash val="solid"/>
          </a:ln>
        </p:spPr>
      </p:sp>
      <p:sp>
        <p:nvSpPr>
          <p:cNvPr id="8" name="Text 6"/>
          <p:cNvSpPr txBox="1"/>
          <p:nvPr/>
        </p:nvSpPr>
        <p:spPr>
          <a:xfrm>
            <a:off x="777240" y="320954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9" name="Text 7"/>
          <p:cNvSpPr txBox="1"/>
          <p:nvPr/>
        </p:nvSpPr>
        <p:spPr>
          <a:xfrm>
            <a:off x="1527048" y="3154680"/>
            <a:ext cx="10241280" cy="365760"/>
          </a:xfrm>
          <a:prstGeom prst="rect">
            <a:avLst/>
          </a:prstGeom>
          <a:noFill/>
          <a:ln/>
        </p:spPr>
        <p:txBody>
          <a:bodyPr wrap="square" lIns="0" tIns="0" rIns="0" bIns="0" rtlCol="0" anchor="t"/>
          <a:lstStyle/>
          <a:p>
            <a:pPr algn="l" indent="0" marL="0">
              <a:lnSpc>
                <a:spcPts val="2800"/>
              </a:lnSpc>
              <a:buNone/>
            </a:pPr>
            <a:r>
              <a:rPr lang="en-US" sz="2000" b="1" dirty="0">
                <a:solidFill>
                  <a:srgbClr val="000000"/>
                </a:solidFill>
                <a:latin typeface="Times New Roman" pitchFamily="34" charset="0"/>
                <a:ea typeface="Times New Roman" pitchFamily="34" charset="-122"/>
                <a:cs typeface="Times New Roman" pitchFamily="34" charset="-120"/>
              </a:rPr>
              <a:t>No same-script control</a:t>
            </a:r>
            <a:endParaRPr lang="en-US" sz="2000" dirty="0"/>
          </a:p>
        </p:txBody>
      </p:sp>
      <p:sp>
        <p:nvSpPr>
          <p:cNvPr id="10" name="Text 8"/>
          <p:cNvSpPr txBox="1"/>
          <p:nvPr/>
        </p:nvSpPr>
        <p:spPr>
          <a:xfrm>
            <a:off x="1527048" y="3685032"/>
            <a:ext cx="10241280" cy="8686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A difference found on Hindi alone cannot separate “Devanagari is hard” from “schwa deletion is hard”.</a:t>
            </a:r>
            <a:endParaRPr lang="en-US" sz="1800" dirty="0"/>
          </a:p>
        </p:txBody>
      </p:sp>
      <p:sp>
        <p:nvSpPr>
          <p:cNvPr id="11" name="Shape 9"/>
          <p:cNvSpPr/>
          <p:nvPr/>
        </p:nvSpPr>
        <p:spPr>
          <a:xfrm>
            <a:off x="777240" y="4910328"/>
            <a:ext cx="512064" cy="512064"/>
          </a:xfrm>
          <a:prstGeom prst="ellipse">
            <a:avLst/>
          </a:prstGeom>
          <a:solidFill>
            <a:srgbClr val="C00000"/>
          </a:solidFill>
          <a:ln w="12700">
            <a:solidFill>
              <a:srgbClr val="C00000"/>
            </a:solidFill>
            <a:prstDash val="solid"/>
          </a:ln>
        </p:spPr>
      </p:sp>
      <p:sp>
        <p:nvSpPr>
          <p:cNvPr id="12" name="Text 10"/>
          <p:cNvSpPr txBox="1"/>
          <p:nvPr/>
        </p:nvSpPr>
        <p:spPr>
          <a:xfrm>
            <a:off x="777240" y="491032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3" name="Text 11"/>
          <p:cNvSpPr txBox="1"/>
          <p:nvPr/>
        </p:nvSpPr>
        <p:spPr>
          <a:xfrm>
            <a:off x="1527048" y="4855464"/>
            <a:ext cx="10241280" cy="365760"/>
          </a:xfrm>
          <a:prstGeom prst="rect">
            <a:avLst/>
          </a:prstGeom>
          <a:noFill/>
          <a:ln/>
        </p:spPr>
        <p:txBody>
          <a:bodyPr wrap="square" lIns="0" tIns="0" rIns="0" bIns="0" rtlCol="0" anchor="t"/>
          <a:lstStyle/>
          <a:p>
            <a:pPr algn="l" indent="0" marL="0">
              <a:lnSpc>
                <a:spcPts val="2800"/>
              </a:lnSpc>
              <a:buNone/>
            </a:pPr>
            <a:r>
              <a:rPr lang="en-US" sz="2000" b="1" dirty="0">
                <a:solidFill>
                  <a:srgbClr val="000000"/>
                </a:solidFill>
                <a:latin typeface="Times New Roman" pitchFamily="34" charset="0"/>
                <a:ea typeface="Times New Roman" pitchFamily="34" charset="-122"/>
                <a:cs typeface="Times New Roman" pitchFamily="34" charset="-120"/>
              </a:rPr>
              <a:t>No data-size axis</a:t>
            </a:r>
            <a:endParaRPr lang="en-US" sz="2000" dirty="0"/>
          </a:p>
        </p:txBody>
      </p:sp>
      <p:sp>
        <p:nvSpPr>
          <p:cNvPr id="14" name="Text 12"/>
          <p:cNvSpPr txBox="1"/>
          <p:nvPr/>
        </p:nvSpPr>
        <p:spPr>
          <a:xfrm>
            <a:off x="1527048" y="5385816"/>
            <a:ext cx="10241280" cy="8686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No study reports how the effect changes with the quantity of training data available.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4.  Motivation</a:t>
            </a:r>
            <a:endParaRPr lang="en-US" sz="3000" dirty="0"/>
          </a:p>
        </p:txBody>
      </p:sp>
      <p:sp>
        <p:nvSpPr>
          <p:cNvPr id="3" name="Text 1"/>
          <p:cNvSpPr txBox="1"/>
          <p:nvPr/>
        </p:nvSpPr>
        <p:spPr>
          <a:xfrm>
            <a:off x="777240" y="1143000"/>
            <a:ext cx="10634472" cy="457200"/>
          </a:xfrm>
          <a:prstGeom prst="rect">
            <a:avLst/>
          </a:prstGeom>
          <a:noFill/>
          <a:ln/>
        </p:spPr>
        <p:txBody>
          <a:bodyPr wrap="square" lIns="0" tIns="0" rIns="0" bIns="0" rtlCol="0" anchor="t"/>
          <a:lstStyle/>
          <a:p>
            <a:pPr algn="l" indent="0" marL="0">
              <a:lnSpc>
                <a:spcPts val="2520"/>
              </a:lnSpc>
              <a:buNone/>
            </a:pPr>
            <a:r>
              <a:rPr lang="en-US" sz="1800" dirty="0">
                <a:solidFill>
                  <a:srgbClr val="000000"/>
                </a:solidFill>
                <a:latin typeface="Times New Roman" pitchFamily="34" charset="0"/>
                <a:ea typeface="Times New Roman" pitchFamily="34" charset="-122"/>
                <a:cs typeface="Times New Roman" pitchFamily="34" charset="-120"/>
              </a:rPr>
              <a:t>Implementing a G2P front end is real work: a phone inventory, a normaliser, a schwa implementation, an exception lexicon, and the maintenance of all four.</a:t>
            </a:r>
            <a:endParaRPr lang="en-US" sz="1800" dirty="0"/>
          </a:p>
        </p:txBody>
      </p:sp>
      <p:sp>
        <p:nvSpPr>
          <p:cNvPr id="4" name="Shape 2"/>
          <p:cNvSpPr/>
          <p:nvPr/>
        </p:nvSpPr>
        <p:spPr>
          <a:xfrm>
            <a:off x="777240" y="1920240"/>
            <a:ext cx="5029200" cy="1536192"/>
          </a:xfrm>
          <a:prstGeom prst="roundRect">
            <a:avLst>
              <a:gd name="adj" fmla="val 2976"/>
            </a:avLst>
          </a:prstGeom>
          <a:solidFill>
            <a:srgbClr val="F2F2F2"/>
          </a:solidFill>
          <a:ln w="12700">
            <a:solidFill>
              <a:srgbClr val="808080"/>
            </a:solidFill>
            <a:prstDash val="solid"/>
          </a:ln>
        </p:spPr>
      </p:sp>
      <p:sp>
        <p:nvSpPr>
          <p:cNvPr id="5" name="Text 3"/>
          <p:cNvSpPr txBox="1"/>
          <p:nvPr/>
        </p:nvSpPr>
        <p:spPr>
          <a:xfrm>
            <a:off x="1005840" y="2103120"/>
            <a:ext cx="4572000" cy="365760"/>
          </a:xfrm>
          <a:prstGeom prst="rect">
            <a:avLst/>
          </a:prstGeom>
          <a:noFill/>
          <a:ln/>
        </p:spPr>
        <p:txBody>
          <a:bodyPr wrap="square" lIns="0" tIns="0" rIns="0" bIns="0" rtlCol="0" anchor="t"/>
          <a:lstStyle/>
          <a:p>
            <a:pPr algn="l" indent="0" marL="0">
              <a:lnSpc>
                <a:spcPts val="2520"/>
              </a:lnSpc>
              <a:buNone/>
            </a:pPr>
            <a:r>
              <a:rPr lang="en-US" sz="1800" b="1" dirty="0">
                <a:solidFill>
                  <a:srgbClr val="000000"/>
                </a:solidFill>
                <a:latin typeface="Times New Roman" pitchFamily="34" charset="0"/>
                <a:ea typeface="Times New Roman" pitchFamily="34" charset="-122"/>
                <a:cs typeface="Times New Roman" pitchFamily="34" charset="-120"/>
              </a:rPr>
              <a:t>Linguistic purists</a:t>
            </a:r>
            <a:endParaRPr lang="en-US" sz="1800" dirty="0"/>
          </a:p>
        </p:txBody>
      </p:sp>
      <p:sp>
        <p:nvSpPr>
          <p:cNvPr id="6" name="Text 4"/>
          <p:cNvSpPr txBox="1"/>
          <p:nvPr/>
        </p:nvSpPr>
        <p:spPr>
          <a:xfrm>
            <a:off x="1005840" y="2560320"/>
            <a:ext cx="4572000" cy="1188720"/>
          </a:xfrm>
          <a:prstGeom prst="rect">
            <a:avLst/>
          </a:prstGeom>
          <a:noFill/>
          <a:ln/>
        </p:spPr>
        <p:txBody>
          <a:bodyPr wrap="square" lIns="0" tIns="0" rIns="0" bIns="0" rtlCol="0" anchor="t"/>
          <a:lstStyle/>
          <a:p>
            <a:pPr algn="l" indent="0" marL="0">
              <a:lnSpc>
                <a:spcPts val="2100"/>
              </a:lnSpc>
              <a:buNone/>
            </a:pPr>
            <a:r>
              <a:rPr lang="en-US" sz="1500" dirty="0">
                <a:solidFill>
                  <a:srgbClr val="595959"/>
                </a:solidFill>
                <a:latin typeface="Times New Roman" pitchFamily="34" charset="0"/>
                <a:ea typeface="Times New Roman" pitchFamily="34" charset="-122"/>
                <a:cs typeface="Times New Roman" pitchFamily="34" charset="-120"/>
              </a:rPr>
              <a:t>Insist on a full G2P front end, phonetic inventories and hand tuned schwa deletion rule sets before anything reaches an acoustic model.</a:t>
            </a:r>
            <a:endParaRPr lang="en-US" sz="1500" dirty="0"/>
          </a:p>
        </p:txBody>
      </p:sp>
      <p:sp>
        <p:nvSpPr>
          <p:cNvPr id="7" name="Shape 5"/>
          <p:cNvSpPr/>
          <p:nvPr/>
        </p:nvSpPr>
        <p:spPr>
          <a:xfrm>
            <a:off x="6382512" y="1920240"/>
            <a:ext cx="5029200" cy="1536192"/>
          </a:xfrm>
          <a:prstGeom prst="roundRect">
            <a:avLst>
              <a:gd name="adj" fmla="val 2976"/>
            </a:avLst>
          </a:prstGeom>
          <a:solidFill>
            <a:srgbClr val="F2F2F2"/>
          </a:solidFill>
          <a:ln w="12700">
            <a:solidFill>
              <a:srgbClr val="808080"/>
            </a:solidFill>
            <a:prstDash val="solid"/>
          </a:ln>
        </p:spPr>
      </p:sp>
      <p:sp>
        <p:nvSpPr>
          <p:cNvPr id="8" name="Text 6"/>
          <p:cNvSpPr txBox="1"/>
          <p:nvPr/>
        </p:nvSpPr>
        <p:spPr>
          <a:xfrm>
            <a:off x="6611112" y="2103120"/>
            <a:ext cx="4572000" cy="365760"/>
          </a:xfrm>
          <a:prstGeom prst="rect">
            <a:avLst/>
          </a:prstGeom>
          <a:noFill/>
          <a:ln/>
        </p:spPr>
        <p:txBody>
          <a:bodyPr wrap="square" lIns="0" tIns="0" rIns="0" bIns="0" rtlCol="0" anchor="t"/>
          <a:lstStyle/>
          <a:p>
            <a:pPr algn="l" indent="0" marL="0">
              <a:lnSpc>
                <a:spcPts val="2520"/>
              </a:lnSpc>
              <a:buNone/>
            </a:pPr>
            <a:r>
              <a:rPr lang="en-US" sz="1800" b="1" dirty="0">
                <a:solidFill>
                  <a:srgbClr val="000000"/>
                </a:solidFill>
                <a:latin typeface="Times New Roman" pitchFamily="34" charset="0"/>
                <a:ea typeface="Times New Roman" pitchFamily="34" charset="-122"/>
                <a:cs typeface="Times New Roman" pitchFamily="34" charset="-120"/>
              </a:rPr>
              <a:t>End-to-end modernists</a:t>
            </a:r>
            <a:endParaRPr lang="en-US" sz="1800" dirty="0"/>
          </a:p>
        </p:txBody>
      </p:sp>
      <p:sp>
        <p:nvSpPr>
          <p:cNvPr id="9" name="Text 7"/>
          <p:cNvSpPr txBox="1"/>
          <p:nvPr/>
        </p:nvSpPr>
        <p:spPr>
          <a:xfrm>
            <a:off x="6611112" y="2560320"/>
            <a:ext cx="4572000" cy="1188720"/>
          </a:xfrm>
          <a:prstGeom prst="rect">
            <a:avLst/>
          </a:prstGeom>
          <a:noFill/>
          <a:ln/>
        </p:spPr>
        <p:txBody>
          <a:bodyPr wrap="square" lIns="0" tIns="0" rIns="0" bIns="0" rtlCol="0" anchor="t"/>
          <a:lstStyle/>
          <a:p>
            <a:pPr algn="l" indent="0" marL="0">
              <a:lnSpc>
                <a:spcPts val="2100"/>
              </a:lnSpc>
              <a:buNone/>
            </a:pPr>
            <a:r>
              <a:rPr lang="en-US" sz="1500" dirty="0">
                <a:solidFill>
                  <a:srgbClr val="595959"/>
                </a:solidFill>
                <a:latin typeface="Times New Roman" pitchFamily="34" charset="0"/>
                <a:ea typeface="Times New Roman" pitchFamily="34" charset="-122"/>
                <a:cs typeface="Times New Roman" pitchFamily="34" charset="-120"/>
              </a:rPr>
              <a:t>Feed raw Devanagari straight into FastSpeech 2, VITS or Matcha-TTS, assuming neural alignment learns zero duration schwas on its own.</a:t>
            </a:r>
            <a:endParaRPr lang="en-US" sz="1500" dirty="0"/>
          </a:p>
        </p:txBody>
      </p:sp>
      <p:sp>
        <p:nvSpPr>
          <p:cNvPr id="10" name="Shape 8"/>
          <p:cNvSpPr/>
          <p:nvPr/>
        </p:nvSpPr>
        <p:spPr>
          <a:xfrm>
            <a:off x="777240" y="3794760"/>
            <a:ext cx="10634472" cy="777240"/>
          </a:xfrm>
          <a:prstGeom prst="roundRect">
            <a:avLst>
              <a:gd name="adj" fmla="val 5882"/>
            </a:avLst>
          </a:prstGeom>
          <a:solidFill>
            <a:srgbClr val="FCECEC"/>
          </a:solidFill>
          <a:ln w="12700">
            <a:solidFill>
              <a:srgbClr val="C00000"/>
            </a:solidFill>
            <a:prstDash val="solid"/>
          </a:ln>
        </p:spPr>
      </p:sp>
      <p:sp>
        <p:nvSpPr>
          <p:cNvPr id="11" name="Text 9"/>
          <p:cNvSpPr txBox="1"/>
          <p:nvPr/>
        </p:nvSpPr>
        <p:spPr>
          <a:xfrm>
            <a:off x="1051560" y="3959352"/>
            <a:ext cx="10085832" cy="457200"/>
          </a:xfrm>
          <a:prstGeom prst="rect">
            <a:avLst/>
          </a:prstGeom>
          <a:noFill/>
          <a:ln/>
        </p:spPr>
        <p:txBody>
          <a:bodyPr wrap="square" lIns="0" tIns="0" rIns="0" bIns="0" rtlCol="0" anchor="t"/>
          <a:lstStyle/>
          <a:p>
            <a:pPr algn="ctr" indent="0" marL="0">
              <a:lnSpc>
                <a:spcPts val="2660"/>
              </a:lnSpc>
              <a:buNone/>
            </a:pPr>
            <a:r>
              <a:rPr lang="en-US" sz="1900" b="1" dirty="0">
                <a:solidFill>
                  <a:srgbClr val="C00000"/>
                </a:solidFill>
                <a:latin typeface="Times New Roman" pitchFamily="34" charset="0"/>
                <a:ea typeface="Times New Roman" pitchFamily="34" charset="-122"/>
                <a:cs typeface="Times New Roman" pitchFamily="34" charset="-120"/>
              </a:rPr>
              <a:t>Neither side has been given an umpire.</a:t>
            </a:r>
            <a:endParaRPr lang="en-US" sz="1900" dirty="0"/>
          </a:p>
        </p:txBody>
      </p:sp>
      <p:sp>
        <p:nvSpPr>
          <p:cNvPr id="12" name="Text 10"/>
          <p:cNvSpPr txBox="1"/>
          <p:nvPr/>
        </p:nvSpPr>
        <p:spPr>
          <a:xfrm>
            <a:off x="777240" y="4892040"/>
            <a:ext cx="10634472" cy="1554480"/>
          </a:xfrm>
          <a:prstGeom prst="rect">
            <a:avLst/>
          </a:prstGeom>
          <a:noFill/>
          <a:ln/>
        </p:spPr>
        <p:txBody>
          <a:bodyPr wrap="square" lIns="0" tIns="0" rIns="0" bIns="0" rtlCol="0" anchor="t"/>
          <a:lstStyle/>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Building this front end took the better part of a month. If the models learn schwa deletion on their own, that month was wasted and nobody else should spend it.</a:t>
            </a:r>
            <a:endParaRPr lang="en-US" sz="1800" dirty="0"/>
          </a:p>
          <a:p>
            <a:pPr marL="342900" indent="-342900">
              <a:lnSpc>
                <a:spcPts val="2700"/>
              </a:lnSpc>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If they do not, the field should stop defaulting to character level input for Indic languages, which is presently common.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5.  Problem Statement</a:t>
            </a:r>
            <a:endParaRPr lang="en-US" sz="3000" dirty="0"/>
          </a:p>
        </p:txBody>
      </p:sp>
      <p:sp>
        <p:nvSpPr>
          <p:cNvPr id="3" name="Shape 1"/>
          <p:cNvSpPr/>
          <p:nvPr/>
        </p:nvSpPr>
        <p:spPr>
          <a:xfrm>
            <a:off x="777240" y="1234440"/>
            <a:ext cx="10634472" cy="1371600"/>
          </a:xfrm>
          <a:prstGeom prst="roundRect">
            <a:avLst>
              <a:gd name="adj" fmla="val 3333"/>
            </a:avLst>
          </a:prstGeom>
          <a:solidFill>
            <a:srgbClr val="FCECEC"/>
          </a:solidFill>
          <a:ln w="12700">
            <a:solidFill>
              <a:srgbClr val="C00000"/>
            </a:solidFill>
            <a:prstDash val="solid"/>
          </a:ln>
        </p:spPr>
      </p:sp>
      <p:sp>
        <p:nvSpPr>
          <p:cNvPr id="4" name="Text 2"/>
          <p:cNvSpPr txBox="1"/>
          <p:nvPr/>
        </p:nvSpPr>
        <p:spPr>
          <a:xfrm>
            <a:off x="1097280" y="1444752"/>
            <a:ext cx="9994392" cy="1005840"/>
          </a:xfrm>
          <a:prstGeom prst="rect">
            <a:avLst/>
          </a:prstGeom>
          <a:noFill/>
          <a:ln/>
        </p:spPr>
        <p:txBody>
          <a:bodyPr wrap="square" lIns="0" tIns="0" rIns="0" bIns="0" rtlCol="0" anchor="ctr"/>
          <a:lstStyle/>
          <a:p>
            <a:pPr algn="ctr" indent="0" marL="0">
              <a:lnSpc>
                <a:spcPts val="2660"/>
              </a:lnSpc>
              <a:buNone/>
            </a:pPr>
            <a:r>
              <a:rPr lang="en-US" sz="1900" b="1" dirty="0">
                <a:solidFill>
                  <a:srgbClr val="000000"/>
                </a:solidFill>
                <a:latin typeface="Times New Roman" pitchFamily="34" charset="0"/>
                <a:ea typeface="Times New Roman" pitchFamily="34" charset="-122"/>
                <a:cs typeface="Times New Roman" pitchFamily="34" charset="-120"/>
              </a:rPr>
              <a:t>Holding training budget, evaluation protocol and speaker fixed, does phonemic input from an explicit Devanagari G2P front end improve neural TTS quality in Hindi relative to raw grapheme input?</a:t>
            </a:r>
            <a:endParaRPr lang="en-US" sz="1900" dirty="0"/>
          </a:p>
        </p:txBody>
      </p:sp>
      <p:sp>
        <p:nvSpPr>
          <p:cNvPr id="5" name="Text 3"/>
          <p:cNvSpPr txBox="1"/>
          <p:nvPr/>
        </p:nvSpPr>
        <p:spPr>
          <a:xfrm>
            <a:off x="777240" y="3200400"/>
            <a:ext cx="5394960" cy="411480"/>
          </a:xfrm>
          <a:prstGeom prst="rect">
            <a:avLst/>
          </a:prstGeom>
          <a:noFill/>
          <a:ln/>
        </p:spPr>
        <p:txBody>
          <a:bodyPr wrap="square" lIns="0" tIns="0" rIns="0" bIns="0" rtlCol="0" anchor="t"/>
          <a:lstStyle/>
          <a:p>
            <a:pPr algn="l" indent="0" marL="0">
              <a:lnSpc>
                <a:spcPts val="2660"/>
              </a:lnSpc>
              <a:buNone/>
            </a:pPr>
            <a:r>
              <a:rPr lang="en-US" sz="1900" b="1" dirty="0">
                <a:solidFill>
                  <a:srgbClr val="000000"/>
                </a:solidFill>
                <a:latin typeface="Times New Roman" pitchFamily="34" charset="0"/>
                <a:ea typeface="Times New Roman" pitchFamily="34" charset="-122"/>
                <a:cs typeface="Times New Roman" pitchFamily="34" charset="-120"/>
              </a:rPr>
              <a:t>Does it depend on the architecture?</a:t>
            </a:r>
            <a:endParaRPr lang="en-US" sz="1900" dirty="0"/>
          </a:p>
        </p:txBody>
      </p:sp>
      <p:sp>
        <p:nvSpPr>
          <p:cNvPr id="6" name="Text 4"/>
          <p:cNvSpPr txBox="1"/>
          <p:nvPr/>
        </p:nvSpPr>
        <p:spPr>
          <a:xfrm>
            <a:off x="6309360" y="3200400"/>
            <a:ext cx="5120640" cy="4114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FastSpeech 2  ·  VITS  ·  Matcha-TTS</a:t>
            </a:r>
            <a:endParaRPr lang="en-US" sz="1800" dirty="0"/>
          </a:p>
        </p:txBody>
      </p:sp>
      <p:sp>
        <p:nvSpPr>
          <p:cNvPr id="7" name="Text 5"/>
          <p:cNvSpPr txBox="1"/>
          <p:nvPr/>
        </p:nvSpPr>
        <p:spPr>
          <a:xfrm>
            <a:off x="777240" y="4389120"/>
            <a:ext cx="5394960" cy="411480"/>
          </a:xfrm>
          <a:prstGeom prst="rect">
            <a:avLst/>
          </a:prstGeom>
          <a:noFill/>
          <a:ln/>
        </p:spPr>
        <p:txBody>
          <a:bodyPr wrap="square" lIns="0" tIns="0" rIns="0" bIns="0" rtlCol="0" anchor="t"/>
          <a:lstStyle/>
          <a:p>
            <a:pPr algn="l" indent="0" marL="0">
              <a:lnSpc>
                <a:spcPts val="2660"/>
              </a:lnSpc>
              <a:buNone/>
            </a:pPr>
            <a:r>
              <a:rPr lang="en-US" sz="1900" b="1" dirty="0">
                <a:solidFill>
                  <a:srgbClr val="000000"/>
                </a:solidFill>
                <a:latin typeface="Times New Roman" pitchFamily="34" charset="0"/>
                <a:ea typeface="Times New Roman" pitchFamily="34" charset="-122"/>
                <a:cs typeface="Times New Roman" pitchFamily="34" charset="-120"/>
              </a:rPr>
              <a:t>Does it survive less data?</a:t>
            </a:r>
            <a:endParaRPr lang="en-US" sz="1900" dirty="0"/>
          </a:p>
        </p:txBody>
      </p:sp>
      <p:sp>
        <p:nvSpPr>
          <p:cNvPr id="8" name="Text 6"/>
          <p:cNvSpPr txBox="1"/>
          <p:nvPr/>
        </p:nvSpPr>
        <p:spPr>
          <a:xfrm>
            <a:off x="6309360" y="4389120"/>
            <a:ext cx="5120640" cy="4114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9 h → 5 h → 1 h → 30 min → 10 min</a:t>
            </a:r>
            <a:endParaRPr lang="en-US" sz="1800" dirty="0"/>
          </a:p>
        </p:txBody>
      </p:sp>
      <p:sp>
        <p:nvSpPr>
          <p:cNvPr id="9" name="Text 7"/>
          <p:cNvSpPr txBox="1"/>
          <p:nvPr/>
        </p:nvSpPr>
        <p:spPr>
          <a:xfrm>
            <a:off x="777240" y="5577840"/>
            <a:ext cx="5394960" cy="411480"/>
          </a:xfrm>
          <a:prstGeom prst="rect">
            <a:avLst/>
          </a:prstGeom>
          <a:noFill/>
          <a:ln/>
        </p:spPr>
        <p:txBody>
          <a:bodyPr wrap="square" lIns="0" tIns="0" rIns="0" bIns="0" rtlCol="0" anchor="t"/>
          <a:lstStyle/>
          <a:p>
            <a:pPr algn="l" indent="0" marL="0">
              <a:lnSpc>
                <a:spcPts val="2660"/>
              </a:lnSpc>
              <a:buNone/>
            </a:pPr>
            <a:r>
              <a:rPr lang="en-US" sz="1900" b="1" dirty="0">
                <a:solidFill>
                  <a:srgbClr val="000000"/>
                </a:solidFill>
                <a:latin typeface="Times New Roman" pitchFamily="34" charset="0"/>
                <a:ea typeface="Times New Roman" pitchFamily="34" charset="-122"/>
                <a:cs typeface="Times New Roman" pitchFamily="34" charset="-120"/>
              </a:rPr>
              <a:t>Is it schwa, or is it script?</a:t>
            </a:r>
            <a:endParaRPr lang="en-US" sz="1900" dirty="0"/>
          </a:p>
        </p:txBody>
      </p:sp>
      <p:sp>
        <p:nvSpPr>
          <p:cNvPr id="10" name="Text 8"/>
          <p:cNvSpPr txBox="1"/>
          <p:nvPr/>
        </p:nvSpPr>
        <p:spPr>
          <a:xfrm>
            <a:off x="6309360" y="5577840"/>
            <a:ext cx="5120640" cy="411480"/>
          </a:xfrm>
          <a:prstGeom prst="rect">
            <a:avLst/>
          </a:prstGeom>
          <a:noFill/>
          <a:ln/>
        </p:spPr>
        <p:txBody>
          <a:bodyPr wrap="square" lIns="0" tIns="0" rIns="0" bIns="0" rtlCol="0" anchor="t"/>
          <a:lstStyle/>
          <a:p>
            <a:pPr algn="l" indent="0" marL="0">
              <a:lnSpc>
                <a:spcPts val="2520"/>
              </a:lnSpc>
              <a:buNone/>
            </a:pPr>
            <a:r>
              <a:rPr lang="en-US" sz="1800" dirty="0">
                <a:solidFill>
                  <a:srgbClr val="595959"/>
                </a:solidFill>
                <a:latin typeface="Times New Roman" pitchFamily="34" charset="0"/>
                <a:ea typeface="Times New Roman" pitchFamily="34" charset="-122"/>
                <a:cs typeface="Times New Roman" pitchFamily="34" charset="-120"/>
              </a:rPr>
              <a:t>Marathi control: same script, no medial rule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6.  Research Objectives</a:t>
            </a:r>
            <a:endParaRPr lang="en-US" sz="3000" dirty="0"/>
          </a:p>
        </p:txBody>
      </p:sp>
      <p:sp>
        <p:nvSpPr>
          <p:cNvPr id="3" name="Text 1"/>
          <p:cNvSpPr txBox="1"/>
          <p:nvPr/>
        </p:nvSpPr>
        <p:spPr>
          <a:xfrm>
            <a:off x="777240" y="1280160"/>
            <a:ext cx="10634472" cy="5120640"/>
          </a:xfrm>
          <a:prstGeom prst="rect">
            <a:avLst/>
          </a:prstGeom>
          <a:noFill/>
          <a:ln/>
        </p:spPr>
        <p:txBody>
          <a:bodyPr wrap="square" lIns="0" tIns="0" rIns="0" bIns="0" rtlCol="0" anchor="t"/>
          <a:lstStyle/>
          <a:p>
            <a:pPr marL="342900" indent="-342900">
              <a:lnSpc>
                <a:spcPts val="3200"/>
              </a:lnSpc>
              <a:spcAft>
                <a:spcPts val="2600"/>
              </a:spcAft>
              <a:buSzPct val="100000"/>
              <a:buFont typeface="+mj-lt"/>
              <a:buAutoNum type="arabicPeriod" startAt="1"/>
            </a:pPr>
            <a:r>
              <a:rPr lang="en-US" sz="2000" dirty="0">
                <a:solidFill>
                  <a:srgbClr val="000000"/>
                </a:solidFill>
                <a:latin typeface="Times New Roman" pitchFamily="34" charset="0"/>
                <a:ea typeface="Times New Roman" pitchFamily="34" charset="-122"/>
                <a:cs typeface="Times New Roman" pitchFamily="34" charset="-120"/>
              </a:rPr>
              <a:t>Build a speaker-matched, loudness-normalised Hindi and Marathi corpus with frozen, checksummed splits, and implement a Devanagari G2P front end in which schwa deletion is a separately switchable stage, validated against native-speaker judgement.</a:t>
            </a:r>
            <a:endParaRPr lang="en-US" sz="2000" dirty="0"/>
          </a:p>
          <a:p>
            <a:pPr marL="342900" indent="-342900">
              <a:lnSpc>
                <a:spcPts val="3200"/>
              </a:lnSpc>
              <a:spcAft>
                <a:spcPts val="2600"/>
              </a:spcAft>
              <a:buSzPct val="100000"/>
              <a:buFont typeface="+mj-lt"/>
              <a:buAutoNum type="arabicPeriod" startAt="1"/>
            </a:pPr>
            <a:r>
              <a:rPr lang="en-US" sz="2000" dirty="0">
                <a:solidFill>
                  <a:srgbClr val="000000"/>
                </a:solidFill>
                <a:latin typeface="Times New Roman" pitchFamily="34" charset="0"/>
                <a:ea typeface="Times New Roman" pitchFamily="34" charset="-122"/>
                <a:cs typeface="Times New Roman" pitchFamily="34" charset="-120"/>
              </a:rPr>
              <a:t>Train FastSpeech 2, VITS and Matcha-TTS under a provably identical budget on phonemic and on graphemic input, and measure the effect across a nested data ladder from nine hours down to ten minutes.</a:t>
            </a:r>
            <a:endParaRPr lang="en-US" sz="2000" dirty="0"/>
          </a:p>
          <a:p>
            <a:pPr marL="342900" indent="-342900">
              <a:lnSpc>
                <a:spcPts val="3200"/>
              </a:lnSpc>
              <a:spcAft>
                <a:spcPts val="2600"/>
              </a:spcAft>
              <a:buSzPct val="100000"/>
              <a:buFont typeface="+mj-lt"/>
              <a:buAutoNum type="arabicPeriod" startAt="1"/>
            </a:pPr>
            <a:r>
              <a:rPr lang="en-US" sz="2000" dirty="0">
                <a:solidFill>
                  <a:srgbClr val="000000"/>
                </a:solidFill>
                <a:latin typeface="Times New Roman" pitchFamily="34" charset="0"/>
                <a:ea typeface="Times New Roman" pitchFamily="34" charset="-122"/>
                <a:cs typeface="Times New Roman" pitchFamily="34" charset="-120"/>
              </a:rPr>
              <a:t>Repeat the ablation in Marathi in order to separate phonology from script.</a:t>
            </a:r>
            <a:endParaRPr lang="en-US" sz="2000" dirty="0"/>
          </a:p>
          <a:p>
            <a:pPr marL="342900" indent="-342900">
              <a:lnSpc>
                <a:spcPts val="3200"/>
              </a:lnSpc>
              <a:spcAft>
                <a:spcPts val="2600"/>
              </a:spcAft>
              <a:buSzPct val="100000"/>
              <a:buFont typeface="+mj-lt"/>
              <a:buAutoNum type="arabicPeriod" startAt="1"/>
            </a:pPr>
            <a:r>
              <a:rPr lang="en-US" sz="2000" dirty="0">
                <a:solidFill>
                  <a:srgbClr val="000000"/>
                </a:solidFill>
                <a:latin typeface="Times New Roman" pitchFamily="34" charset="0"/>
                <a:ea typeface="Times New Roman" pitchFamily="34" charset="-122"/>
                <a:cs typeface="Times New Roman" pitchFamily="34" charset="-120"/>
              </a:rPr>
              <a:t>Evaluate with verified objective metrics, predicted MOS, a human listening test and real-time factor, and release the testbed, the checkpoints and a speaker-validated contested-schwa stress-test set.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7.  Literature Review</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143000"/>
          <a:ext cx="10634472" cy="914400"/>
        </p:xfrm>
        <a:graphic>
          <a:graphicData uri="http://schemas.openxmlformats.org/drawingml/2006/table">
            <a:tbl>
              <a:tblPr/>
              <a:tblGrid>
                <a:gridCol w="1783080"/>
                <a:gridCol w="2148840"/>
                <a:gridCol w="3520440"/>
                <a:gridCol w="3182112"/>
              </a:tblGrid>
              <a:tr h="475488">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Reference</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Focus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Key result</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Gap it leaves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FastSpeech 2 [3]</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Non-autoregressive transformer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Explicit duration, pitch and energy; one forward pass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Needs a duration target from outside the model</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VITS [4]</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VAE + flow + GAN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End-to-end waveform via monotonic alignment search</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Heavy; alignment less stable at low resource</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Matcha-TTS [5]</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Conditional flow matching</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Diffusion-level quality in a few ODE steps, 18M params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Least validated of the three on Indic languages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Narasimhan et al. [1]</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Rule-based schwa deletion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Iterative right-to-left V C _ C V rule for Hindi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Never evaluated inside a TTS system</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Arora et al. [2]</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Supervised neural G2P</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Higher contextual accuracy than the rule</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Measures G2P accuracy, not its value to a model</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AI4Bharat [8]</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Indic TTS baselines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Usable quality from modest per-language data</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One system per language; no front-end ablation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IndicVoices-R [9]</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Large Indic corpus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Multi-dialectal dataset built for generative modelling</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High acoustic variance; controlled comparison hard</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MMS [10]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Multilingual VITS checkpoints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Pretrained for 1,000+ languages including hi and mr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Natively 16 kHz, so bandwidth caps at 8 kHz</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475488">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This work</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Controlled ablation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Input representation is the only variable</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8.  Research Methodology: the G2P front end</a:t>
            </a:r>
            <a:endParaRPr lang="en-US" sz="3000" dirty="0"/>
          </a:p>
        </p:txBody>
      </p:sp>
      <p:sp>
        <p:nvSpPr>
          <p:cNvPr id="3" name="Shape 1"/>
          <p:cNvSpPr/>
          <p:nvPr/>
        </p:nvSpPr>
        <p:spPr>
          <a:xfrm>
            <a:off x="777240" y="1371600"/>
            <a:ext cx="2377440" cy="1783080"/>
          </a:xfrm>
          <a:prstGeom prst="roundRect">
            <a:avLst>
              <a:gd name="adj" fmla="val 2564"/>
            </a:avLst>
          </a:prstGeom>
          <a:solidFill>
            <a:srgbClr val="F2F2F2"/>
          </a:solidFill>
          <a:ln w="12700">
            <a:solidFill>
              <a:srgbClr val="808080"/>
            </a:solidFill>
            <a:prstDash val="solid"/>
          </a:ln>
        </p:spPr>
      </p:sp>
      <p:sp>
        <p:nvSpPr>
          <p:cNvPr id="4" name="Text 2"/>
          <p:cNvSpPr txBox="1"/>
          <p:nvPr/>
        </p:nvSpPr>
        <p:spPr>
          <a:xfrm>
            <a:off x="868680" y="1536192"/>
            <a:ext cx="2194560" cy="320040"/>
          </a:xfrm>
          <a:prstGeom prst="rect">
            <a:avLst/>
          </a:prstGeom>
          <a:noFill/>
          <a:ln/>
        </p:spPr>
        <p:txBody>
          <a:bodyPr wrap="square" lIns="0" tIns="0" rIns="0" bIns="0" rtlCol="0" anchor="t"/>
          <a:lstStyle/>
          <a:p>
            <a:pPr algn="ctr" indent="0" marL="0">
              <a:lnSpc>
                <a:spcPts val="2100"/>
              </a:lnSpc>
              <a:buNone/>
            </a:pPr>
            <a:r>
              <a:rPr lang="en-US" sz="1500" b="1" dirty="0">
                <a:solidFill>
                  <a:srgbClr val="000000"/>
                </a:solidFill>
                <a:latin typeface="Times New Roman" pitchFamily="34" charset="0"/>
                <a:ea typeface="Times New Roman" pitchFamily="34" charset="-122"/>
                <a:cs typeface="Times New Roman" pitchFamily="34" charset="-120"/>
              </a:rPr>
              <a:t>1.  Normalise</a:t>
            </a:r>
            <a:endParaRPr lang="en-US" sz="1500" dirty="0"/>
          </a:p>
        </p:txBody>
      </p:sp>
      <p:sp>
        <p:nvSpPr>
          <p:cNvPr id="5" name="Text 3"/>
          <p:cNvSpPr txBox="1"/>
          <p:nvPr/>
        </p:nvSpPr>
        <p:spPr>
          <a:xfrm>
            <a:off x="868680" y="1938528"/>
            <a:ext cx="2194560" cy="10972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NFC, nukta, corpus</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spelling, digits,</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punctuation</a:t>
            </a:r>
            <a:endParaRPr lang="en-US" sz="1250" dirty="0"/>
          </a:p>
        </p:txBody>
      </p:sp>
      <p:sp>
        <p:nvSpPr>
          <p:cNvPr id="6" name="Shape 4"/>
          <p:cNvSpPr/>
          <p:nvPr/>
        </p:nvSpPr>
        <p:spPr>
          <a:xfrm>
            <a:off x="3209544" y="2263140"/>
            <a:ext cx="310896" cy="0"/>
          </a:xfrm>
          <a:prstGeom prst="line">
            <a:avLst/>
          </a:prstGeom>
          <a:noFill/>
          <a:ln w="15875">
            <a:solidFill>
              <a:srgbClr val="000000"/>
            </a:solidFill>
            <a:prstDash val="solid"/>
            <a:tailEnd type="triangle"/>
          </a:ln>
        </p:spPr>
      </p:sp>
      <p:sp>
        <p:nvSpPr>
          <p:cNvPr id="7" name="Shape 5"/>
          <p:cNvSpPr/>
          <p:nvPr/>
        </p:nvSpPr>
        <p:spPr>
          <a:xfrm>
            <a:off x="3575304" y="1371600"/>
            <a:ext cx="2377440" cy="1783080"/>
          </a:xfrm>
          <a:prstGeom prst="roundRect">
            <a:avLst>
              <a:gd name="adj" fmla="val 2564"/>
            </a:avLst>
          </a:prstGeom>
          <a:solidFill>
            <a:srgbClr val="F2F2F2"/>
          </a:solidFill>
          <a:ln w="12700">
            <a:solidFill>
              <a:srgbClr val="808080"/>
            </a:solidFill>
            <a:prstDash val="solid"/>
          </a:ln>
        </p:spPr>
      </p:sp>
      <p:sp>
        <p:nvSpPr>
          <p:cNvPr id="8" name="Text 6"/>
          <p:cNvSpPr txBox="1"/>
          <p:nvPr/>
        </p:nvSpPr>
        <p:spPr>
          <a:xfrm>
            <a:off x="3666744" y="1536192"/>
            <a:ext cx="2194560" cy="320040"/>
          </a:xfrm>
          <a:prstGeom prst="rect">
            <a:avLst/>
          </a:prstGeom>
          <a:noFill/>
          <a:ln/>
        </p:spPr>
        <p:txBody>
          <a:bodyPr wrap="square" lIns="0" tIns="0" rIns="0" bIns="0" rtlCol="0" anchor="t"/>
          <a:lstStyle/>
          <a:p>
            <a:pPr algn="ctr" indent="0" marL="0">
              <a:lnSpc>
                <a:spcPts val="2100"/>
              </a:lnSpc>
              <a:buNone/>
            </a:pPr>
            <a:r>
              <a:rPr lang="en-US" sz="1500" b="1" dirty="0">
                <a:solidFill>
                  <a:srgbClr val="000000"/>
                </a:solidFill>
                <a:latin typeface="Times New Roman" pitchFamily="34" charset="0"/>
                <a:ea typeface="Times New Roman" pitchFamily="34" charset="-122"/>
                <a:cs typeface="Times New Roman" pitchFamily="34" charset="-120"/>
              </a:rPr>
              <a:t>2.  Segment</a:t>
            </a:r>
            <a:endParaRPr lang="en-US" sz="1500" dirty="0"/>
          </a:p>
        </p:txBody>
      </p:sp>
      <p:sp>
        <p:nvSpPr>
          <p:cNvPr id="9" name="Text 7"/>
          <p:cNvSpPr txBox="1"/>
          <p:nvPr/>
        </p:nvSpPr>
        <p:spPr>
          <a:xfrm>
            <a:off x="3666744" y="1938528"/>
            <a:ext cx="2194560" cy="10972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every inherent schwa</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made explicit and</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tagged as unwritten</a:t>
            </a:r>
            <a:endParaRPr lang="en-US" sz="1250" dirty="0"/>
          </a:p>
        </p:txBody>
      </p:sp>
      <p:sp>
        <p:nvSpPr>
          <p:cNvPr id="10" name="Shape 8"/>
          <p:cNvSpPr/>
          <p:nvPr/>
        </p:nvSpPr>
        <p:spPr>
          <a:xfrm>
            <a:off x="6007608" y="2263140"/>
            <a:ext cx="310896" cy="0"/>
          </a:xfrm>
          <a:prstGeom prst="line">
            <a:avLst/>
          </a:prstGeom>
          <a:noFill/>
          <a:ln w="15875">
            <a:solidFill>
              <a:srgbClr val="000000"/>
            </a:solidFill>
            <a:prstDash val="solid"/>
            <a:tailEnd type="triangle"/>
          </a:ln>
        </p:spPr>
      </p:sp>
      <p:sp>
        <p:nvSpPr>
          <p:cNvPr id="11" name="Shape 9"/>
          <p:cNvSpPr/>
          <p:nvPr/>
        </p:nvSpPr>
        <p:spPr>
          <a:xfrm>
            <a:off x="6373368" y="1371600"/>
            <a:ext cx="2377440" cy="1783080"/>
          </a:xfrm>
          <a:prstGeom prst="roundRect">
            <a:avLst>
              <a:gd name="adj" fmla="val 2564"/>
            </a:avLst>
          </a:prstGeom>
          <a:solidFill>
            <a:srgbClr val="FCECEC"/>
          </a:solidFill>
          <a:ln w="19050">
            <a:solidFill>
              <a:srgbClr val="C00000"/>
            </a:solidFill>
            <a:prstDash val="solid"/>
          </a:ln>
        </p:spPr>
      </p:sp>
      <p:sp>
        <p:nvSpPr>
          <p:cNvPr id="12" name="Text 10"/>
          <p:cNvSpPr txBox="1"/>
          <p:nvPr/>
        </p:nvSpPr>
        <p:spPr>
          <a:xfrm>
            <a:off x="6464808" y="1536192"/>
            <a:ext cx="2194560" cy="320040"/>
          </a:xfrm>
          <a:prstGeom prst="rect">
            <a:avLst/>
          </a:prstGeom>
          <a:noFill/>
          <a:ln/>
        </p:spPr>
        <p:txBody>
          <a:bodyPr wrap="square" lIns="0" tIns="0" rIns="0" bIns="0" rtlCol="0" anchor="t"/>
          <a:lstStyle/>
          <a:p>
            <a:pPr algn="ctr" indent="0" marL="0">
              <a:lnSpc>
                <a:spcPts val="2100"/>
              </a:lnSpc>
              <a:buNone/>
            </a:pPr>
            <a:r>
              <a:rPr lang="en-US" sz="1500" b="1" dirty="0">
                <a:solidFill>
                  <a:srgbClr val="C00000"/>
                </a:solidFill>
                <a:latin typeface="Times New Roman" pitchFamily="34" charset="0"/>
                <a:ea typeface="Times New Roman" pitchFamily="34" charset="-122"/>
                <a:cs typeface="Times New Roman" pitchFamily="34" charset="-120"/>
              </a:rPr>
              <a:t>3.  Delete schwa</a:t>
            </a:r>
            <a:endParaRPr lang="en-US" sz="1500" dirty="0"/>
          </a:p>
        </p:txBody>
      </p:sp>
      <p:sp>
        <p:nvSpPr>
          <p:cNvPr id="13" name="Text 11"/>
          <p:cNvSpPr txBox="1"/>
          <p:nvPr/>
        </p:nvSpPr>
        <p:spPr>
          <a:xfrm>
            <a:off x="6464808" y="1938528"/>
            <a:ext cx="2194560" cy="10972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V C _ C V right to left,</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word-final rule,</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lexicon override</a:t>
            </a:r>
            <a:endParaRPr lang="en-US" sz="1250" dirty="0"/>
          </a:p>
        </p:txBody>
      </p:sp>
      <p:sp>
        <p:nvSpPr>
          <p:cNvPr id="14" name="Shape 12"/>
          <p:cNvSpPr/>
          <p:nvPr/>
        </p:nvSpPr>
        <p:spPr>
          <a:xfrm>
            <a:off x="8805672" y="2263140"/>
            <a:ext cx="310896" cy="0"/>
          </a:xfrm>
          <a:prstGeom prst="line">
            <a:avLst/>
          </a:prstGeom>
          <a:noFill/>
          <a:ln w="15875">
            <a:solidFill>
              <a:srgbClr val="000000"/>
            </a:solidFill>
            <a:prstDash val="solid"/>
            <a:tailEnd type="triangle"/>
          </a:ln>
        </p:spPr>
      </p:sp>
      <p:sp>
        <p:nvSpPr>
          <p:cNvPr id="15" name="Shape 13"/>
          <p:cNvSpPr/>
          <p:nvPr/>
        </p:nvSpPr>
        <p:spPr>
          <a:xfrm>
            <a:off x="9171432" y="1371600"/>
            <a:ext cx="2377440" cy="1783080"/>
          </a:xfrm>
          <a:prstGeom prst="roundRect">
            <a:avLst>
              <a:gd name="adj" fmla="val 2564"/>
            </a:avLst>
          </a:prstGeom>
          <a:solidFill>
            <a:srgbClr val="F2F2F2"/>
          </a:solidFill>
          <a:ln w="12700">
            <a:solidFill>
              <a:srgbClr val="808080"/>
            </a:solidFill>
            <a:prstDash val="solid"/>
          </a:ln>
        </p:spPr>
      </p:sp>
      <p:sp>
        <p:nvSpPr>
          <p:cNvPr id="16" name="Text 14"/>
          <p:cNvSpPr txBox="1"/>
          <p:nvPr/>
        </p:nvSpPr>
        <p:spPr>
          <a:xfrm>
            <a:off x="9262872" y="1536192"/>
            <a:ext cx="2194560" cy="320040"/>
          </a:xfrm>
          <a:prstGeom prst="rect">
            <a:avLst/>
          </a:prstGeom>
          <a:noFill/>
          <a:ln/>
        </p:spPr>
        <p:txBody>
          <a:bodyPr wrap="square" lIns="0" tIns="0" rIns="0" bIns="0" rtlCol="0" anchor="t"/>
          <a:lstStyle/>
          <a:p>
            <a:pPr algn="ctr" indent="0" marL="0">
              <a:lnSpc>
                <a:spcPts val="2100"/>
              </a:lnSpc>
              <a:buNone/>
            </a:pPr>
            <a:r>
              <a:rPr lang="en-US" sz="1500" b="1" dirty="0">
                <a:solidFill>
                  <a:srgbClr val="000000"/>
                </a:solidFill>
                <a:latin typeface="Times New Roman" pitchFamily="34" charset="0"/>
                <a:ea typeface="Times New Roman" pitchFamily="34" charset="-122"/>
                <a:cs typeface="Times New Roman" pitchFamily="34" charset="-120"/>
              </a:rPr>
              <a:t>4.  Map to IPA</a:t>
            </a:r>
            <a:endParaRPr lang="en-US" sz="1500" dirty="0"/>
          </a:p>
        </p:txBody>
      </p:sp>
      <p:sp>
        <p:nvSpPr>
          <p:cNvPr id="17" name="Text 15"/>
          <p:cNvSpPr txBox="1"/>
          <p:nvPr/>
        </p:nvSpPr>
        <p:spPr>
          <a:xfrm>
            <a:off x="9262872" y="1938528"/>
            <a:ext cx="2194560" cy="10972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one 75-symbol</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inventory shared by</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both languages</a:t>
            </a:r>
            <a:endParaRPr lang="en-US" sz="1250" dirty="0"/>
          </a:p>
        </p:txBody>
      </p:sp>
      <p:sp>
        <p:nvSpPr>
          <p:cNvPr id="18" name="Shape 16"/>
          <p:cNvSpPr/>
          <p:nvPr/>
        </p:nvSpPr>
        <p:spPr>
          <a:xfrm>
            <a:off x="777240" y="3566160"/>
            <a:ext cx="5175504" cy="1051560"/>
          </a:xfrm>
          <a:prstGeom prst="roundRect">
            <a:avLst>
              <a:gd name="adj" fmla="val 4348"/>
            </a:avLst>
          </a:prstGeom>
          <a:solidFill>
            <a:srgbClr val="FCECEC"/>
          </a:solidFill>
          <a:ln w="12700">
            <a:solidFill>
              <a:srgbClr val="C00000"/>
            </a:solidFill>
            <a:prstDash val="solid"/>
          </a:ln>
        </p:spPr>
      </p:sp>
      <p:sp>
        <p:nvSpPr>
          <p:cNvPr id="19" name="Text 17"/>
          <p:cNvSpPr txBox="1"/>
          <p:nvPr/>
        </p:nvSpPr>
        <p:spPr>
          <a:xfrm>
            <a:off x="1005840" y="3703320"/>
            <a:ext cx="4718304" cy="777240"/>
          </a:xfrm>
          <a:prstGeom prst="rect">
            <a:avLst/>
          </a:prstGeom>
          <a:noFill/>
          <a:ln/>
        </p:spPr>
        <p:txBody>
          <a:bodyPr wrap="square" lIns="0" tIns="0" rIns="0" bIns="0" rtlCol="0" anchor="ctr"/>
          <a:lstStyle/>
          <a:p>
            <a:pPr algn="ctr" indent="0" marL="0">
              <a:lnSpc>
                <a:spcPts val="1960"/>
              </a:lnSpc>
              <a:buNone/>
            </a:pPr>
            <a:r>
              <a:rPr lang="en-US" sz="1400" dirty="0">
                <a:solidFill>
                  <a:srgbClr val="C00000"/>
                </a:solidFill>
                <a:latin typeface="Times New Roman" pitchFamily="34" charset="0"/>
                <a:ea typeface="Times New Roman" pitchFamily="34" charset="-122"/>
                <a:cs typeface="Times New Roman" pitchFamily="34" charset="-120"/>
              </a:rPr>
              <a:t>Stage 3 is switched off for Marathi.</a:t>
            </a:r>
            <a:endParaRPr lang="en-US" sz="1400" dirty="0"/>
          </a:p>
          <a:p>
            <a:pPr algn="ctr" indent="0" marL="0">
              <a:lnSpc>
                <a:spcPts val="1960"/>
              </a:lnSpc>
              <a:buNone/>
            </a:pPr>
            <a:r>
              <a:rPr lang="en-US" sz="1400" dirty="0">
                <a:solidFill>
                  <a:srgbClr val="C00000"/>
                </a:solidFill>
                <a:latin typeface="Times New Roman" pitchFamily="34" charset="0"/>
                <a:ea typeface="Times New Roman" pitchFamily="34" charset="-122"/>
                <a:cs typeface="Times New Roman" pitchFamily="34" charset="-120"/>
              </a:rPr>
              <a:t>One boolean flag is the entire control condition.</a:t>
            </a:r>
            <a:endParaRPr lang="en-US" sz="1400" dirty="0"/>
          </a:p>
        </p:txBody>
      </p:sp>
      <p:sp>
        <p:nvSpPr>
          <p:cNvPr id="20" name="Shape 18"/>
          <p:cNvSpPr/>
          <p:nvPr/>
        </p:nvSpPr>
        <p:spPr>
          <a:xfrm>
            <a:off x="6373368" y="3566160"/>
            <a:ext cx="5175504" cy="1051560"/>
          </a:xfrm>
          <a:prstGeom prst="roundRect">
            <a:avLst>
              <a:gd name="adj" fmla="val 4348"/>
            </a:avLst>
          </a:prstGeom>
          <a:solidFill>
            <a:srgbClr val="F2F2F2"/>
          </a:solidFill>
          <a:ln w="12700">
            <a:solidFill>
              <a:srgbClr val="808080"/>
            </a:solidFill>
            <a:prstDash val="solid"/>
          </a:ln>
        </p:spPr>
      </p:sp>
      <p:sp>
        <p:nvSpPr>
          <p:cNvPr id="21" name="Text 19"/>
          <p:cNvSpPr txBox="1"/>
          <p:nvPr/>
        </p:nvSpPr>
        <p:spPr>
          <a:xfrm>
            <a:off x="6601968" y="3703320"/>
            <a:ext cx="4718304" cy="777240"/>
          </a:xfrm>
          <a:prstGeom prst="rect">
            <a:avLst/>
          </a:prstGeom>
          <a:noFill/>
          <a:ln/>
        </p:spPr>
        <p:txBody>
          <a:bodyPr wrap="square" lIns="0" tIns="0" rIns="0" bIns="0" rtlCol="0" anchor="ctr"/>
          <a:lstStyle/>
          <a:p>
            <a:pPr algn="ctr"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grapheme arm runs stages 1 and 4 only,</a:t>
            </a:r>
            <a:endParaRPr lang="en-US" sz="1400" dirty="0"/>
          </a:p>
          <a:p>
            <a:pPr algn="ctr"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so both arms share one normaliser.</a:t>
            </a:r>
            <a:endParaRPr lang="en-US" sz="1400" dirty="0"/>
          </a:p>
        </p:txBody>
      </p:sp>
      <p:sp>
        <p:nvSpPr>
          <p:cNvPr id="22" name="Text 20"/>
          <p:cNvSpPr txBox="1"/>
          <p:nvPr/>
        </p:nvSpPr>
        <p:spPr>
          <a:xfrm>
            <a:off x="777240" y="4846320"/>
            <a:ext cx="10634472" cy="1371600"/>
          </a:xfrm>
          <a:prstGeom prst="rect">
            <a:avLst/>
          </a:prstGeom>
          <a:noFill/>
          <a:ln/>
        </p:spPr>
        <p:txBody>
          <a:bodyPr wrap="square" lIns="0" tIns="0" rIns="0" bIns="0" rtlCol="0" anchor="t"/>
          <a:lstStyle/>
          <a:p>
            <a:pPr marL="342900" indent="-342900">
              <a:lnSpc>
                <a:spcPts val="24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Separating the stages is what makes the control a one-line change and the ablation a clean one.</a:t>
            </a:r>
            <a:endParaRPr lang="en-US" sz="1600" dirty="0"/>
          </a:p>
          <a:p>
            <a:pPr marL="342900" indent="-342900">
              <a:lnSpc>
                <a:spcPts val="24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Measured over all 11,044 transcripts: zero unknown symbols, 870,547 phone tokens, Marathi inventory a strict subset of Hindi's.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8.  Research Methodology: experimental design</a:t>
            </a:r>
            <a:endParaRPr lang="en-US" sz="3000" dirty="0"/>
          </a:p>
        </p:txBody>
      </p:sp>
      <p:sp>
        <p:nvSpPr>
          <p:cNvPr id="3" name="Shape 1"/>
          <p:cNvSpPr/>
          <p:nvPr/>
        </p:nvSpPr>
        <p:spPr>
          <a:xfrm>
            <a:off x="960120" y="1170432"/>
            <a:ext cx="2926080" cy="658368"/>
          </a:xfrm>
          <a:prstGeom prst="roundRect">
            <a:avLst>
              <a:gd name="adj" fmla="val 6944"/>
            </a:avLst>
          </a:prstGeom>
          <a:solidFill>
            <a:srgbClr val="F2F2F2"/>
          </a:solidFill>
          <a:ln w="12700">
            <a:solidFill>
              <a:srgbClr val="808080"/>
            </a:solidFill>
            <a:prstDash val="solid"/>
          </a:ln>
        </p:spPr>
      </p:sp>
      <p:sp>
        <p:nvSpPr>
          <p:cNvPr id="4" name="Text 2"/>
          <p:cNvSpPr txBox="1"/>
          <p:nvPr/>
        </p:nvSpPr>
        <p:spPr>
          <a:xfrm>
            <a:off x="960120" y="1170432"/>
            <a:ext cx="2926080" cy="658368"/>
          </a:xfrm>
          <a:prstGeom prst="rect">
            <a:avLst/>
          </a:prstGeom>
          <a:noFill/>
          <a:ln/>
        </p:spPr>
        <p:txBody>
          <a:bodyPr wrap="square" lIns="762" tIns="762" rIns="762" bIns="762" rtlCol="0" anchor="ctr"/>
          <a:lstStyle/>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Two corpora</a:t>
            </a:r>
            <a:endParaRPr lang="en-US" sz="1300" dirty="0"/>
          </a:p>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Hindi and Marathi, 48.6 h</a:t>
            </a:r>
            <a:endParaRPr lang="en-US" sz="1300" dirty="0"/>
          </a:p>
        </p:txBody>
      </p:sp>
      <p:sp>
        <p:nvSpPr>
          <p:cNvPr id="5" name="Shape 3"/>
          <p:cNvSpPr/>
          <p:nvPr/>
        </p:nvSpPr>
        <p:spPr>
          <a:xfrm>
            <a:off x="4636008" y="1170432"/>
            <a:ext cx="2926080" cy="658368"/>
          </a:xfrm>
          <a:prstGeom prst="roundRect">
            <a:avLst>
              <a:gd name="adj" fmla="val 6944"/>
            </a:avLst>
          </a:prstGeom>
          <a:solidFill>
            <a:srgbClr val="F2F2F2"/>
          </a:solidFill>
          <a:ln w="12700">
            <a:solidFill>
              <a:srgbClr val="808080"/>
            </a:solidFill>
            <a:prstDash val="solid"/>
          </a:ln>
        </p:spPr>
      </p:sp>
      <p:sp>
        <p:nvSpPr>
          <p:cNvPr id="6" name="Text 4"/>
          <p:cNvSpPr txBox="1"/>
          <p:nvPr/>
        </p:nvSpPr>
        <p:spPr>
          <a:xfrm>
            <a:off x="4636008" y="1170432"/>
            <a:ext cx="2926080" cy="658368"/>
          </a:xfrm>
          <a:prstGeom prst="rect">
            <a:avLst/>
          </a:prstGeom>
          <a:noFill/>
          <a:ln/>
        </p:spPr>
        <p:txBody>
          <a:bodyPr wrap="square" lIns="762" tIns="762" rIns="762" bIns="762" rtlCol="0" anchor="ctr"/>
          <a:lstStyle/>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Standardisation</a:t>
            </a:r>
            <a:endParaRPr lang="en-US" sz="1300" dirty="0"/>
          </a:p>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mono, trimmed, −23 LUFS</a:t>
            </a:r>
            <a:endParaRPr lang="en-US" sz="1300" dirty="0"/>
          </a:p>
        </p:txBody>
      </p:sp>
      <p:sp>
        <p:nvSpPr>
          <p:cNvPr id="7" name="Shape 5"/>
          <p:cNvSpPr/>
          <p:nvPr/>
        </p:nvSpPr>
        <p:spPr>
          <a:xfrm>
            <a:off x="8311896" y="1170432"/>
            <a:ext cx="2926080" cy="658368"/>
          </a:xfrm>
          <a:prstGeom prst="roundRect">
            <a:avLst>
              <a:gd name="adj" fmla="val 6944"/>
            </a:avLst>
          </a:prstGeom>
          <a:solidFill>
            <a:srgbClr val="F2F2F2"/>
          </a:solidFill>
          <a:ln w="12700">
            <a:solidFill>
              <a:srgbClr val="808080"/>
            </a:solidFill>
            <a:prstDash val="solid"/>
          </a:ln>
        </p:spPr>
      </p:sp>
      <p:sp>
        <p:nvSpPr>
          <p:cNvPr id="8" name="Text 6"/>
          <p:cNvSpPr txBox="1"/>
          <p:nvPr/>
        </p:nvSpPr>
        <p:spPr>
          <a:xfrm>
            <a:off x="8311896" y="1170432"/>
            <a:ext cx="2926080" cy="658368"/>
          </a:xfrm>
          <a:prstGeom prst="rect">
            <a:avLst/>
          </a:prstGeom>
          <a:noFill/>
          <a:ln/>
        </p:spPr>
        <p:txBody>
          <a:bodyPr wrap="square" lIns="762" tIns="762" rIns="762" bIns="762" rtlCol="0" anchor="ctr"/>
          <a:lstStyle/>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Frozen splits</a:t>
            </a:r>
            <a:endParaRPr lang="en-US" sz="1300" dirty="0"/>
          </a:p>
          <a:p>
            <a:pPr algn="ctr" indent="0" marL="0">
              <a:lnSpc>
                <a:spcPts val="1625"/>
              </a:lnSpc>
              <a:buNone/>
            </a:pPr>
            <a:r>
              <a:rPr lang="en-US" sz="1300" dirty="0">
                <a:solidFill>
                  <a:srgbClr val="000000"/>
                </a:solidFill>
                <a:latin typeface="Times New Roman" pitchFamily="34" charset="0"/>
                <a:ea typeface="Times New Roman" pitchFamily="34" charset="-122"/>
                <a:cs typeface="Times New Roman" pitchFamily="34" charset="-120"/>
              </a:rPr>
              <a:t>salted hash, nested ladder</a:t>
            </a:r>
            <a:endParaRPr lang="en-US" sz="1300" dirty="0"/>
          </a:p>
        </p:txBody>
      </p:sp>
      <p:sp>
        <p:nvSpPr>
          <p:cNvPr id="9" name="Shape 7"/>
          <p:cNvSpPr/>
          <p:nvPr/>
        </p:nvSpPr>
        <p:spPr>
          <a:xfrm>
            <a:off x="3941064" y="1499616"/>
            <a:ext cx="640080" cy="0"/>
          </a:xfrm>
          <a:prstGeom prst="line">
            <a:avLst/>
          </a:prstGeom>
          <a:noFill/>
          <a:ln w="15875">
            <a:solidFill>
              <a:srgbClr val="000000"/>
            </a:solidFill>
            <a:prstDash val="solid"/>
            <a:tailEnd type="triangle"/>
          </a:ln>
        </p:spPr>
      </p:sp>
      <p:sp>
        <p:nvSpPr>
          <p:cNvPr id="10" name="Shape 8"/>
          <p:cNvSpPr/>
          <p:nvPr/>
        </p:nvSpPr>
        <p:spPr>
          <a:xfrm>
            <a:off x="7616952" y="1499616"/>
            <a:ext cx="640080" cy="0"/>
          </a:xfrm>
          <a:prstGeom prst="line">
            <a:avLst/>
          </a:prstGeom>
          <a:noFill/>
          <a:ln w="15875">
            <a:solidFill>
              <a:srgbClr val="000000"/>
            </a:solidFill>
            <a:prstDash val="solid"/>
            <a:tailEnd type="triangle"/>
          </a:ln>
        </p:spPr>
      </p:sp>
      <p:sp>
        <p:nvSpPr>
          <p:cNvPr id="11" name="Shape 9"/>
          <p:cNvSpPr/>
          <p:nvPr/>
        </p:nvSpPr>
        <p:spPr>
          <a:xfrm>
            <a:off x="9774936" y="1828800"/>
            <a:ext cx="0" cy="384048"/>
          </a:xfrm>
          <a:prstGeom prst="line">
            <a:avLst/>
          </a:prstGeom>
          <a:noFill/>
          <a:ln w="15875">
            <a:solidFill>
              <a:srgbClr val="000000"/>
            </a:solidFill>
            <a:prstDash val="solid"/>
          </a:ln>
        </p:spPr>
      </p:sp>
      <p:sp>
        <p:nvSpPr>
          <p:cNvPr id="12" name="Shape 10"/>
          <p:cNvSpPr/>
          <p:nvPr/>
        </p:nvSpPr>
        <p:spPr>
          <a:xfrm>
            <a:off x="2971800" y="2212848"/>
            <a:ext cx="6803136" cy="0"/>
          </a:xfrm>
          <a:prstGeom prst="line">
            <a:avLst/>
          </a:prstGeom>
          <a:noFill/>
          <a:ln w="15875">
            <a:solidFill>
              <a:srgbClr val="000000"/>
            </a:solidFill>
            <a:prstDash val="solid"/>
          </a:ln>
        </p:spPr>
      </p:sp>
      <p:sp>
        <p:nvSpPr>
          <p:cNvPr id="13" name="Shape 11"/>
          <p:cNvSpPr/>
          <p:nvPr/>
        </p:nvSpPr>
        <p:spPr>
          <a:xfrm>
            <a:off x="2971800" y="2212848"/>
            <a:ext cx="0" cy="329184"/>
          </a:xfrm>
          <a:prstGeom prst="line">
            <a:avLst/>
          </a:prstGeom>
          <a:noFill/>
          <a:ln w="15875">
            <a:solidFill>
              <a:srgbClr val="000000"/>
            </a:solidFill>
            <a:prstDash val="solid"/>
            <a:tailEnd type="triangle"/>
          </a:ln>
        </p:spPr>
      </p:sp>
      <p:sp>
        <p:nvSpPr>
          <p:cNvPr id="14" name="Shape 12"/>
          <p:cNvSpPr/>
          <p:nvPr/>
        </p:nvSpPr>
        <p:spPr>
          <a:xfrm>
            <a:off x="9217152" y="2212848"/>
            <a:ext cx="0" cy="329184"/>
          </a:xfrm>
          <a:prstGeom prst="line">
            <a:avLst/>
          </a:prstGeom>
          <a:noFill/>
          <a:ln w="15875">
            <a:solidFill>
              <a:srgbClr val="000000"/>
            </a:solidFill>
            <a:prstDash val="solid"/>
            <a:tailEnd type="triangle"/>
          </a:ln>
        </p:spPr>
      </p:sp>
      <p:sp>
        <p:nvSpPr>
          <p:cNvPr id="15" name="Shape 13"/>
          <p:cNvSpPr/>
          <p:nvPr/>
        </p:nvSpPr>
        <p:spPr>
          <a:xfrm>
            <a:off x="1508760" y="2542032"/>
            <a:ext cx="2926080" cy="749808"/>
          </a:xfrm>
          <a:prstGeom prst="roundRect">
            <a:avLst>
              <a:gd name="adj" fmla="val 6098"/>
            </a:avLst>
          </a:prstGeom>
          <a:solidFill>
            <a:srgbClr val="FCECEC"/>
          </a:solidFill>
          <a:ln w="19050">
            <a:solidFill>
              <a:srgbClr val="C00000"/>
            </a:solidFill>
            <a:prstDash val="solid"/>
          </a:ln>
        </p:spPr>
      </p:sp>
      <p:sp>
        <p:nvSpPr>
          <p:cNvPr id="16" name="Text 14"/>
          <p:cNvSpPr txBox="1"/>
          <p:nvPr/>
        </p:nvSpPr>
        <p:spPr>
          <a:xfrm>
            <a:off x="1508760" y="2542032"/>
            <a:ext cx="2926080" cy="749808"/>
          </a:xfrm>
          <a:prstGeom prst="rect">
            <a:avLst/>
          </a:prstGeom>
          <a:noFill/>
          <a:ln/>
        </p:spPr>
        <p:txBody>
          <a:bodyPr wrap="square" lIns="762" tIns="762" rIns="762" bIns="762" rtlCol="0" anchor="ctr"/>
          <a:lstStyle/>
          <a:p>
            <a:pPr algn="ctr" indent="0" marL="0">
              <a:lnSpc>
                <a:spcPts val="1750"/>
              </a:lnSpc>
              <a:buNone/>
            </a:pPr>
            <a:r>
              <a:rPr lang="en-US" sz="1400" b="1" dirty="0">
                <a:solidFill>
                  <a:srgbClr val="C00000"/>
                </a:solidFill>
                <a:latin typeface="Times New Roman" pitchFamily="34" charset="0"/>
                <a:ea typeface="Times New Roman" pitchFamily="34" charset="-122"/>
                <a:cs typeface="Times New Roman" pitchFamily="34" charset="-120"/>
              </a:rPr>
              <a:t>G2P front end</a:t>
            </a:r>
            <a:endParaRPr lang="en-US" sz="1400" dirty="0"/>
          </a:p>
          <a:p>
            <a:pPr algn="ctr" indent="0" marL="0">
              <a:lnSpc>
                <a:spcPts val="1750"/>
              </a:lnSpc>
              <a:buNone/>
            </a:pPr>
            <a:r>
              <a:rPr lang="en-US" sz="1400" b="1" dirty="0">
                <a:solidFill>
                  <a:srgbClr val="C00000"/>
                </a:solidFill>
                <a:latin typeface="Times New Roman" pitchFamily="34" charset="0"/>
                <a:ea typeface="Times New Roman" pitchFamily="34" charset="-122"/>
                <a:cs typeface="Times New Roman" pitchFamily="34" charset="-120"/>
              </a:rPr>
              <a:t>phonemic input</a:t>
            </a:r>
            <a:endParaRPr lang="en-US" sz="1400" dirty="0"/>
          </a:p>
        </p:txBody>
      </p:sp>
      <p:sp>
        <p:nvSpPr>
          <p:cNvPr id="17" name="Shape 15"/>
          <p:cNvSpPr/>
          <p:nvPr/>
        </p:nvSpPr>
        <p:spPr>
          <a:xfrm>
            <a:off x="7754112" y="2542032"/>
            <a:ext cx="2926080" cy="749808"/>
          </a:xfrm>
          <a:prstGeom prst="roundRect">
            <a:avLst>
              <a:gd name="adj" fmla="val 6098"/>
            </a:avLst>
          </a:prstGeom>
          <a:solidFill>
            <a:srgbClr val="F2F2F2"/>
          </a:solidFill>
          <a:ln w="12700">
            <a:solidFill>
              <a:srgbClr val="808080"/>
            </a:solidFill>
            <a:prstDash val="solid"/>
          </a:ln>
        </p:spPr>
      </p:sp>
      <p:sp>
        <p:nvSpPr>
          <p:cNvPr id="18" name="Text 16"/>
          <p:cNvSpPr txBox="1"/>
          <p:nvPr/>
        </p:nvSpPr>
        <p:spPr>
          <a:xfrm>
            <a:off x="7754112" y="2542032"/>
            <a:ext cx="2926080" cy="749808"/>
          </a:xfrm>
          <a:prstGeom prst="rect">
            <a:avLst/>
          </a:prstGeom>
          <a:noFill/>
          <a:ln/>
        </p:spPr>
        <p:txBody>
          <a:bodyPr wrap="square" lIns="762" tIns="762" rIns="762" bIns="762" rtlCol="0" anchor="ctr"/>
          <a:lstStyle/>
          <a:p>
            <a:pPr algn="ctr" indent="0" marL="0">
              <a:lnSpc>
                <a:spcPts val="1750"/>
              </a:lnSpc>
              <a:buNone/>
            </a:pPr>
            <a:r>
              <a:rPr lang="en-US" sz="1400" dirty="0">
                <a:solidFill>
                  <a:srgbClr val="000000"/>
                </a:solidFill>
                <a:latin typeface="Times New Roman" pitchFamily="34" charset="0"/>
                <a:ea typeface="Times New Roman" pitchFamily="34" charset="-122"/>
                <a:cs typeface="Times New Roman" pitchFamily="34" charset="-120"/>
              </a:rPr>
              <a:t>Normaliser only</a:t>
            </a:r>
            <a:endParaRPr lang="en-US" sz="1400" dirty="0"/>
          </a:p>
          <a:p>
            <a:pPr algn="ctr" indent="0" marL="0">
              <a:lnSpc>
                <a:spcPts val="1750"/>
              </a:lnSpc>
              <a:buNone/>
            </a:pPr>
            <a:r>
              <a:rPr lang="en-US" sz="1400" dirty="0">
                <a:solidFill>
                  <a:srgbClr val="000000"/>
                </a:solidFill>
                <a:latin typeface="Times New Roman" pitchFamily="34" charset="0"/>
                <a:ea typeface="Times New Roman" pitchFamily="34" charset="-122"/>
                <a:cs typeface="Times New Roman" pitchFamily="34" charset="-120"/>
              </a:rPr>
              <a:t>graphemic input</a:t>
            </a:r>
            <a:endParaRPr lang="en-US" sz="1400" dirty="0"/>
          </a:p>
        </p:txBody>
      </p:sp>
      <p:sp>
        <p:nvSpPr>
          <p:cNvPr id="19" name="Text 17"/>
          <p:cNvSpPr txBox="1"/>
          <p:nvPr/>
        </p:nvSpPr>
        <p:spPr>
          <a:xfrm>
            <a:off x="4663440" y="2697480"/>
            <a:ext cx="2862072" cy="457200"/>
          </a:xfrm>
          <a:prstGeom prst="rect">
            <a:avLst/>
          </a:prstGeom>
          <a:noFill/>
          <a:ln/>
        </p:spPr>
        <p:txBody>
          <a:bodyPr wrap="square" lIns="0" tIns="0" rIns="0" bIns="0" rtlCol="0" anchor="t"/>
          <a:lstStyle/>
          <a:p>
            <a:pPr algn="ctr" indent="0" marL="0">
              <a:lnSpc>
                <a:spcPts val="1820"/>
              </a:lnSpc>
              <a:buNone/>
            </a:pPr>
            <a:r>
              <a:rPr lang="en-US" sz="1300" i="1" dirty="0">
                <a:solidFill>
                  <a:srgbClr val="C00000"/>
                </a:solidFill>
                <a:latin typeface="Times New Roman" pitchFamily="34" charset="0"/>
                <a:ea typeface="Times New Roman" pitchFamily="34" charset="-122"/>
                <a:cs typeface="Times New Roman" pitchFamily="34" charset="-120"/>
              </a:rPr>
              <a:t>the ablation:</a:t>
            </a:r>
            <a:endParaRPr lang="en-US" sz="1300" dirty="0"/>
          </a:p>
          <a:p>
            <a:pPr algn="ctr" indent="0" marL="0">
              <a:lnSpc>
                <a:spcPts val="1820"/>
              </a:lnSpc>
              <a:buNone/>
            </a:pPr>
            <a:r>
              <a:rPr lang="en-US" sz="1300" i="1" dirty="0">
                <a:solidFill>
                  <a:srgbClr val="C00000"/>
                </a:solidFill>
                <a:latin typeface="Times New Roman" pitchFamily="34" charset="0"/>
                <a:ea typeface="Times New Roman" pitchFamily="34" charset="-122"/>
                <a:cs typeface="Times New Roman" pitchFamily="34" charset="-120"/>
              </a:rPr>
              <a:t>one variable</a:t>
            </a:r>
            <a:endParaRPr lang="en-US" sz="1300" dirty="0"/>
          </a:p>
        </p:txBody>
      </p:sp>
      <p:sp>
        <p:nvSpPr>
          <p:cNvPr id="20" name="Shape 18"/>
          <p:cNvSpPr/>
          <p:nvPr/>
        </p:nvSpPr>
        <p:spPr>
          <a:xfrm>
            <a:off x="2971800" y="3291840"/>
            <a:ext cx="0" cy="320040"/>
          </a:xfrm>
          <a:prstGeom prst="line">
            <a:avLst/>
          </a:prstGeom>
          <a:noFill/>
          <a:ln w="15875">
            <a:solidFill>
              <a:srgbClr val="000000"/>
            </a:solidFill>
            <a:prstDash val="solid"/>
          </a:ln>
        </p:spPr>
      </p:sp>
      <p:sp>
        <p:nvSpPr>
          <p:cNvPr id="21" name="Shape 19"/>
          <p:cNvSpPr/>
          <p:nvPr/>
        </p:nvSpPr>
        <p:spPr>
          <a:xfrm>
            <a:off x="9217152" y="3291840"/>
            <a:ext cx="0" cy="320040"/>
          </a:xfrm>
          <a:prstGeom prst="line">
            <a:avLst/>
          </a:prstGeom>
          <a:noFill/>
          <a:ln w="15875">
            <a:solidFill>
              <a:srgbClr val="000000"/>
            </a:solidFill>
            <a:prstDash val="solid"/>
          </a:ln>
        </p:spPr>
      </p:sp>
      <p:sp>
        <p:nvSpPr>
          <p:cNvPr id="22" name="Shape 20"/>
          <p:cNvSpPr/>
          <p:nvPr/>
        </p:nvSpPr>
        <p:spPr>
          <a:xfrm>
            <a:off x="1783080" y="3611880"/>
            <a:ext cx="7434072" cy="0"/>
          </a:xfrm>
          <a:prstGeom prst="line">
            <a:avLst/>
          </a:prstGeom>
          <a:noFill/>
          <a:ln w="15875">
            <a:solidFill>
              <a:srgbClr val="000000"/>
            </a:solidFill>
            <a:prstDash val="solid"/>
          </a:ln>
        </p:spPr>
      </p:sp>
      <p:sp>
        <p:nvSpPr>
          <p:cNvPr id="23" name="Shape 21"/>
          <p:cNvSpPr/>
          <p:nvPr/>
        </p:nvSpPr>
        <p:spPr>
          <a:xfrm>
            <a:off x="1783080" y="3611880"/>
            <a:ext cx="0" cy="320040"/>
          </a:xfrm>
          <a:prstGeom prst="line">
            <a:avLst/>
          </a:prstGeom>
          <a:noFill/>
          <a:ln w="15875">
            <a:solidFill>
              <a:srgbClr val="000000"/>
            </a:solidFill>
            <a:prstDash val="solid"/>
            <a:tailEnd type="triangle"/>
          </a:ln>
        </p:spPr>
      </p:sp>
      <p:sp>
        <p:nvSpPr>
          <p:cNvPr id="24" name="Shape 22"/>
          <p:cNvSpPr/>
          <p:nvPr/>
        </p:nvSpPr>
        <p:spPr>
          <a:xfrm>
            <a:off x="4261104" y="3611880"/>
            <a:ext cx="0" cy="320040"/>
          </a:xfrm>
          <a:prstGeom prst="line">
            <a:avLst/>
          </a:prstGeom>
          <a:noFill/>
          <a:ln w="15875">
            <a:solidFill>
              <a:srgbClr val="000000"/>
            </a:solidFill>
            <a:prstDash val="solid"/>
            <a:tailEnd type="triangle"/>
          </a:ln>
        </p:spPr>
      </p:sp>
      <p:sp>
        <p:nvSpPr>
          <p:cNvPr id="25" name="Shape 23"/>
          <p:cNvSpPr/>
          <p:nvPr/>
        </p:nvSpPr>
        <p:spPr>
          <a:xfrm>
            <a:off x="6739128" y="3611880"/>
            <a:ext cx="0" cy="320040"/>
          </a:xfrm>
          <a:prstGeom prst="line">
            <a:avLst/>
          </a:prstGeom>
          <a:noFill/>
          <a:ln w="15875">
            <a:solidFill>
              <a:srgbClr val="000000"/>
            </a:solidFill>
            <a:prstDash val="solid"/>
            <a:tailEnd type="triangle"/>
          </a:ln>
        </p:spPr>
      </p:sp>
      <p:sp>
        <p:nvSpPr>
          <p:cNvPr id="26" name="Shape 24"/>
          <p:cNvSpPr/>
          <p:nvPr/>
        </p:nvSpPr>
        <p:spPr>
          <a:xfrm>
            <a:off x="868680" y="3931920"/>
            <a:ext cx="1828800" cy="603504"/>
          </a:xfrm>
          <a:prstGeom prst="roundRect">
            <a:avLst>
              <a:gd name="adj" fmla="val 7576"/>
            </a:avLst>
          </a:prstGeom>
          <a:solidFill>
            <a:srgbClr val="F2F2F2"/>
          </a:solidFill>
          <a:ln w="12700">
            <a:solidFill>
              <a:srgbClr val="808080"/>
            </a:solidFill>
            <a:prstDash val="solid"/>
          </a:ln>
        </p:spPr>
      </p:sp>
      <p:sp>
        <p:nvSpPr>
          <p:cNvPr id="27" name="Text 25"/>
          <p:cNvSpPr txBox="1"/>
          <p:nvPr/>
        </p:nvSpPr>
        <p:spPr>
          <a:xfrm>
            <a:off x="868680" y="3931920"/>
            <a:ext cx="1828800" cy="603504"/>
          </a:xfrm>
          <a:prstGeom prst="rect">
            <a:avLst/>
          </a:prstGeom>
          <a:noFill/>
          <a:ln/>
        </p:spPr>
        <p:txBody>
          <a:bodyPr wrap="square" lIns="762" tIns="762" rIns="762" bIns="762" rtlCol="0" anchor="ctr"/>
          <a:lstStyle/>
          <a:p>
            <a:pPr algn="ctr" indent="0" marL="0">
              <a:lnSpc>
                <a:spcPts val="1688"/>
              </a:lnSpc>
              <a:buNone/>
            </a:pPr>
            <a:r>
              <a:rPr lang="en-US" sz="1350" dirty="0">
                <a:solidFill>
                  <a:srgbClr val="000000"/>
                </a:solidFill>
                <a:latin typeface="Times New Roman" pitchFamily="34" charset="0"/>
                <a:ea typeface="Times New Roman" pitchFamily="34" charset="-122"/>
                <a:cs typeface="Times New Roman" pitchFamily="34" charset="-120"/>
              </a:rPr>
              <a:t>FastSpeech 2</a:t>
            </a:r>
            <a:endParaRPr lang="en-US" sz="1350" dirty="0"/>
          </a:p>
        </p:txBody>
      </p:sp>
      <p:sp>
        <p:nvSpPr>
          <p:cNvPr id="28" name="Shape 26"/>
          <p:cNvSpPr/>
          <p:nvPr/>
        </p:nvSpPr>
        <p:spPr>
          <a:xfrm>
            <a:off x="3346704" y="3931920"/>
            <a:ext cx="1828800" cy="603504"/>
          </a:xfrm>
          <a:prstGeom prst="roundRect">
            <a:avLst>
              <a:gd name="adj" fmla="val 7576"/>
            </a:avLst>
          </a:prstGeom>
          <a:solidFill>
            <a:srgbClr val="F2F2F2"/>
          </a:solidFill>
          <a:ln w="12700">
            <a:solidFill>
              <a:srgbClr val="808080"/>
            </a:solidFill>
            <a:prstDash val="solid"/>
          </a:ln>
        </p:spPr>
      </p:sp>
      <p:sp>
        <p:nvSpPr>
          <p:cNvPr id="29" name="Text 27"/>
          <p:cNvSpPr txBox="1"/>
          <p:nvPr/>
        </p:nvSpPr>
        <p:spPr>
          <a:xfrm>
            <a:off x="3346704" y="3931920"/>
            <a:ext cx="1828800" cy="603504"/>
          </a:xfrm>
          <a:prstGeom prst="rect">
            <a:avLst/>
          </a:prstGeom>
          <a:noFill/>
          <a:ln/>
        </p:spPr>
        <p:txBody>
          <a:bodyPr wrap="square" lIns="762" tIns="762" rIns="762" bIns="762" rtlCol="0" anchor="ctr"/>
          <a:lstStyle/>
          <a:p>
            <a:pPr algn="ctr" indent="0" marL="0">
              <a:lnSpc>
                <a:spcPts val="1688"/>
              </a:lnSpc>
              <a:buNone/>
            </a:pPr>
            <a:r>
              <a:rPr lang="en-US" sz="1350" dirty="0">
                <a:solidFill>
                  <a:srgbClr val="000000"/>
                </a:solidFill>
                <a:latin typeface="Times New Roman" pitchFamily="34" charset="0"/>
                <a:ea typeface="Times New Roman" pitchFamily="34" charset="-122"/>
                <a:cs typeface="Times New Roman" pitchFamily="34" charset="-120"/>
              </a:rPr>
              <a:t>VITS</a:t>
            </a:r>
            <a:endParaRPr lang="en-US" sz="1350" dirty="0"/>
          </a:p>
        </p:txBody>
      </p:sp>
      <p:sp>
        <p:nvSpPr>
          <p:cNvPr id="30" name="Shape 28"/>
          <p:cNvSpPr/>
          <p:nvPr/>
        </p:nvSpPr>
        <p:spPr>
          <a:xfrm>
            <a:off x="5824728" y="3931920"/>
            <a:ext cx="1828800" cy="603504"/>
          </a:xfrm>
          <a:prstGeom prst="roundRect">
            <a:avLst>
              <a:gd name="adj" fmla="val 7576"/>
            </a:avLst>
          </a:prstGeom>
          <a:solidFill>
            <a:srgbClr val="F2F2F2"/>
          </a:solidFill>
          <a:ln w="12700">
            <a:solidFill>
              <a:srgbClr val="808080"/>
            </a:solidFill>
            <a:prstDash val="solid"/>
          </a:ln>
        </p:spPr>
      </p:sp>
      <p:sp>
        <p:nvSpPr>
          <p:cNvPr id="31" name="Text 29"/>
          <p:cNvSpPr txBox="1"/>
          <p:nvPr/>
        </p:nvSpPr>
        <p:spPr>
          <a:xfrm>
            <a:off x="5824728" y="3931920"/>
            <a:ext cx="1828800" cy="603504"/>
          </a:xfrm>
          <a:prstGeom prst="rect">
            <a:avLst/>
          </a:prstGeom>
          <a:noFill/>
          <a:ln/>
        </p:spPr>
        <p:txBody>
          <a:bodyPr wrap="square" lIns="762" tIns="762" rIns="762" bIns="762" rtlCol="0" anchor="ctr"/>
          <a:lstStyle/>
          <a:p>
            <a:pPr algn="ctr" indent="0" marL="0">
              <a:lnSpc>
                <a:spcPts val="1688"/>
              </a:lnSpc>
              <a:buNone/>
            </a:pPr>
            <a:r>
              <a:rPr lang="en-US" sz="1350" dirty="0">
                <a:solidFill>
                  <a:srgbClr val="000000"/>
                </a:solidFill>
                <a:latin typeface="Times New Roman" pitchFamily="34" charset="0"/>
                <a:ea typeface="Times New Roman" pitchFamily="34" charset="-122"/>
                <a:cs typeface="Times New Roman" pitchFamily="34" charset="-120"/>
              </a:rPr>
              <a:t>Matcha-TTS</a:t>
            </a:r>
            <a:endParaRPr lang="en-US" sz="1350" dirty="0"/>
          </a:p>
        </p:txBody>
      </p:sp>
      <p:sp>
        <p:nvSpPr>
          <p:cNvPr id="32" name="Shape 30"/>
          <p:cNvSpPr/>
          <p:nvPr/>
        </p:nvSpPr>
        <p:spPr>
          <a:xfrm>
            <a:off x="8778240" y="3931920"/>
            <a:ext cx="2468880" cy="603504"/>
          </a:xfrm>
          <a:prstGeom prst="roundRect">
            <a:avLst>
              <a:gd name="adj" fmla="val 7576"/>
            </a:avLst>
          </a:prstGeom>
          <a:solidFill>
            <a:srgbClr val="F2F2F2"/>
          </a:solidFill>
          <a:ln w="12700">
            <a:solidFill>
              <a:srgbClr val="808080"/>
            </a:solidFill>
            <a:prstDash val="solid"/>
          </a:ln>
        </p:spPr>
      </p:sp>
      <p:sp>
        <p:nvSpPr>
          <p:cNvPr id="33" name="Text 31"/>
          <p:cNvSpPr txBox="1"/>
          <p:nvPr/>
        </p:nvSpPr>
        <p:spPr>
          <a:xfrm>
            <a:off x="8778240" y="3931920"/>
            <a:ext cx="2468880" cy="603504"/>
          </a:xfrm>
          <a:prstGeom prst="rect">
            <a:avLst/>
          </a:prstGeom>
          <a:noFill/>
          <a:ln/>
        </p:spPr>
        <p:txBody>
          <a:bodyPr wrap="square" lIns="762" tIns="762" rIns="762" bIns="762" rtlCol="0" anchor="ctr"/>
          <a:lstStyle/>
          <a:p>
            <a:pPr algn="ctr" indent="0" marL="0">
              <a:lnSpc>
                <a:spcPts val="1688"/>
              </a:lnSpc>
              <a:buNone/>
            </a:pPr>
            <a:r>
              <a:rPr lang="en-US" sz="1350" dirty="0">
                <a:solidFill>
                  <a:srgbClr val="000000"/>
                </a:solidFill>
                <a:latin typeface="Times New Roman" pitchFamily="34" charset="0"/>
                <a:ea typeface="Times New Roman" pitchFamily="34" charset="-122"/>
                <a:cs typeface="Times New Roman" pitchFamily="34" charset="-120"/>
              </a:rPr>
              <a:t>HiFi-GAN</a:t>
            </a:r>
            <a:endParaRPr lang="en-US" sz="1350" dirty="0"/>
          </a:p>
          <a:p>
            <a:pPr algn="ctr" indent="0" marL="0">
              <a:lnSpc>
                <a:spcPts val="1688"/>
              </a:lnSpc>
              <a:buNone/>
            </a:pPr>
            <a:r>
              <a:rPr lang="en-US" sz="1350" dirty="0">
                <a:solidFill>
                  <a:srgbClr val="000000"/>
                </a:solidFill>
                <a:latin typeface="Times New Roman" pitchFamily="34" charset="0"/>
                <a:ea typeface="Times New Roman" pitchFamily="34" charset="-122"/>
                <a:cs typeface="Times New Roman" pitchFamily="34" charset="-120"/>
              </a:rPr>
              <a:t>shared vocoder</a:t>
            </a:r>
            <a:endParaRPr lang="en-US" sz="1350" dirty="0"/>
          </a:p>
        </p:txBody>
      </p:sp>
      <p:sp>
        <p:nvSpPr>
          <p:cNvPr id="34" name="Shape 32"/>
          <p:cNvSpPr/>
          <p:nvPr/>
        </p:nvSpPr>
        <p:spPr>
          <a:xfrm flipH="1">
            <a:off x="8732520" y="4233672"/>
            <a:ext cx="-1042416" cy="0"/>
          </a:xfrm>
          <a:prstGeom prst="line">
            <a:avLst/>
          </a:prstGeom>
          <a:noFill/>
          <a:ln w="15875">
            <a:solidFill>
              <a:srgbClr val="000000"/>
            </a:solidFill>
            <a:prstDash val="solid"/>
            <a:tailEnd type="triangle"/>
          </a:ln>
        </p:spPr>
      </p:sp>
      <p:sp>
        <p:nvSpPr>
          <p:cNvPr id="35" name="Shape 33"/>
          <p:cNvSpPr/>
          <p:nvPr/>
        </p:nvSpPr>
        <p:spPr>
          <a:xfrm>
            <a:off x="1783080" y="4535424"/>
            <a:ext cx="0" cy="274320"/>
          </a:xfrm>
          <a:prstGeom prst="line">
            <a:avLst/>
          </a:prstGeom>
          <a:noFill/>
          <a:ln w="15875">
            <a:solidFill>
              <a:srgbClr val="000000"/>
            </a:solidFill>
            <a:prstDash val="solid"/>
          </a:ln>
        </p:spPr>
      </p:sp>
      <p:sp>
        <p:nvSpPr>
          <p:cNvPr id="36" name="Shape 34"/>
          <p:cNvSpPr/>
          <p:nvPr/>
        </p:nvSpPr>
        <p:spPr>
          <a:xfrm>
            <a:off x="4261104" y="4535424"/>
            <a:ext cx="0" cy="274320"/>
          </a:xfrm>
          <a:prstGeom prst="line">
            <a:avLst/>
          </a:prstGeom>
          <a:noFill/>
          <a:ln w="15875">
            <a:solidFill>
              <a:srgbClr val="000000"/>
            </a:solidFill>
            <a:prstDash val="solid"/>
          </a:ln>
        </p:spPr>
      </p:sp>
      <p:sp>
        <p:nvSpPr>
          <p:cNvPr id="37" name="Shape 35"/>
          <p:cNvSpPr/>
          <p:nvPr/>
        </p:nvSpPr>
        <p:spPr>
          <a:xfrm>
            <a:off x="6739128" y="4535424"/>
            <a:ext cx="0" cy="274320"/>
          </a:xfrm>
          <a:prstGeom prst="line">
            <a:avLst/>
          </a:prstGeom>
          <a:noFill/>
          <a:ln w="15875">
            <a:solidFill>
              <a:srgbClr val="000000"/>
            </a:solidFill>
            <a:prstDash val="solid"/>
          </a:ln>
        </p:spPr>
      </p:sp>
      <p:sp>
        <p:nvSpPr>
          <p:cNvPr id="38" name="Shape 36"/>
          <p:cNvSpPr/>
          <p:nvPr/>
        </p:nvSpPr>
        <p:spPr>
          <a:xfrm>
            <a:off x="1783080" y="4809744"/>
            <a:ext cx="4956048" cy="0"/>
          </a:xfrm>
          <a:prstGeom prst="line">
            <a:avLst/>
          </a:prstGeom>
          <a:noFill/>
          <a:ln w="15875">
            <a:solidFill>
              <a:srgbClr val="000000"/>
            </a:solidFill>
            <a:prstDash val="solid"/>
          </a:ln>
        </p:spPr>
      </p:sp>
      <p:sp>
        <p:nvSpPr>
          <p:cNvPr id="39" name="Shape 37"/>
          <p:cNvSpPr/>
          <p:nvPr/>
        </p:nvSpPr>
        <p:spPr>
          <a:xfrm>
            <a:off x="4261104" y="4809744"/>
            <a:ext cx="0" cy="292608"/>
          </a:xfrm>
          <a:prstGeom prst="line">
            <a:avLst/>
          </a:prstGeom>
          <a:noFill/>
          <a:ln w="15875">
            <a:solidFill>
              <a:srgbClr val="000000"/>
            </a:solidFill>
            <a:prstDash val="solid"/>
            <a:tailEnd type="triangle"/>
          </a:ln>
        </p:spPr>
      </p:sp>
      <p:sp>
        <p:nvSpPr>
          <p:cNvPr id="40" name="Shape 38"/>
          <p:cNvSpPr/>
          <p:nvPr/>
        </p:nvSpPr>
        <p:spPr>
          <a:xfrm>
            <a:off x="777240" y="5102352"/>
            <a:ext cx="10634472" cy="658368"/>
          </a:xfrm>
          <a:prstGeom prst="roundRect">
            <a:avLst>
              <a:gd name="adj" fmla="val 6944"/>
            </a:avLst>
          </a:prstGeom>
          <a:solidFill>
            <a:srgbClr val="F2F2F2"/>
          </a:solidFill>
          <a:ln w="12700">
            <a:solidFill>
              <a:srgbClr val="808080"/>
            </a:solidFill>
            <a:prstDash val="solid"/>
          </a:ln>
        </p:spPr>
      </p:sp>
      <p:sp>
        <p:nvSpPr>
          <p:cNvPr id="41" name="Text 39"/>
          <p:cNvSpPr txBox="1"/>
          <p:nvPr/>
        </p:nvSpPr>
        <p:spPr>
          <a:xfrm>
            <a:off x="1069848" y="5230368"/>
            <a:ext cx="10049256" cy="457200"/>
          </a:xfrm>
          <a:prstGeom prst="rect">
            <a:avLst/>
          </a:prstGeom>
          <a:noFill/>
          <a:ln/>
        </p:spPr>
        <p:txBody>
          <a:bodyPr wrap="square" lIns="0" tIns="0" rIns="0" bIns="0" rtlCol="0" anchor="ctr"/>
          <a:lstStyle/>
          <a:p>
            <a:pPr algn="ctr" indent="0" marL="0">
              <a:lnSpc>
                <a:spcPts val="1890"/>
              </a:lnSpc>
              <a:buNone/>
            </a:pPr>
            <a:r>
              <a:rPr lang="en-US" sz="1350" dirty="0">
                <a:solidFill>
                  <a:srgbClr val="000000"/>
                </a:solidFill>
                <a:latin typeface="Times New Roman" pitchFamily="34" charset="0"/>
                <a:ea typeface="Times New Roman" pitchFamily="34" charset="-122"/>
                <a:cs typeface="Times New Roman" pitchFamily="34" charset="-120"/>
              </a:rPr>
              <a:t>Evaluation:  MCD (band-limited and full band)  ·  log-F₀ RMSE and V/UV  ·  ASR-WER against a ground-truth floor  ·  predicted MOS  ·  listening test  ·  real-time factor</a:t>
            </a:r>
            <a:endParaRPr lang="en-US" sz="1350" dirty="0"/>
          </a:p>
        </p:txBody>
      </p:sp>
      <p:sp>
        <p:nvSpPr>
          <p:cNvPr id="42" name="Text 40"/>
          <p:cNvSpPr txBox="1"/>
          <p:nvPr/>
        </p:nvSpPr>
        <p:spPr>
          <a:xfrm>
            <a:off x="777240" y="5897880"/>
            <a:ext cx="10634472" cy="457200"/>
          </a:xfrm>
          <a:prstGeom prst="rect">
            <a:avLst/>
          </a:prstGeom>
          <a:noFill/>
          <a:ln/>
        </p:spPr>
        <p:txBody>
          <a:bodyPr wrap="square" lIns="0" tIns="0" rIns="0" bIns="0" rtlCol="0" anchor="t"/>
          <a:lstStyle/>
          <a:p>
            <a:pPr algn="ctr" indent="0" marL="0">
              <a:lnSpc>
                <a:spcPts val="1960"/>
              </a:lnSpc>
              <a:buNone/>
            </a:pPr>
            <a:r>
              <a:rPr lang="en-US" sz="1400" i="1" dirty="0">
                <a:solidFill>
                  <a:srgbClr val="595959"/>
                </a:solidFill>
                <a:latin typeface="Times New Roman" pitchFamily="34" charset="0"/>
                <a:ea typeface="Times New Roman" pitchFamily="34" charset="-122"/>
                <a:cs typeface="Times New Roman" pitchFamily="34" charset="-120"/>
              </a:rPr>
              <a:t>Marathi repeats the phonemic arm with medial deletion switched off, which separates phonology from script.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9.  Experimental Setup</a:t>
            </a:r>
            <a:endParaRPr lang="en-US" sz="3000" dirty="0"/>
          </a:p>
        </p:txBody>
      </p:sp>
      <p:sp>
        <p:nvSpPr>
          <p:cNvPr id="3" name="Text 1"/>
          <p:cNvSpPr txBox="1"/>
          <p:nvPr/>
        </p:nvSpPr>
        <p:spPr>
          <a:xfrm>
            <a:off x="777240" y="1097280"/>
            <a:ext cx="4937760" cy="320040"/>
          </a:xfrm>
          <a:prstGeom prst="rect">
            <a:avLst/>
          </a:prstGeom>
          <a:noFill/>
          <a:ln/>
        </p:spPr>
        <p:txBody>
          <a:bodyPr wrap="square" lIns="0" tIns="0" rIns="0" bIns="0" rtlCol="0" anchor="t"/>
          <a:lstStyle/>
          <a:p>
            <a:pPr algn="l" indent="0" marL="0">
              <a:lnSpc>
                <a:spcPts val="2380"/>
              </a:lnSpc>
              <a:buNone/>
            </a:pPr>
            <a:r>
              <a:rPr lang="en-US" sz="1700" b="1" dirty="0">
                <a:solidFill>
                  <a:srgbClr val="000000"/>
                </a:solidFill>
                <a:latin typeface="Times New Roman" pitchFamily="34" charset="0"/>
                <a:ea typeface="Times New Roman" pitchFamily="34" charset="-122"/>
                <a:cs typeface="Times New Roman" pitchFamily="34" charset="-120"/>
              </a:rPr>
              <a:t>Held constant across every acoustic run</a:t>
            </a:r>
            <a:endParaRPr lang="en-US" sz="1700" dirty="0"/>
          </a:p>
        </p:txBody>
      </p:sp>
      <p:sp>
        <p:nvSpPr>
          <p:cNvPr id="4" name="Text 2"/>
          <p:cNvSpPr txBox="1"/>
          <p:nvPr/>
        </p:nvSpPr>
        <p:spPr>
          <a:xfrm>
            <a:off x="777240" y="1481328"/>
            <a:ext cx="5029200" cy="3383280"/>
          </a:xfrm>
          <a:prstGeom prst="rect">
            <a:avLst/>
          </a:prstGeom>
          <a:noFill/>
          <a:ln/>
        </p:spPr>
        <p:txBody>
          <a:bodyPr wrap="square" lIns="0" tIns="0" rIns="0" bIns="0" rtlCol="0" anchor="t"/>
          <a:lstStyle/>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100,000 steps, 12,000 mel frames per batch</a:t>
            </a:r>
            <a:endParaRPr lang="en-US" sz="1550" dirty="0"/>
          </a:p>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Learning rate 2×10⁻⁴, inverse-square-root decay, 4,000 warmup steps</a:t>
            </a:r>
            <a:endParaRPr lang="en-US" sz="1550" dirty="0"/>
          </a:p>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fp16, gradient clipping at 1.0</a:t>
            </a:r>
            <a:endParaRPr lang="en-US" sz="1550" dirty="0"/>
          </a:p>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One male speaker per language, matched on median F₀</a:t>
            </a:r>
            <a:endParaRPr lang="en-US" sz="1550" dirty="0"/>
          </a:p>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One shared HiFi-GAN per language</a:t>
            </a:r>
            <a:endParaRPr lang="en-US" sz="1550" dirty="0"/>
          </a:p>
          <a:p>
            <a:pPr marL="342900" indent="-342900">
              <a:lnSpc>
                <a:spcPts val="2325"/>
              </a:lnSpc>
              <a:spcAft>
                <a:spcPts val="10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The same metrics on the same 300-utterance test set</a:t>
            </a:r>
            <a:endParaRPr lang="en-US" sz="1550" dirty="0"/>
          </a:p>
        </p:txBody>
      </p:sp>
      <p:sp>
        <p:nvSpPr>
          <p:cNvPr id="5" name="Shape 3"/>
          <p:cNvSpPr/>
          <p:nvPr/>
        </p:nvSpPr>
        <p:spPr>
          <a:xfrm>
            <a:off x="777240" y="4983480"/>
            <a:ext cx="5029200" cy="914400"/>
          </a:xfrm>
          <a:prstGeom prst="roundRect">
            <a:avLst>
              <a:gd name="adj" fmla="val 5000"/>
            </a:avLst>
          </a:prstGeom>
          <a:solidFill>
            <a:srgbClr val="FCECEC"/>
          </a:solidFill>
          <a:ln w="12700">
            <a:solidFill>
              <a:srgbClr val="C00000"/>
            </a:solidFill>
            <a:prstDash val="solid"/>
          </a:ln>
        </p:spPr>
      </p:sp>
      <p:sp>
        <p:nvSpPr>
          <p:cNvPr id="6" name="Text 4"/>
          <p:cNvSpPr txBox="1"/>
          <p:nvPr/>
        </p:nvSpPr>
        <p:spPr>
          <a:xfrm>
            <a:off x="960120" y="5138928"/>
            <a:ext cx="4663440" cy="640080"/>
          </a:xfrm>
          <a:prstGeom prst="rect">
            <a:avLst/>
          </a:prstGeom>
          <a:noFill/>
          <a:ln/>
        </p:spPr>
        <p:txBody>
          <a:bodyPr wrap="square" lIns="0" tIns="0" rIns="0" bIns="0" rtlCol="0" anchor="ctr"/>
          <a:lstStyle/>
          <a:p>
            <a:pPr algn="ctr" indent="0" marL="0">
              <a:lnSpc>
                <a:spcPts val="1960"/>
              </a:lnSpc>
              <a:buNone/>
            </a:pPr>
            <a:r>
              <a:rPr lang="en-US" sz="1400" dirty="0">
                <a:solidFill>
                  <a:srgbClr val="C00000"/>
                </a:solidFill>
                <a:latin typeface="Times New Roman" pitchFamily="34" charset="0"/>
                <a:ea typeface="Times New Roman" pitchFamily="34" charset="-122"/>
                <a:cs typeface="Times New Roman" pitchFamily="34" charset="-120"/>
              </a:rPr>
              <a:t>Enforced by an assertion at configuration time, not by recollection.</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72200" y="1143000"/>
          <a:ext cx="5257800" cy="914400"/>
        </p:xfrm>
        <a:graphic>
          <a:graphicData uri="http://schemas.openxmlformats.org/drawingml/2006/table">
            <a:tbl>
              <a:tblPr/>
              <a:tblGrid>
                <a:gridCol w="1051560"/>
                <a:gridCol w="1554480"/>
                <a:gridCol w="521208"/>
                <a:gridCol w="1417320"/>
                <a:gridCol w="713232"/>
              </a:tblGrid>
              <a:tr h="384048">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Runs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Architecture</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Lang.</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Input</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GPU-h</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r01–r03</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FS2 / VITS / Matcha</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phonemic</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36</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r04–r05</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FS2 / VITS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graphemic, the ablation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16</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r06</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HiFi-GAN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ground-truth mel</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10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r07–r10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FastSpeech 2</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phonemic, ladder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20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r11–r14</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VITS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phonemic, ladder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20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r15–r16</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FS2 / VITS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phonemic, the control</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24</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r17</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HiFi-GAN</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mr</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ground-truth mel</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10</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Total, 17 runs</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c>
                  <a:txBody>
                    <a:bodyP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136</a:t>
                      </a:r>
                      <a:endParaRPr lang="en-US" sz="1200" dirty="0">
                        <a:latin typeface="Times New Roman" charset="0"/>
                        <a:ea typeface="Times New Roman" charset="0"/>
                        <a:cs typeface="Times New Roman" charset="0"/>
                      </a:endParaRPr>
                    </a:p>
                  </a:txBody>
                  <a:tcPr marL="54864" marR="54864" marT="54864" marB="54864"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tcPr>
                </a:tc>
              </a:tr>
            </a:tbl>
          </a:graphicData>
        </a:graphic>
      </p:graphicFrame>
      <p:sp>
        <p:nvSpPr>
          <p:cNvPr id="8" name="Text 5"/>
          <p:cNvSpPr txBox="1"/>
          <p:nvPr/>
        </p:nvSpPr>
        <p:spPr>
          <a:xfrm>
            <a:off x="6172200" y="4983480"/>
            <a:ext cx="5257800" cy="914400"/>
          </a:xfrm>
          <a:prstGeom prst="rect">
            <a:avLst/>
          </a:prstGeom>
          <a:noFill/>
          <a:ln/>
        </p:spPr>
        <p:txBody>
          <a:bodyPr wrap="square" lIns="0" tIns="0" rIns="0" bIns="0" rtlCol="0" anchor="t"/>
          <a:lstStyle/>
          <a:p>
            <a:pPr algn="l" indent="0" marL="0">
              <a:lnSpc>
                <a:spcPts val="2030"/>
              </a:lnSpc>
              <a:buNone/>
            </a:pPr>
            <a:r>
              <a:rPr lang="en-US" sz="1450" dirty="0">
                <a:solidFill>
                  <a:srgbClr val="595959"/>
                </a:solidFill>
                <a:latin typeface="Times New Roman" pitchFamily="34" charset="0"/>
                <a:ea typeface="Times New Roman" pitchFamily="34" charset="-122"/>
                <a:cs typeface="Times New Roman" pitchFamily="34" charset="-120"/>
              </a:rPr>
              <a:t>136 GPU-hours at one seed per cell. On free-tier resources capped at 30 hours a week that is 4.53 weeks of training alone.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10.  Results</a:t>
            </a:r>
            <a:endParaRPr lang="en-US" sz="3000" dirty="0"/>
          </a:p>
        </p:txBody>
      </p:sp>
      <p:sp>
        <p:nvSpPr>
          <p:cNvPr id="3" name="Text 1"/>
          <p:cNvSpPr txBox="1"/>
          <p:nvPr/>
        </p:nvSpPr>
        <p:spPr>
          <a:xfrm>
            <a:off x="777240" y="1078992"/>
            <a:ext cx="10634472" cy="320040"/>
          </a:xfrm>
          <a:prstGeom prst="rect">
            <a:avLst/>
          </a:prstGeom>
          <a:noFill/>
          <a:ln/>
        </p:spPr>
        <p:txBody>
          <a:bodyPr wrap="square" lIns="0" tIns="0" rIns="0" bIns="0" rtlCol="0" anchor="t"/>
          <a:lstStyle/>
          <a:p>
            <a:pPr algn="l" indent="0" marL="0">
              <a:lnSpc>
                <a:spcPts val="2100"/>
              </a:lnSpc>
              <a:buNone/>
            </a:pPr>
            <a:r>
              <a:rPr lang="en-US" sz="1500" i="1" dirty="0">
                <a:solidFill>
                  <a:srgbClr val="595959"/>
                </a:solidFill>
                <a:latin typeface="Times New Roman" pitchFamily="34" charset="0"/>
                <a:ea typeface="Times New Roman" pitchFamily="34" charset="-122"/>
                <a:cs typeface="Times New Roman" pitchFamily="34" charset="-120"/>
              </a:rPr>
              <a:t>Nothing has been trained yet. Everything below is a property of the corpus, the front end or the measuring apparatus.</a:t>
            </a:r>
            <a:endParaRPr lang="en-US" sz="1500" dirty="0"/>
          </a:p>
        </p:txBody>
      </p:sp>
      <p:sp>
        <p:nvSpPr>
          <p:cNvPr id="4" name="Shape 2"/>
          <p:cNvSpPr/>
          <p:nvPr/>
        </p:nvSpPr>
        <p:spPr>
          <a:xfrm>
            <a:off x="777240" y="1536192"/>
            <a:ext cx="2432304" cy="1417320"/>
          </a:xfrm>
          <a:prstGeom prst="roundRect">
            <a:avLst>
              <a:gd name="adj" fmla="val 3226"/>
            </a:avLst>
          </a:prstGeom>
          <a:solidFill>
            <a:srgbClr val="F2F2F2"/>
          </a:solidFill>
          <a:ln w="12700">
            <a:solidFill>
              <a:srgbClr val="808080"/>
            </a:solidFill>
            <a:prstDash val="solid"/>
          </a:ln>
        </p:spPr>
      </p:sp>
      <p:sp>
        <p:nvSpPr>
          <p:cNvPr id="5" name="Text 3"/>
          <p:cNvSpPr txBox="1"/>
          <p:nvPr/>
        </p:nvSpPr>
        <p:spPr>
          <a:xfrm>
            <a:off x="905256" y="1691640"/>
            <a:ext cx="2194560" cy="502920"/>
          </a:xfrm>
          <a:prstGeom prst="rect">
            <a:avLst/>
          </a:prstGeom>
          <a:noFill/>
          <a:ln/>
        </p:spPr>
        <p:txBody>
          <a:bodyPr wrap="square" lIns="0" tIns="0" rIns="0" bIns="0" rtlCol="0" anchor="t"/>
          <a:lstStyle/>
          <a:p>
            <a:pPr algn="ctr" indent="0" marL="0">
              <a:lnSpc>
                <a:spcPts val="3920"/>
              </a:lnSpc>
              <a:buNone/>
            </a:pPr>
            <a:r>
              <a:rPr lang="en-US" sz="2800" b="1" dirty="0">
                <a:solidFill>
                  <a:srgbClr val="C00000"/>
                </a:solidFill>
                <a:latin typeface="Times New Roman" pitchFamily="34" charset="0"/>
                <a:ea typeface="Times New Roman" pitchFamily="34" charset="-122"/>
                <a:cs typeface="Times New Roman" pitchFamily="34" charset="-120"/>
              </a:rPr>
              <a:t>48.6 h</a:t>
            </a:r>
            <a:endParaRPr lang="en-US" sz="2800" dirty="0"/>
          </a:p>
        </p:txBody>
      </p:sp>
      <p:sp>
        <p:nvSpPr>
          <p:cNvPr id="6" name="Text 4"/>
          <p:cNvSpPr txBox="1"/>
          <p:nvPr/>
        </p:nvSpPr>
        <p:spPr>
          <a:xfrm>
            <a:off x="905256" y="2240280"/>
            <a:ext cx="2194560" cy="6400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profiled across both corpora,</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22,764 utterances</a:t>
            </a:r>
            <a:endParaRPr lang="en-US" sz="1250" dirty="0"/>
          </a:p>
        </p:txBody>
      </p:sp>
      <p:sp>
        <p:nvSpPr>
          <p:cNvPr id="7" name="Shape 5"/>
          <p:cNvSpPr/>
          <p:nvPr/>
        </p:nvSpPr>
        <p:spPr>
          <a:xfrm>
            <a:off x="3520440" y="1536192"/>
            <a:ext cx="2432304" cy="1417320"/>
          </a:xfrm>
          <a:prstGeom prst="roundRect">
            <a:avLst>
              <a:gd name="adj" fmla="val 3226"/>
            </a:avLst>
          </a:prstGeom>
          <a:solidFill>
            <a:srgbClr val="F2F2F2"/>
          </a:solidFill>
          <a:ln w="12700">
            <a:solidFill>
              <a:srgbClr val="808080"/>
            </a:solidFill>
            <a:prstDash val="solid"/>
          </a:ln>
        </p:spPr>
      </p:sp>
      <p:sp>
        <p:nvSpPr>
          <p:cNvPr id="8" name="Text 6"/>
          <p:cNvSpPr txBox="1"/>
          <p:nvPr/>
        </p:nvSpPr>
        <p:spPr>
          <a:xfrm>
            <a:off x="3648456" y="1691640"/>
            <a:ext cx="2194560" cy="502920"/>
          </a:xfrm>
          <a:prstGeom prst="rect">
            <a:avLst/>
          </a:prstGeom>
          <a:noFill/>
          <a:ln/>
        </p:spPr>
        <p:txBody>
          <a:bodyPr wrap="square" lIns="0" tIns="0" rIns="0" bIns="0" rtlCol="0" anchor="t"/>
          <a:lstStyle/>
          <a:p>
            <a:pPr algn="ctr" indent="0" marL="0">
              <a:lnSpc>
                <a:spcPts val="3920"/>
              </a:lnSpc>
              <a:buNone/>
            </a:pPr>
            <a:r>
              <a:rPr lang="en-US" sz="2800" b="1" dirty="0">
                <a:solidFill>
                  <a:srgbClr val="C00000"/>
                </a:solidFill>
                <a:latin typeface="Times New Roman" pitchFamily="34" charset="0"/>
                <a:ea typeface="Times New Roman" pitchFamily="34" charset="-122"/>
                <a:cs typeface="Times New Roman" pitchFamily="34" charset="-120"/>
              </a:rPr>
              <a:t>0</a:t>
            </a:r>
            <a:endParaRPr lang="en-US" sz="2800" dirty="0"/>
          </a:p>
        </p:txBody>
      </p:sp>
      <p:sp>
        <p:nvSpPr>
          <p:cNvPr id="9" name="Text 7"/>
          <p:cNvSpPr txBox="1"/>
          <p:nvPr/>
        </p:nvSpPr>
        <p:spPr>
          <a:xfrm>
            <a:off x="3648456" y="2240280"/>
            <a:ext cx="2194560" cy="6400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unknown symbols over</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870,547 phone tokens</a:t>
            </a:r>
            <a:endParaRPr lang="en-US" sz="1250" dirty="0"/>
          </a:p>
        </p:txBody>
      </p:sp>
      <p:sp>
        <p:nvSpPr>
          <p:cNvPr id="10" name="Shape 8"/>
          <p:cNvSpPr/>
          <p:nvPr/>
        </p:nvSpPr>
        <p:spPr>
          <a:xfrm>
            <a:off x="6263640" y="1536192"/>
            <a:ext cx="2432304" cy="1417320"/>
          </a:xfrm>
          <a:prstGeom prst="roundRect">
            <a:avLst>
              <a:gd name="adj" fmla="val 3226"/>
            </a:avLst>
          </a:prstGeom>
          <a:solidFill>
            <a:srgbClr val="F2F2F2"/>
          </a:solidFill>
          <a:ln w="12700">
            <a:solidFill>
              <a:srgbClr val="808080"/>
            </a:solidFill>
            <a:prstDash val="solid"/>
          </a:ln>
        </p:spPr>
      </p:sp>
      <p:sp>
        <p:nvSpPr>
          <p:cNvPr id="11" name="Text 9"/>
          <p:cNvSpPr txBox="1"/>
          <p:nvPr/>
        </p:nvSpPr>
        <p:spPr>
          <a:xfrm>
            <a:off x="6391656" y="1691640"/>
            <a:ext cx="2194560" cy="502920"/>
          </a:xfrm>
          <a:prstGeom prst="rect">
            <a:avLst/>
          </a:prstGeom>
          <a:noFill/>
          <a:ln/>
        </p:spPr>
        <p:txBody>
          <a:bodyPr wrap="square" lIns="0" tIns="0" rIns="0" bIns="0" rtlCol="0" anchor="t"/>
          <a:lstStyle/>
          <a:p>
            <a:pPr algn="ctr" indent="0" marL="0">
              <a:lnSpc>
                <a:spcPts val="3920"/>
              </a:lnSpc>
              <a:buNone/>
            </a:pPr>
            <a:r>
              <a:rPr lang="en-US" sz="2800" b="1" dirty="0">
                <a:solidFill>
                  <a:srgbClr val="C00000"/>
                </a:solidFill>
                <a:latin typeface="Times New Roman" pitchFamily="34" charset="0"/>
                <a:ea typeface="Times New Roman" pitchFamily="34" charset="-122"/>
                <a:cs typeface="Times New Roman" pitchFamily="34" charset="-120"/>
              </a:rPr>
              <a:t>19%</a:t>
            </a:r>
            <a:endParaRPr lang="en-US" sz="2800" dirty="0"/>
          </a:p>
        </p:txBody>
      </p:sp>
      <p:sp>
        <p:nvSpPr>
          <p:cNvPr id="12" name="Text 10"/>
          <p:cNvSpPr txBox="1"/>
          <p:nvPr/>
        </p:nvSpPr>
        <p:spPr>
          <a:xfrm>
            <a:off x="6391656" y="2240280"/>
            <a:ext cx="2194560" cy="6400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error in the estimate taken</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from a 50-utterance sample</a:t>
            </a:r>
            <a:endParaRPr lang="en-US" sz="1250" dirty="0"/>
          </a:p>
        </p:txBody>
      </p:sp>
      <p:sp>
        <p:nvSpPr>
          <p:cNvPr id="13" name="Shape 11"/>
          <p:cNvSpPr/>
          <p:nvPr/>
        </p:nvSpPr>
        <p:spPr>
          <a:xfrm>
            <a:off x="9006840" y="1536192"/>
            <a:ext cx="2432304" cy="1417320"/>
          </a:xfrm>
          <a:prstGeom prst="roundRect">
            <a:avLst>
              <a:gd name="adj" fmla="val 3226"/>
            </a:avLst>
          </a:prstGeom>
          <a:solidFill>
            <a:srgbClr val="F2F2F2"/>
          </a:solidFill>
          <a:ln w="12700">
            <a:solidFill>
              <a:srgbClr val="808080"/>
            </a:solidFill>
            <a:prstDash val="solid"/>
          </a:ln>
        </p:spPr>
      </p:sp>
      <p:sp>
        <p:nvSpPr>
          <p:cNvPr id="14" name="Text 12"/>
          <p:cNvSpPr txBox="1"/>
          <p:nvPr/>
        </p:nvSpPr>
        <p:spPr>
          <a:xfrm>
            <a:off x="9134856" y="1691640"/>
            <a:ext cx="2194560" cy="502920"/>
          </a:xfrm>
          <a:prstGeom prst="rect">
            <a:avLst/>
          </a:prstGeom>
          <a:noFill/>
          <a:ln/>
        </p:spPr>
        <p:txBody>
          <a:bodyPr wrap="square" lIns="0" tIns="0" rIns="0" bIns="0" rtlCol="0" anchor="t"/>
          <a:lstStyle/>
          <a:p>
            <a:pPr algn="ctr" indent="0" marL="0">
              <a:lnSpc>
                <a:spcPts val="3920"/>
              </a:lnSpc>
              <a:buNone/>
            </a:pPr>
            <a:r>
              <a:rPr lang="en-US" sz="2800" b="1" dirty="0">
                <a:solidFill>
                  <a:srgbClr val="C00000"/>
                </a:solidFill>
                <a:latin typeface="Times New Roman" pitchFamily="34" charset="0"/>
                <a:ea typeface="Times New Roman" pitchFamily="34" charset="-122"/>
                <a:cs typeface="Times New Roman" pitchFamily="34" charset="-120"/>
              </a:rPr>
              <a:t>78</a:t>
            </a:r>
            <a:endParaRPr lang="en-US" sz="2800" dirty="0"/>
          </a:p>
        </p:txBody>
      </p:sp>
      <p:sp>
        <p:nvSpPr>
          <p:cNvPr id="15" name="Text 13"/>
          <p:cNvSpPr txBox="1"/>
          <p:nvPr/>
        </p:nvSpPr>
        <p:spPr>
          <a:xfrm>
            <a:off x="9134856" y="2240280"/>
            <a:ext cx="2194560" cy="640080"/>
          </a:xfrm>
          <a:prstGeom prst="rect">
            <a:avLst/>
          </a:prstGeom>
          <a:noFill/>
          <a:ln/>
        </p:spPr>
        <p:txBody>
          <a:bodyPr wrap="square" lIns="0" tIns="0" rIns="0" bIns="0" rtlCol="0" anchor="t"/>
          <a:lstStyle/>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tests passing; both metrics</a:t>
            </a:r>
            <a:endParaRPr lang="en-US" sz="1250" dirty="0"/>
          </a:p>
          <a:p>
            <a:pPr algn="ctr" indent="0" marL="0">
              <a:lnSpc>
                <a:spcPts val="1750"/>
              </a:lnSpc>
              <a:buNone/>
            </a:pPr>
            <a:r>
              <a:rPr lang="en-US" sz="1250" dirty="0">
                <a:solidFill>
                  <a:srgbClr val="595959"/>
                </a:solidFill>
                <a:latin typeface="Times New Roman" pitchFamily="34" charset="0"/>
                <a:ea typeface="Times New Roman" pitchFamily="34" charset="-122"/>
                <a:cs typeface="Times New Roman" pitchFamily="34" charset="-120"/>
              </a:rPr>
              <a:t>verified against analytic answers</a:t>
            </a:r>
            <a:endParaRPr lang="en-US" sz="1250" dirty="0"/>
          </a:p>
        </p:txBody>
      </p:sp>
      <p:sp>
        <p:nvSpPr>
          <p:cNvPr id="16" name="Text 14"/>
          <p:cNvSpPr txBox="1"/>
          <p:nvPr/>
        </p:nvSpPr>
        <p:spPr>
          <a:xfrm>
            <a:off x="777240" y="3154680"/>
            <a:ext cx="10634472" cy="3291840"/>
          </a:xfrm>
          <a:prstGeom prst="rect">
            <a:avLst/>
          </a:prstGeom>
          <a:noFill/>
          <a:ln/>
        </p:spPr>
        <p:txBody>
          <a:bodyPr wrap="square" lIns="0" tIns="0" rIns="0" bIns="0" rtlCol="0" anchor="t"/>
          <a:lstStyle/>
          <a:p>
            <a:pPr marL="342900" indent="-342900">
              <a:lnSpc>
                <a:spcPts val="2475"/>
              </a:lnSpc>
              <a:spcAft>
                <a:spcPts val="1000"/>
              </a:spcAft>
              <a:buSzPct val="100000"/>
              <a:buChar char="•"/>
            </a:pPr>
            <a:r>
              <a:rPr lang="en-US" sz="1650" dirty="0">
                <a:solidFill>
                  <a:srgbClr val="000000"/>
                </a:solidFill>
                <a:latin typeface="Times New Roman" pitchFamily="34" charset="0"/>
                <a:ea typeface="Times New Roman" pitchFamily="34" charset="-122"/>
                <a:cs typeface="Times New Roman" pitchFamily="34" charset="-120"/>
              </a:rPr>
              <a:t>Speaker identity had to be recovered acoustically: median F₀ separates the two speakers by 90 Hz in Hindi and 111 Hz in Marathi. Every gender label is reported as an inference, not as a dataset label.</a:t>
            </a:r>
            <a:endParaRPr lang="en-US" sz="1650" dirty="0"/>
          </a:p>
          <a:p>
            <a:pPr marL="342900" indent="-342900">
              <a:lnSpc>
                <a:spcPts val="2475"/>
              </a:lnSpc>
              <a:spcAft>
                <a:spcPts val="1000"/>
              </a:spcAft>
              <a:buSzPct val="100000"/>
              <a:buChar char="•"/>
            </a:pPr>
            <a:r>
              <a:rPr lang="en-US" sz="1650" dirty="0">
                <a:solidFill>
                  <a:srgbClr val="000000"/>
                </a:solidFill>
                <a:latin typeface="Times New Roman" pitchFamily="34" charset="0"/>
                <a:ea typeface="Times New Roman" pitchFamily="34" charset="-122"/>
                <a:cs typeface="Times New Roman" pitchFamily="34" charset="-120"/>
              </a:rPr>
              <a:t>Splits are frozen by a salted SHA-256 of the utterance identifier, so a rebuild reproduces the test set byte for byte. All three structural assertions pass.</a:t>
            </a:r>
            <a:endParaRPr lang="en-US" sz="1650" dirty="0"/>
          </a:p>
          <a:p>
            <a:pPr marL="342900" indent="-342900">
              <a:lnSpc>
                <a:spcPts val="2475"/>
              </a:lnSpc>
              <a:spcAft>
                <a:spcPts val="1000"/>
              </a:spcAft>
              <a:buSzPct val="100000"/>
              <a:buChar char="•"/>
            </a:pPr>
            <a:r>
              <a:rPr lang="en-US" sz="1650" dirty="0">
                <a:solidFill>
                  <a:srgbClr val="000000"/>
                </a:solidFill>
                <a:latin typeface="Times New Roman" pitchFamily="34" charset="0"/>
                <a:ea typeface="Times New Roman" pitchFamily="34" charset="-122"/>
                <a:cs typeface="Times New Roman" pitchFamily="34" charset="-120"/>
              </a:rPr>
              <a:t>The ladder starts at nine hours rather than ten, because matching the rungs across the two languages matters more than a round number.</a:t>
            </a:r>
            <a:endParaRPr lang="en-US" sz="1650" dirty="0"/>
          </a:p>
          <a:p>
            <a:pPr marL="342900" indent="-342900">
              <a:lnSpc>
                <a:spcPts val="2475"/>
              </a:lnSpc>
              <a:spcAft>
                <a:spcPts val="1000"/>
              </a:spcAft>
              <a:buSzPct val="100000"/>
              <a:buChar char="•"/>
            </a:pPr>
            <a:r>
              <a:rPr lang="en-US" sz="1650" dirty="0">
                <a:solidFill>
                  <a:srgbClr val="000000"/>
                </a:solidFill>
                <a:latin typeface="Times New Roman" pitchFamily="34" charset="0"/>
                <a:ea typeface="Times New Roman" pitchFamily="34" charset="-122"/>
                <a:cs typeface="Times New Roman" pitchFamily="34" charset="-120"/>
              </a:rPr>
              <a:t>MCD is amplitude invariant to under 10⁻⁶ dB; log-F₀ RMSE reports ln(1.1) at both 100 Hz and 300 Hz, exact to 10⁻¹².</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11.  Discussion</a:t>
            </a:r>
            <a:endParaRPr lang="en-US" sz="3000" dirty="0"/>
          </a:p>
        </p:txBody>
      </p:sp>
      <p:sp>
        <p:nvSpPr>
          <p:cNvPr id="3" name="Text 1"/>
          <p:cNvSpPr txBox="1"/>
          <p:nvPr/>
        </p:nvSpPr>
        <p:spPr>
          <a:xfrm>
            <a:off x="777240" y="1097280"/>
            <a:ext cx="10634472" cy="320040"/>
          </a:xfrm>
          <a:prstGeom prst="rect">
            <a:avLst/>
          </a:prstGeom>
          <a:noFill/>
          <a:ln/>
        </p:spPr>
        <p:txBody>
          <a:bodyPr wrap="square" lIns="0" tIns="0" rIns="0" bIns="0" rtlCol="0" anchor="t"/>
          <a:lstStyle/>
          <a:p>
            <a:pPr algn="l" indent="0" marL="0">
              <a:lnSpc>
                <a:spcPts val="2240"/>
              </a:lnSpc>
              <a:buNone/>
            </a:pPr>
            <a:r>
              <a:rPr lang="en-US" sz="1600" b="1" dirty="0">
                <a:solidFill>
                  <a:srgbClr val="000000"/>
                </a:solidFill>
                <a:latin typeface="Times New Roman" pitchFamily="34" charset="0"/>
                <a:ea typeface="Times New Roman" pitchFamily="34" charset="-122"/>
                <a:cs typeface="Times New Roman" pitchFamily="34" charset="-120"/>
              </a:rPr>
              <a:t>Three defects turned up. None announced itself, and the 78 unit tests caught none of them.</a:t>
            </a:r>
            <a:endParaRPr lang="en-US" sz="1600" dirty="0"/>
          </a:p>
        </p:txBody>
      </p:sp>
      <p:sp>
        <p:nvSpPr>
          <p:cNvPr id="4" name="Shape 2"/>
          <p:cNvSpPr/>
          <p:nvPr/>
        </p:nvSpPr>
        <p:spPr>
          <a:xfrm>
            <a:off x="777240" y="1536192"/>
            <a:ext cx="10634472" cy="1444752"/>
          </a:xfrm>
          <a:prstGeom prst="roundRect">
            <a:avLst>
              <a:gd name="adj" fmla="val 3165"/>
            </a:avLst>
          </a:prstGeom>
          <a:solidFill>
            <a:srgbClr val="FCECEC"/>
          </a:solidFill>
          <a:ln w="12700">
            <a:solidFill>
              <a:srgbClr val="C00000"/>
            </a:solidFill>
            <a:prstDash val="solid"/>
          </a:ln>
        </p:spPr>
      </p:sp>
      <p:sp>
        <p:nvSpPr>
          <p:cNvPr id="5" name="Text 3"/>
          <p:cNvSpPr txBox="1"/>
          <p:nvPr/>
        </p:nvSpPr>
        <p:spPr>
          <a:xfrm>
            <a:off x="1033272" y="1682496"/>
            <a:ext cx="10149840" cy="320040"/>
          </a:xfrm>
          <a:prstGeom prst="rect">
            <a:avLst/>
          </a:prstGeom>
          <a:noFill/>
          <a:ln/>
        </p:spPr>
        <p:txBody>
          <a:bodyPr wrap="square" lIns="0" tIns="0" rIns="0" bIns="0" rtlCol="0" anchor="t"/>
          <a:lstStyle/>
          <a:p>
            <a:pPr algn="l" indent="0" marL="0">
              <a:lnSpc>
                <a:spcPts val="2240"/>
              </a:lnSpc>
              <a:buNone/>
            </a:pPr>
            <a:r>
              <a:rPr lang="en-US" sz="1600" b="1" dirty="0">
                <a:solidFill>
                  <a:srgbClr val="C00000"/>
                </a:solidFill>
                <a:latin typeface="Times New Roman" pitchFamily="34" charset="0"/>
                <a:ea typeface="Times New Roman" pitchFamily="34" charset="-122"/>
                <a:cs typeface="Times New Roman" pitchFamily="34" charset="-120"/>
              </a:rPr>
              <a:t>Punctuation was rewriting words</a:t>
            </a:r>
            <a:endParaRPr lang="en-US" sz="1600" dirty="0"/>
          </a:p>
        </p:txBody>
      </p:sp>
      <p:sp>
        <p:nvSpPr>
          <p:cNvPr id="6" name="Text 4"/>
          <p:cNvSpPr txBox="1"/>
          <p:nvPr/>
        </p:nvSpPr>
        <p:spPr>
          <a:xfrm>
            <a:off x="1033272" y="2066544"/>
            <a:ext cx="10149840" cy="786384"/>
          </a:xfrm>
          <a:prstGeom prst="rect">
            <a:avLst/>
          </a:prstGeom>
          <a:noFill/>
          <a:ln/>
        </p:spPr>
        <p:txBody>
          <a:bodyPr wrap="square" lIns="0" tIns="0" rIns="0" bIns="0" rtlCol="0" anchor="t"/>
          <a:lstStyle/>
          <a:p>
            <a:pPr algn="l" indent="0" marL="0">
              <a:lnSpc>
                <a:spcPts val="1960"/>
              </a:lnSpc>
              <a:buNone/>
            </a:pPr>
            <a:r>
              <a:rPr lang="en-US" sz="1400" dirty="0">
                <a:solidFill>
                  <a:srgbClr val="595959"/>
                </a:solidFill>
                <a:latin typeface="Times New Roman" pitchFamily="34" charset="0"/>
                <a:ea typeface="Times New Roman" pitchFamily="34" charset="-122"/>
                <a:cs typeface="Times New Roman" pitchFamily="34" charset="-120"/>
              </a:rPr>
              <a:t>A trailing comma means the word-final schwa is no longer final, so it survives, and its survival supplies the vowel that lets the schwa to its left delete. नमक came out as /nəmkə/ instead of /nəmək/. 16.5% of Hindi word tokens carry punctuation, and the damage fell on the phonemic arm alone.</a:t>
            </a:r>
            <a:endParaRPr lang="en-US" sz="1400" dirty="0"/>
          </a:p>
        </p:txBody>
      </p:sp>
      <p:sp>
        <p:nvSpPr>
          <p:cNvPr id="7" name="Shape 5"/>
          <p:cNvSpPr/>
          <p:nvPr/>
        </p:nvSpPr>
        <p:spPr>
          <a:xfrm>
            <a:off x="777240" y="3273552"/>
            <a:ext cx="10634472" cy="1207008"/>
          </a:xfrm>
          <a:prstGeom prst="roundRect">
            <a:avLst>
              <a:gd name="adj" fmla="val 3788"/>
            </a:avLst>
          </a:prstGeom>
          <a:solidFill>
            <a:srgbClr val="F2F2F2"/>
          </a:solidFill>
          <a:ln w="12700">
            <a:solidFill>
              <a:srgbClr val="808080"/>
            </a:solidFill>
            <a:prstDash val="solid"/>
          </a:ln>
        </p:spPr>
      </p:sp>
      <p:sp>
        <p:nvSpPr>
          <p:cNvPr id="8" name="Text 6"/>
          <p:cNvSpPr txBox="1"/>
          <p:nvPr/>
        </p:nvSpPr>
        <p:spPr>
          <a:xfrm>
            <a:off x="1033272" y="3419856"/>
            <a:ext cx="10149840" cy="320040"/>
          </a:xfrm>
          <a:prstGeom prst="rect">
            <a:avLst/>
          </a:prstGeom>
          <a:noFill/>
          <a:ln/>
        </p:spPr>
        <p:txBody>
          <a:bodyPr wrap="square" lIns="0" tIns="0" rIns="0" bIns="0" rtlCol="0" anchor="t"/>
          <a:lstStyle/>
          <a:p>
            <a:pPr algn="l" indent="0" marL="0">
              <a:lnSpc>
                <a:spcPts val="2240"/>
              </a:lnSpc>
              <a:buNone/>
            </a:pPr>
            <a:r>
              <a:rPr lang="en-US" sz="1600" b="1" dirty="0">
                <a:solidFill>
                  <a:srgbClr val="000000"/>
                </a:solidFill>
                <a:latin typeface="Times New Roman" pitchFamily="34" charset="0"/>
                <a:ea typeface="Times New Roman" pitchFamily="34" charset="-122"/>
                <a:cs typeface="Times New Roman" pitchFamily="34" charset="-120"/>
              </a:rPr>
              <a:t>A training run was in the plan twice</a:t>
            </a:r>
            <a:endParaRPr lang="en-US" sz="1600" dirty="0"/>
          </a:p>
        </p:txBody>
      </p:sp>
      <p:sp>
        <p:nvSpPr>
          <p:cNvPr id="9" name="Text 7"/>
          <p:cNvSpPr txBox="1"/>
          <p:nvPr/>
        </p:nvSpPr>
        <p:spPr>
          <a:xfrm>
            <a:off x="1033272" y="3803904"/>
            <a:ext cx="10149840" cy="548640"/>
          </a:xfrm>
          <a:prstGeom prst="rect">
            <a:avLst/>
          </a:prstGeom>
          <a:noFill/>
          <a:ln/>
        </p:spPr>
        <p:txBody>
          <a:bodyPr wrap="square" lIns="0" tIns="0" rIns="0" bIns="0" rtlCol="0" anchor="t"/>
          <a:lstStyle/>
          <a:p>
            <a:pPr algn="l" indent="0" marL="0">
              <a:lnSpc>
                <a:spcPts val="1960"/>
              </a:lnSpc>
              <a:buNone/>
            </a:pPr>
            <a:r>
              <a:rPr lang="en-US" sz="1400" dirty="0">
                <a:solidFill>
                  <a:srgbClr val="595959"/>
                </a:solidFill>
                <a:latin typeface="Times New Roman" pitchFamily="34" charset="0"/>
                <a:ea typeface="Times New Roman" pitchFamily="34" charset="-122"/>
                <a:cs typeface="Times New Roman" pitchFamily="34" charset="-120"/>
              </a:rPr>
              <a:t>The ladder's nine-hour rung was a second copy of the main run. Invisible because the run identifier sat inside the configuration hash. Ten GPU-hours; 19 runs became 17.</a:t>
            </a:r>
            <a:endParaRPr lang="en-US" sz="1400" dirty="0"/>
          </a:p>
        </p:txBody>
      </p:sp>
      <p:sp>
        <p:nvSpPr>
          <p:cNvPr id="10" name="Shape 8"/>
          <p:cNvSpPr/>
          <p:nvPr/>
        </p:nvSpPr>
        <p:spPr>
          <a:xfrm>
            <a:off x="777240" y="4773168"/>
            <a:ext cx="10634472" cy="1024128"/>
          </a:xfrm>
          <a:prstGeom prst="roundRect">
            <a:avLst>
              <a:gd name="adj" fmla="val 4464"/>
            </a:avLst>
          </a:prstGeom>
          <a:solidFill>
            <a:srgbClr val="F2F2F2"/>
          </a:solidFill>
          <a:ln w="12700">
            <a:solidFill>
              <a:srgbClr val="808080"/>
            </a:solidFill>
            <a:prstDash val="solid"/>
          </a:ln>
        </p:spPr>
      </p:sp>
      <p:sp>
        <p:nvSpPr>
          <p:cNvPr id="11" name="Text 9"/>
          <p:cNvSpPr txBox="1"/>
          <p:nvPr/>
        </p:nvSpPr>
        <p:spPr>
          <a:xfrm>
            <a:off x="1033272" y="4919472"/>
            <a:ext cx="10149840" cy="320040"/>
          </a:xfrm>
          <a:prstGeom prst="rect">
            <a:avLst/>
          </a:prstGeom>
          <a:noFill/>
          <a:ln/>
        </p:spPr>
        <p:txBody>
          <a:bodyPr wrap="square" lIns="0" tIns="0" rIns="0" bIns="0" rtlCol="0" anchor="t"/>
          <a:lstStyle/>
          <a:p>
            <a:pPr algn="l" indent="0" marL="0">
              <a:lnSpc>
                <a:spcPts val="2240"/>
              </a:lnSpc>
              <a:buNone/>
            </a:pPr>
            <a:r>
              <a:rPr lang="en-US" sz="1600" b="1" dirty="0">
                <a:solidFill>
                  <a:srgbClr val="000000"/>
                </a:solidFill>
                <a:latin typeface="Times New Roman" pitchFamily="34" charset="0"/>
                <a:ea typeface="Times New Roman" pitchFamily="34" charset="-122"/>
                <a:cs typeface="Times New Roman" pitchFamily="34" charset="-120"/>
              </a:rPr>
              <a:t>The elicitation sheet gave away its answers</a:t>
            </a:r>
            <a:endParaRPr lang="en-US" sz="1600" dirty="0"/>
          </a:p>
        </p:txBody>
      </p:sp>
      <p:sp>
        <p:nvSpPr>
          <p:cNvPr id="12" name="Text 10"/>
          <p:cNvSpPr txBox="1"/>
          <p:nvPr/>
        </p:nvSpPr>
        <p:spPr>
          <a:xfrm>
            <a:off x="1033272" y="5303520"/>
            <a:ext cx="10149840" cy="365760"/>
          </a:xfrm>
          <a:prstGeom prst="rect">
            <a:avLst/>
          </a:prstGeom>
          <a:noFill/>
          <a:ln/>
        </p:spPr>
        <p:txBody>
          <a:bodyPr wrap="square" lIns="0" tIns="0" rIns="0" bIns="0" rtlCol="0" anchor="t"/>
          <a:lstStyle/>
          <a:p>
            <a:pPr algn="l" indent="0" marL="0">
              <a:lnSpc>
                <a:spcPts val="1960"/>
              </a:lnSpc>
              <a:buNone/>
            </a:pPr>
            <a:r>
              <a:rPr lang="en-US" sz="1400" dirty="0">
                <a:solidFill>
                  <a:srgbClr val="595959"/>
                </a:solidFill>
                <a:latin typeface="Times New Roman" pitchFamily="34" charset="0"/>
                <a:ea typeface="Times New Roman" pitchFamily="34" charset="-122"/>
                <a:cs typeface="Times New Roman" pitchFamily="34" charset="-120"/>
              </a:rPr>
              <a:t>Its worked examples were themselves items from the 49-word test set. Noticed only because a reader asked about one.</a:t>
            </a:r>
            <a:endParaRPr lang="en-US" sz="1400" dirty="0"/>
          </a:p>
        </p:txBody>
      </p:sp>
      <p:sp>
        <p:nvSpPr>
          <p:cNvPr id="13" name="Text 11"/>
          <p:cNvSpPr txBox="1"/>
          <p:nvPr/>
        </p:nvSpPr>
        <p:spPr>
          <a:xfrm>
            <a:off x="777240" y="6144768"/>
            <a:ext cx="10634472" cy="365760"/>
          </a:xfrm>
          <a:prstGeom prst="rect">
            <a:avLst/>
          </a:prstGeom>
          <a:noFill/>
          <a:ln/>
        </p:spPr>
        <p:txBody>
          <a:bodyPr wrap="square" lIns="0" tIns="0" rIns="0" bIns="0" rtlCol="0" anchor="t"/>
          <a:lstStyle/>
          <a:p>
            <a:pPr algn="ctr" indent="0" marL="0">
              <a:lnSpc>
                <a:spcPts val="1960"/>
              </a:lnSpc>
              <a:buNone/>
            </a:pPr>
            <a:r>
              <a:rPr lang="en-US" sz="1400" i="1" dirty="0">
                <a:solidFill>
                  <a:srgbClr val="595959"/>
                </a:solidFill>
                <a:latin typeface="Times New Roman" pitchFamily="34" charset="0"/>
                <a:ea typeface="Times New Roman" pitchFamily="34" charset="-122"/>
                <a:cs typeface="Times New Roman" pitchFamily="34" charset="-120"/>
              </a:rPr>
              <a:t>All three were found by running the code over the real corpus, or by watching somebody try to use an instrument.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12.  Conclusion and Future Work</a:t>
            </a:r>
            <a:endParaRPr lang="en-US" sz="3000" dirty="0"/>
          </a:p>
        </p:txBody>
      </p:sp>
      <p:sp>
        <p:nvSpPr>
          <p:cNvPr id="3" name="Text 1"/>
          <p:cNvSpPr txBox="1"/>
          <p:nvPr/>
        </p:nvSpPr>
        <p:spPr>
          <a:xfrm>
            <a:off x="777240" y="1170432"/>
            <a:ext cx="5212080" cy="320040"/>
          </a:xfrm>
          <a:prstGeom prst="rect">
            <a:avLst/>
          </a:prstGeom>
          <a:noFill/>
          <a:ln/>
        </p:spPr>
        <p:txBody>
          <a:bodyPr wrap="square" lIns="0" tIns="0" rIns="0" bIns="0" rtlCol="0" anchor="t"/>
          <a:lstStyle/>
          <a:p>
            <a:pPr algn="l" indent="0" marL="0">
              <a:lnSpc>
                <a:spcPts val="2520"/>
              </a:lnSpc>
              <a:buNone/>
            </a:pPr>
            <a:r>
              <a:rPr lang="en-US" sz="1800" b="1" dirty="0">
                <a:solidFill>
                  <a:srgbClr val="000000"/>
                </a:solidFill>
                <a:latin typeface="Times New Roman" pitchFamily="34" charset="0"/>
                <a:ea typeface="Times New Roman" pitchFamily="34" charset="-122"/>
                <a:cs typeface="Times New Roman" pitchFamily="34" charset="-120"/>
              </a:rPr>
              <a:t>Completed</a:t>
            </a:r>
            <a:endParaRPr lang="en-US" sz="1800" dirty="0"/>
          </a:p>
        </p:txBody>
      </p:sp>
      <p:sp>
        <p:nvSpPr>
          <p:cNvPr id="4" name="Text 2"/>
          <p:cNvSpPr txBox="1"/>
          <p:nvPr/>
        </p:nvSpPr>
        <p:spPr>
          <a:xfrm>
            <a:off x="777240" y="1572768"/>
            <a:ext cx="5120640" cy="2377440"/>
          </a:xfrm>
          <a:prstGeom prst="rect">
            <a:avLst/>
          </a:prstGeom>
          <a:noFill/>
          <a:ln/>
        </p:spPr>
        <p:txBody>
          <a:bodyPr wrap="square" lIns="0" tIns="0" rIns="0" bIns="0" rtlCol="0" anchor="t"/>
          <a:lstStyle/>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Both corpora profiled, standardised and speaker-matched</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Splits frozen, checksummed and byte-reproducible</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G2P front end built; zero unknown symbols on both corpora</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MCD and log-F₀ verified against analytic answers</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17 runs specified, budget enforced by assertion</a:t>
            </a:r>
            <a:endParaRPr lang="en-US" sz="1500" dirty="0"/>
          </a:p>
        </p:txBody>
      </p:sp>
      <p:sp>
        <p:nvSpPr>
          <p:cNvPr id="5" name="Text 3"/>
          <p:cNvSpPr txBox="1"/>
          <p:nvPr/>
        </p:nvSpPr>
        <p:spPr>
          <a:xfrm>
            <a:off x="6382512" y="1170432"/>
            <a:ext cx="5029200" cy="320040"/>
          </a:xfrm>
          <a:prstGeom prst="rect">
            <a:avLst/>
          </a:prstGeom>
          <a:noFill/>
          <a:ln/>
        </p:spPr>
        <p:txBody>
          <a:bodyPr wrap="square" lIns="0" tIns="0" rIns="0" bIns="0" rtlCol="0" anchor="t"/>
          <a:lstStyle/>
          <a:p>
            <a:pPr algn="l" indent="0" marL="0">
              <a:lnSpc>
                <a:spcPts val="2520"/>
              </a:lnSpc>
              <a:buNone/>
            </a:pPr>
            <a:r>
              <a:rPr lang="en-US" sz="1800" b="1" dirty="0">
                <a:solidFill>
                  <a:srgbClr val="000000"/>
                </a:solidFill>
                <a:latin typeface="Times New Roman" pitchFamily="34" charset="0"/>
                <a:ea typeface="Times New Roman" pitchFamily="34" charset="-122"/>
                <a:cs typeface="Times New Roman" pitchFamily="34" charset="-120"/>
              </a:rPr>
              <a:t>Remaining</a:t>
            </a:r>
            <a:endParaRPr lang="en-US" sz="1800" dirty="0"/>
          </a:p>
        </p:txBody>
      </p:sp>
      <p:sp>
        <p:nvSpPr>
          <p:cNvPr id="6" name="Text 4"/>
          <p:cNvSpPr txBox="1"/>
          <p:nvPr/>
        </p:nvSpPr>
        <p:spPr>
          <a:xfrm>
            <a:off x="6382512" y="1572768"/>
            <a:ext cx="5029200" cy="2377440"/>
          </a:xfrm>
          <a:prstGeom prst="rect">
            <a:avLst/>
          </a:prstGeom>
          <a:noFill/>
          <a:ln/>
        </p:spPr>
        <p:txBody>
          <a:bodyPr wrap="square" lIns="0" tIns="0" rIns="0" bIns="0" rtlCol="0" anchor="t"/>
          <a:lstStyle/>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Four training wrappers (FS2, VITS, Matcha, HiFi-GAN)</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ASR-WER with its ground-truth floor, predicted MOS, RTF</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Listening test infrastructure, piloted before recruiting</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Elicitation sheets from native speakers, blocked on people</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GPU execution path verified end to end</a:t>
            </a:r>
            <a:endParaRPr lang="en-US" sz="1500" dirty="0"/>
          </a:p>
        </p:txBody>
      </p:sp>
      <p:sp>
        <p:nvSpPr>
          <p:cNvPr id="7" name="Text 5"/>
          <p:cNvSpPr txBox="1"/>
          <p:nvPr/>
        </p:nvSpPr>
        <p:spPr>
          <a:xfrm>
            <a:off x="777240" y="4114800"/>
            <a:ext cx="10634472" cy="320040"/>
          </a:xfrm>
          <a:prstGeom prst="rect">
            <a:avLst/>
          </a:prstGeom>
          <a:noFill/>
          <a:ln/>
        </p:spPr>
        <p:txBody>
          <a:bodyPr wrap="square" lIns="0" tIns="0" rIns="0" bIns="0" rtlCol="0" anchor="t"/>
          <a:lstStyle/>
          <a:p>
            <a:pPr algn="l" indent="0" marL="0">
              <a:lnSpc>
                <a:spcPts val="2520"/>
              </a:lnSpc>
              <a:buNone/>
            </a:pPr>
            <a:r>
              <a:rPr lang="en-US" sz="1800" b="1" dirty="0">
                <a:solidFill>
                  <a:srgbClr val="000000"/>
                </a:solidFill>
                <a:latin typeface="Times New Roman" pitchFamily="34" charset="0"/>
                <a:ea typeface="Times New Roman" pitchFamily="34" charset="-122"/>
                <a:cs typeface="Times New Roman" pitchFamily="34" charset="-120"/>
              </a:rPr>
              <a:t>Future work</a:t>
            </a:r>
            <a:endParaRPr lang="en-US" sz="1800" dirty="0"/>
          </a:p>
        </p:txBody>
      </p:sp>
      <p:sp>
        <p:nvSpPr>
          <p:cNvPr id="8" name="Text 6"/>
          <p:cNvSpPr txBox="1"/>
          <p:nvPr/>
        </p:nvSpPr>
        <p:spPr>
          <a:xfrm>
            <a:off x="777240" y="4498848"/>
            <a:ext cx="10634472" cy="914400"/>
          </a:xfrm>
          <a:prstGeom prst="rect">
            <a:avLst/>
          </a:prstGeom>
          <a:noFill/>
          <a:ln/>
        </p:spPr>
        <p:txBody>
          <a:bodyPr wrap="square" lIns="0" tIns="0" rIns="0" bIns="0" rtlCol="0" anchor="t"/>
          <a:lstStyle/>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Three seeds throughout, which turns the variance floor from an assumption into a measurement. 368 GPU-hours against 136.</a:t>
            </a:r>
            <a:endParaRPr lang="en-US" sz="1500" dirty="0"/>
          </a:p>
          <a:p>
            <a:pPr marL="342900" indent="-342900">
              <a:lnSpc>
                <a:spcPts val="2250"/>
              </a:lnSpc>
              <a:spcAft>
                <a:spcPts val="1000"/>
              </a:spcAft>
              <a:buSzPct val="100000"/>
              <a:buChar char="•"/>
            </a:pPr>
            <a:r>
              <a:rPr lang="en-US" sz="1500" dirty="0">
                <a:solidFill>
                  <a:srgbClr val="000000"/>
                </a:solidFill>
                <a:latin typeface="Times New Roman" pitchFamily="34" charset="0"/>
                <a:ea typeface="Times New Roman" pitchFamily="34" charset="-122"/>
                <a:cs typeface="Times New Roman" pitchFamily="34" charset="-120"/>
              </a:rPr>
              <a:t>StyleTTS 2, excluded here for compute rather than for quality.</a:t>
            </a:r>
            <a:endParaRPr lang="en-US" sz="1500" dirty="0"/>
          </a:p>
        </p:txBody>
      </p:sp>
      <p:sp>
        <p:nvSpPr>
          <p:cNvPr id="9" name="Shape 7"/>
          <p:cNvSpPr/>
          <p:nvPr/>
        </p:nvSpPr>
        <p:spPr>
          <a:xfrm>
            <a:off x="777240" y="5532120"/>
            <a:ext cx="10634472" cy="868680"/>
          </a:xfrm>
          <a:prstGeom prst="roundRect">
            <a:avLst>
              <a:gd name="adj" fmla="val 5263"/>
            </a:avLst>
          </a:prstGeom>
          <a:solidFill>
            <a:srgbClr val="FCECEC"/>
          </a:solidFill>
          <a:ln w="12700">
            <a:solidFill>
              <a:srgbClr val="C00000"/>
            </a:solidFill>
            <a:prstDash val="solid"/>
          </a:ln>
        </p:spPr>
      </p:sp>
      <p:sp>
        <p:nvSpPr>
          <p:cNvPr id="10" name="Text 8"/>
          <p:cNvSpPr txBox="1"/>
          <p:nvPr/>
        </p:nvSpPr>
        <p:spPr>
          <a:xfrm>
            <a:off x="1051560" y="5669280"/>
            <a:ext cx="10085832" cy="640080"/>
          </a:xfrm>
          <a:prstGeom prst="rect">
            <a:avLst/>
          </a:prstGeom>
          <a:noFill/>
          <a:ln/>
        </p:spPr>
        <p:txBody>
          <a:bodyPr wrap="square" lIns="0" tIns="0" rIns="0" bIns="0" rtlCol="0" anchor="ctr"/>
          <a:lstStyle/>
          <a:p>
            <a:pPr algn="ctr" indent="0" marL="0">
              <a:lnSpc>
                <a:spcPts val="1890"/>
              </a:lnSpc>
              <a:buNone/>
            </a:pPr>
            <a:r>
              <a:rPr lang="en-US" sz="1350" dirty="0">
                <a:solidFill>
                  <a:srgbClr val="C00000"/>
                </a:solidFill>
                <a:latin typeface="Times New Roman" pitchFamily="34" charset="0"/>
                <a:ea typeface="Times New Roman" pitchFamily="34" charset="-122"/>
                <a:cs typeface="Times New Roman" pitchFamily="34" charset="-120"/>
              </a:rPr>
              <a:t>Whichever way the result goes it is useful. If the architectures absorb schwa deletion, nobody needs to write that front end again. If they do not, the field should stop defaulting to character level input for Indic languages.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74552"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Times New Roman" pitchFamily="34" charset="0"/>
                <a:ea typeface="Times New Roman" pitchFamily="34" charset="-122"/>
                <a:cs typeface="Times New Roman" pitchFamily="34" charset="-120"/>
              </a:rPr>
              <a:t>13.  References</a:t>
            </a:r>
            <a:endParaRPr lang="en-US" sz="3000" dirty="0"/>
          </a:p>
        </p:txBody>
      </p:sp>
      <p:sp>
        <p:nvSpPr>
          <p:cNvPr id="3" name="Text 1"/>
          <p:cNvSpPr txBox="1"/>
          <p:nvPr/>
        </p:nvSpPr>
        <p:spPr>
          <a:xfrm>
            <a:off x="777240" y="1188720"/>
            <a:ext cx="10634472" cy="4937760"/>
          </a:xfrm>
          <a:prstGeom prst="rect">
            <a:avLst/>
          </a:prstGeom>
          <a:noFill/>
          <a:ln/>
        </p:spPr>
        <p:txBody>
          <a:bodyPr wrap="square" lIns="0" tIns="0" rIns="0" bIns="0" rtlCol="0" anchor="t"/>
          <a:lstStyle/>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[1]  B. Narasimhan, R. Sproat, G. Kiraz. Schwa-deletion in Hindi text-to-speech synthesis. Int. J. Speech Technology, 2004.</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[2]  A. Arora, L. Gessler, N. Schneider. Supervised G2P conversion of orthographic schwas in Hindi and Punjabi. ACL, 2020.</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[3]  Y. Ren, C. Hu, X. Tan et al. FastSpeech 2: Fast and high-quality end-to-end text to speech. ICLR, 2021.</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[4]  J. Kim, J. Kong, J. Son. Conditional VAE with adversarial learning for end-to-end text-to-speech. ICML, 2021.</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[5]  S. Mehta, R. Tu, J. Beskow et al. Matcha-TTS: A fast TTS architecture with conditional flow matching. ICASSP, 2024.</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[6]  J. Kong, J. Kim, J. Bae. HiFi-GAN: GANs for efficient and high fidelity speech synthesis. NeurIPS, 2020.</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[7]  A. Baby, A. L. Thomas, N. L. Nishanthi et al. Resources for Indian languages. TSD (CBBLR Workshop), 2016.</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[8]  G. K. Kumar, P. S. V., P. Kumar et al. Towards building TTS systems for the next billion users. ICASSP, 2023.</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[9]  A. Sankar, S. Anand, P. Varadhan et al. IndicVoices-R: Unlocking a massive multilingual multi-speaker speech corpus. NeurIPS D&amp;B, 2024.</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[10] V. Pratap, A. Tjandra, B. Shi et al. Scaling speech technology to 1,000+ languages. JMLR, 2024.</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[11] M. Ohala. Hindi. Handbook of the International Phonetic Association, CUP, 1999.</a:t>
            </a:r>
            <a:endParaRPr lang="en-US" sz="1400" dirty="0"/>
          </a:p>
          <a:p>
            <a:pPr indent="0" marL="0">
              <a:lnSpc>
                <a:spcPts val="3000"/>
              </a:lnSpc>
              <a:buNone/>
            </a:pPr>
            <a:r>
              <a:rPr lang="en-US" sz="1400" dirty="0">
                <a:solidFill>
                  <a:srgbClr val="000000"/>
                </a:solidFill>
                <a:latin typeface="Times New Roman" pitchFamily="34" charset="0"/>
                <a:ea typeface="Times New Roman" pitchFamily="34" charset="-122"/>
                <a:cs typeface="Times New Roman" pitchFamily="34" charset="-120"/>
              </a:rPr>
              <a:t>[12] R. V. Dhongde, K. Wali. Marathi. John Benjamins, 2009.</a:t>
            </a:r>
            <a:endParaRPr lang="en-US" sz="1400" dirty="0"/>
          </a:p>
        </p:txBody>
      </p:sp>
      <p:sp>
        <p:nvSpPr>
          <p:cNvPr id="4" name="Text 2"/>
          <p:cNvSpPr txBox="1"/>
          <p:nvPr/>
        </p:nvSpPr>
        <p:spPr>
          <a:xfrm>
            <a:off x="777240" y="6263640"/>
            <a:ext cx="10634472" cy="320040"/>
          </a:xfrm>
          <a:prstGeom prst="rect">
            <a:avLst/>
          </a:prstGeom>
          <a:noFill/>
          <a:ln/>
        </p:spPr>
        <p:txBody>
          <a:bodyPr wrap="square" lIns="0" tIns="0" rIns="0" bIns="0" rtlCol="0" anchor="t"/>
          <a:lstStyle/>
          <a:p>
            <a:pPr algn="l" indent="0" marL="0">
              <a:lnSpc>
                <a:spcPts val="1750"/>
              </a:lnSpc>
              <a:buNone/>
            </a:pPr>
            <a:r>
              <a:rPr lang="en-US" sz="1250" i="1" dirty="0">
                <a:solidFill>
                  <a:srgbClr val="595959"/>
                </a:solidFill>
                <a:latin typeface="Times New Roman" pitchFamily="34" charset="0"/>
                <a:ea typeface="Times New Roman" pitchFamily="34" charset="-122"/>
                <a:cs typeface="Times New Roman" pitchFamily="34" charset="-120"/>
              </a:rPr>
              <a:t>The report carries the full list of 30 references in IEEE style.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Explicit Devanagari G2P Still Matter?</dc:title>
  <dc:subject>PptxGenJS Presentation</dc:subject>
  <dc:creator>Kaustubh Pandey</dc:creator>
  <cp:lastModifiedBy>Kaustubh Pandey</cp:lastModifiedBy>
  <cp:revision>1</cp:revision>
  <dcterms:created xsi:type="dcterms:W3CDTF">2026-09-29T19:31:54Z</dcterms:created>
  <dcterms:modified xsi:type="dcterms:W3CDTF">2026-09-29T19:31:54Z</dcterms:modified>
</cp:coreProperties>
</file>