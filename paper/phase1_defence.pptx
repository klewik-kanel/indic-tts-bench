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two words out loud: namak, namkeen. Say the question once, then move on. Do not read the title slide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 last bullet is the one to say plainly rather than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namak and namkeen out loud. Then the pun, once, and move on quickly. If asked why the rule is not solved: the RULE is well studied; whether a neural model NEEDS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this slide whenever a question drifts. Every design decision exists to keep one of these three comparisons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 it fair to compare an 83M model with an 18M one? Answer: the budget held equal is the TRAINING budget, not the parameter count. Parameter count is part of what an architecture is, and real-time factor is reported for exactly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'has nobody really done this?': be precise. People have compared architectures and people have built Indic systems. Nobody has held everything constant and moved only the input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to expect: how do you KNOW the budgets are identical? assert_budget_matched() runs every time the 17 config files are generated and refuses to write them if any budget field differs. It is an assertion, not a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why Marathi and not Sanskrit? Sanskrit data is gated behind a request with unknown turnaround and was a single point of failure for half the study. Marathi differs in the RULE rather than in the resource level, which is what a control has to do. Dr. Bhatt approved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on the gender inference: 90 Hz and 111 Hz of separation is far wider than any threshold ambiguity, and the p10/p90 spread is recorded so a reader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these. A progress review that lists only completed tasks says nothing about rigour. Volunteering a bug that would have corrupted the headline result is the strongest evidence that the apparatus is being checked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is one seed enough? Answer: no, and I say so. No difference smaller than measured seed variance is reported as a finding. Three seeds throughout is 368 GPU-hours against 136. That is the honest argument for institutional GPU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these. Leave the slide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427"/>
        </a:solidFill>
      </p:bgPr>
    </p:bg>
    <p:spTree>
      <p:nvGrpSpPr>
        <p:cNvPr id="1" name=""/>
        <p:cNvGrpSpPr/>
        <p:nvPr/>
      </p:nvGrpSpPr>
      <p:grpSpPr>
        <a:xfrm>
          <a:off x="0" y="0"/>
          <a:ext cx="0" cy="0"/>
          <a:chOff x="0" y="0"/>
          <a:chExt cx="0" cy="0"/>
        </a:xfrm>
      </p:grpSpPr>
      <p:sp>
        <p:nvSpPr>
          <p:cNvPr id="2" name="Text 0"/>
          <p:cNvSpPr txBox="1"/>
          <p:nvPr/>
        </p:nvSpPr>
        <p:spPr>
          <a:xfrm>
            <a:off x="640080" y="1188720"/>
            <a:ext cx="10515600" cy="274320"/>
          </a:xfrm>
          <a:prstGeom prst="rect">
            <a:avLst/>
          </a:prstGeom>
          <a:noFill/>
          <a:ln/>
        </p:spPr>
        <p:txBody>
          <a:bodyPr wrap="square" lIns="0" tIns="0" rIns="0" bIns="0" rtlCol="0" anchor="ctr"/>
          <a:lstStyle/>
          <a:p>
            <a:pPr indent="0" marL="0">
              <a:buNone/>
            </a:pPr>
            <a:r>
              <a:rPr lang="en-US" sz="1200" b="1" spc="300" kern="0" dirty="0">
                <a:solidFill>
                  <a:srgbClr val="8FB3B5"/>
                </a:solidFill>
                <a:latin typeface="Calibri" pitchFamily="34" charset="0"/>
                <a:ea typeface="Calibri" pitchFamily="34" charset="-122"/>
                <a:cs typeface="Calibri" pitchFamily="34" charset="-120"/>
              </a:rPr>
              <a:t>M.TECH DISSERTATION PHASE-I  ·  PROGRESS EVALUATION</a:t>
            </a:r>
            <a:endParaRPr lang="en-US" sz="1200" dirty="0"/>
          </a:p>
        </p:txBody>
      </p:sp>
      <p:sp>
        <p:nvSpPr>
          <p:cNvPr id="3" name="Text 1"/>
          <p:cNvSpPr txBox="1"/>
          <p:nvPr/>
        </p:nvSpPr>
        <p:spPr>
          <a:xfrm>
            <a:off x="640080" y="1645920"/>
            <a:ext cx="7406640" cy="1463040"/>
          </a:xfrm>
          <a:prstGeom prst="rect">
            <a:avLst/>
          </a:prstGeom>
          <a:noFill/>
          <a:ln/>
        </p:spPr>
        <p:txBody>
          <a:bodyPr wrap="square" lIns="0" tIns="0" rIns="0" bIns="0" rtlCol="0" anchor="t"/>
          <a:lstStyle/>
          <a:p>
            <a:pPr indent="0" marL="0">
              <a:lnSpc>
                <a:spcPts val="3700"/>
              </a:lnSpc>
              <a:buNone/>
            </a:pPr>
            <a:r>
              <a:rPr lang="en-US" sz="2900" b="1" dirty="0">
                <a:solidFill>
                  <a:srgbClr val="FFFFFF"/>
                </a:solidFill>
                <a:latin typeface="Cambria" pitchFamily="34" charset="0"/>
                <a:ea typeface="Cambria" pitchFamily="34" charset="-122"/>
                <a:cs typeface="Cambria" pitchFamily="34" charset="-120"/>
              </a:rPr>
              <a:t>Empirical Benchmarking of Neural Text-to-Speech</a:t>
            </a:r>
            <a:endParaRPr lang="en-US" sz="2900" dirty="0"/>
          </a:p>
          <a:p>
            <a:pPr indent="0" marL="0">
              <a:lnSpc>
                <a:spcPts val="3700"/>
              </a:lnSpc>
              <a:buNone/>
            </a:pPr>
            <a:r>
              <a:rPr lang="en-US" sz="2900" b="1" dirty="0">
                <a:solidFill>
                  <a:srgbClr val="FFFFFF"/>
                </a:solidFill>
                <a:latin typeface="Cambria" pitchFamily="34" charset="0"/>
                <a:ea typeface="Cambria" pitchFamily="34" charset="-122"/>
                <a:cs typeface="Cambria" pitchFamily="34" charset="-120"/>
              </a:rPr>
              <a:t>Architectures for Indic Languages</a:t>
            </a:r>
            <a:endParaRPr lang="en-US" sz="2900" dirty="0"/>
          </a:p>
        </p:txBody>
      </p:sp>
      <p:sp>
        <p:nvSpPr>
          <p:cNvPr id="4" name="Text 2"/>
          <p:cNvSpPr txBox="1"/>
          <p:nvPr/>
        </p:nvSpPr>
        <p:spPr>
          <a:xfrm>
            <a:off x="640080" y="3154680"/>
            <a:ext cx="7406640" cy="685800"/>
          </a:xfrm>
          <a:prstGeom prst="rect">
            <a:avLst/>
          </a:prstGeom>
          <a:noFill/>
          <a:ln/>
        </p:spPr>
        <p:txBody>
          <a:bodyPr wrap="square" lIns="0" tIns="0" rIns="0" bIns="0" rtlCol="0" anchor="t"/>
          <a:lstStyle/>
          <a:p>
            <a:pPr indent="0" marL="0">
              <a:lnSpc>
                <a:spcPts val="2400"/>
              </a:lnSpc>
              <a:buNone/>
            </a:pPr>
            <a:r>
              <a:rPr lang="en-US" sz="1800" i="1" dirty="0">
                <a:solidFill>
                  <a:srgbClr val="C98F79"/>
                </a:solidFill>
                <a:latin typeface="Cambria" pitchFamily="34" charset="0"/>
                <a:ea typeface="Cambria" pitchFamily="34" charset="-122"/>
                <a:cs typeface="Cambria" pitchFamily="34" charset="-120"/>
              </a:rPr>
              <a:t>Does explicit Devanagari grapheme-to-phoneme conversion still matter?</a:t>
            </a:r>
            <a:endParaRPr lang="en-US" sz="1800" dirty="0"/>
          </a:p>
        </p:txBody>
      </p:sp>
      <p:sp>
        <p:nvSpPr>
          <p:cNvPr id="5" name="Text 3"/>
          <p:cNvSpPr txBox="1"/>
          <p:nvPr/>
        </p:nvSpPr>
        <p:spPr>
          <a:xfrm>
            <a:off x="640080" y="4069080"/>
            <a:ext cx="7406640" cy="1828800"/>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Calibri" pitchFamily="34" charset="0"/>
                <a:ea typeface="Calibri" pitchFamily="34" charset="-122"/>
                <a:cs typeface="Calibri" pitchFamily="34" charset="-120"/>
              </a:rPr>
              <a:t>Kaustubh Pandey</a:t>
            </a:r>
            <a:endParaRPr lang="en-US" sz="1600" dirty="0"/>
          </a:p>
          <a:p>
            <a:pPr indent="0" marL="0">
              <a:lnSpc>
                <a:spcPts val="2100"/>
              </a:lnSpc>
              <a:buNone/>
            </a:pPr>
            <a:r>
              <a:rPr lang="en-US" sz="1400" dirty="0">
                <a:solidFill>
                  <a:srgbClr val="A9C3C4"/>
                </a:solidFill>
                <a:latin typeface="Calibri" pitchFamily="34" charset="0"/>
                <a:ea typeface="Calibri" pitchFamily="34" charset="-122"/>
                <a:cs typeface="Calibri" pitchFamily="34" charset="-120"/>
              </a:rPr>
              <a:t>2025PA17326</a:t>
            </a:r>
            <a:endParaRPr lang="en-US" sz="1600" dirty="0"/>
          </a:p>
          <a:p>
            <a:pPr indent="0" marL="0">
              <a:lnSpc>
                <a:spcPts val="2100"/>
              </a:lnSpc>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indent="0" marL="0">
              <a:lnSpc>
                <a:spcPts val="2100"/>
              </a:lnSpc>
              <a:buNone/>
            </a:pPr>
            <a:r>
              <a:rPr lang="en-US" sz="1400" dirty="0">
                <a:solidFill>
                  <a:srgbClr val="A9C3C4"/>
                </a:solidFill>
                <a:latin typeface="Calibri" pitchFamily="34" charset="0"/>
                <a:ea typeface="Calibri" pitchFamily="34" charset="-122"/>
                <a:cs typeface="Calibri" pitchFamily="34" charset="-120"/>
              </a:rPr>
              <a:t>Supervisor: Dr. Shobha Bhatt, Assistant Professor</a:t>
            </a:r>
            <a:endParaRPr lang="en-US" sz="1600" dirty="0"/>
          </a:p>
          <a:p>
            <a:pPr indent="0" marL="0">
              <a:lnSpc>
                <a:spcPts val="2100"/>
              </a:lnSpc>
              <a:buNone/>
            </a:pPr>
            <a:r>
              <a:rPr lang="en-US" sz="1300" dirty="0">
                <a:solidFill>
                  <a:srgbClr val="A9C3C4"/>
                </a:solidFill>
                <a:latin typeface="Calibri" pitchFamily="34" charset="0"/>
                <a:ea typeface="Calibri" pitchFamily="34" charset="-122"/>
                <a:cs typeface="Calibri" pitchFamily="34" charset="-120"/>
              </a:rPr>
              <a:t>Department of Computer Science and Engineering</a:t>
            </a:r>
            <a:endParaRPr lang="en-US" sz="1600" dirty="0"/>
          </a:p>
          <a:p>
            <a:pPr indent="0" marL="0">
              <a:lnSpc>
                <a:spcPts val="2100"/>
              </a:lnSpc>
              <a:buNone/>
            </a:pPr>
            <a:r>
              <a:rPr lang="en-US" sz="1300" dirty="0">
                <a:solidFill>
                  <a:srgbClr val="A9C3C4"/>
                </a:solidFill>
                <a:latin typeface="Calibri" pitchFamily="34" charset="0"/>
                <a:ea typeface="Calibri" pitchFamily="34" charset="-122"/>
                <a:cs typeface="Calibri" pitchFamily="34" charset="-120"/>
              </a:rPr>
              <a:t>Netaji Subhas University of Technology, New Delhi</a:t>
            </a:r>
            <a:endParaRPr lang="en-US" sz="1600" dirty="0"/>
          </a:p>
        </p:txBody>
      </p:sp>
      <p:sp>
        <p:nvSpPr>
          <p:cNvPr id="6" name="Text 4"/>
          <p:cNvSpPr txBox="1"/>
          <p:nvPr/>
        </p:nvSpPr>
        <p:spPr>
          <a:xfrm>
            <a:off x="640080" y="5943600"/>
            <a:ext cx="5486400" cy="457200"/>
          </a:xfrm>
          <a:prstGeom prst="rect">
            <a:avLst/>
          </a:prstGeom>
          <a:noFill/>
          <a:ln/>
        </p:spPr>
        <p:txBody>
          <a:bodyPr wrap="square" lIns="0" tIns="0" rIns="0" bIns="0" rtlCol="0" anchor="ctr"/>
          <a:lstStyle/>
          <a:p>
            <a:pPr indent="0" marL="0">
              <a:buNone/>
            </a:pPr>
            <a:r>
              <a:rPr lang="en-US" sz="1900" i="1" dirty="0">
                <a:solidFill>
                  <a:srgbClr val="B0432A"/>
                </a:solidFill>
                <a:latin typeface="Cambria" pitchFamily="34" charset="0"/>
                <a:ea typeface="Cambria" pitchFamily="34" charset="-122"/>
                <a:cs typeface="Cambria" pitchFamily="34" charset="-120"/>
              </a:rPr>
              <a:t>nəmək   →   nəmkiːn</a:t>
            </a:r>
            <a:endParaRPr lang="en-US" sz="1900" dirty="0"/>
          </a:p>
        </p:txBody>
      </p:sp>
      <p:sp>
        <p:nvSpPr>
          <p:cNvPr id="7" name="Shape 5"/>
          <p:cNvSpPr/>
          <p:nvPr/>
        </p:nvSpPr>
        <p:spPr>
          <a:xfrm>
            <a:off x="8686800" y="1920240"/>
            <a:ext cx="2651760" cy="2651760"/>
          </a:xfrm>
          <a:prstGeom prst="ellipse">
            <a:avLst/>
          </a:prstGeom>
          <a:solidFill>
            <a:srgbClr val="0A2427"/>
          </a:solidFill>
          <a:ln w="19050">
            <a:solidFill>
              <a:srgbClr val="22484C"/>
            </a:solidFill>
            <a:prstDash val="solid"/>
          </a:ln>
        </p:spPr>
      </p:sp>
      <p:sp>
        <p:nvSpPr>
          <p:cNvPr id="8" name="Text 6"/>
          <p:cNvSpPr txBox="1"/>
          <p:nvPr/>
        </p:nvSpPr>
        <p:spPr>
          <a:xfrm>
            <a:off x="8686800" y="1920240"/>
            <a:ext cx="2651760" cy="2651760"/>
          </a:xfrm>
          <a:prstGeom prst="rect">
            <a:avLst/>
          </a:prstGeom>
          <a:noFill/>
          <a:ln/>
        </p:spPr>
        <p:txBody>
          <a:bodyPr wrap="square" lIns="0" tIns="0" rIns="0" bIns="0" rtlCol="0" anchor="ctr"/>
          <a:lstStyle/>
          <a:p>
            <a:pPr algn="ctr" indent="0" marL="0">
              <a:buNone/>
            </a:pPr>
            <a:r>
              <a:rPr lang="en-US" sz="8800" dirty="0">
                <a:solidFill>
                  <a:srgbClr val="1C4A4E"/>
                </a:solidFill>
                <a:latin typeface="Cambria" pitchFamily="34" charset="0"/>
                <a:ea typeface="Cambria" pitchFamily="34" charset="-122"/>
                <a:cs typeface="Cambria" pitchFamily="34" charset="-120"/>
              </a:rPr>
              <a:t>ə</a:t>
            </a:r>
            <a:endParaRPr lang="en-US" sz="8800" dirty="0"/>
          </a:p>
        </p:txBody>
      </p:sp>
      <p:sp>
        <p:nvSpPr>
          <p:cNvPr id="9" name="Text 7"/>
          <p:cNvSpPr txBox="1"/>
          <p:nvPr/>
        </p:nvSpPr>
        <p:spPr>
          <a:xfrm>
            <a:off x="8686800" y="4754880"/>
            <a:ext cx="2651760" cy="365760"/>
          </a:xfrm>
          <a:prstGeom prst="rect">
            <a:avLst/>
          </a:prstGeom>
          <a:noFill/>
          <a:ln/>
        </p:spPr>
        <p:txBody>
          <a:bodyPr wrap="square" lIns="0" tIns="0" rIns="0" bIns="0" rtlCol="0" anchor="ctr"/>
          <a:lstStyle/>
          <a:p>
            <a:pPr algn="ctr" indent="0" marL="0">
              <a:buNone/>
            </a:pPr>
            <a:r>
              <a:rPr lang="en-US" sz="1200" i="1" dirty="0">
                <a:solidFill>
                  <a:srgbClr val="6E9295"/>
                </a:solidFill>
                <a:latin typeface="Calibri" pitchFamily="34" charset="0"/>
                <a:ea typeface="Calibri" pitchFamily="34" charset="-122"/>
                <a:cs typeface="Calibri" pitchFamily="34" charset="-120"/>
              </a:rPr>
              <a:t>the vowel nobody writes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Abstract</a:t>
            </a:r>
            <a:endParaRPr lang="en-US" sz="2700" dirty="0"/>
          </a:p>
        </p:txBody>
      </p:sp>
      <p:sp>
        <p:nvSpPr>
          <p:cNvPr id="5" name="Text 3"/>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2</a:t>
            </a:r>
            <a:endParaRPr lang="en-US" sz="1100" dirty="0"/>
          </a:p>
        </p:txBody>
      </p:sp>
      <p:sp>
        <p:nvSpPr>
          <p:cNvPr id="6" name="Shape 4"/>
          <p:cNvSpPr/>
          <p:nvPr/>
        </p:nvSpPr>
        <p:spPr>
          <a:xfrm>
            <a:off x="640080" y="1417320"/>
            <a:ext cx="10881360" cy="1965960"/>
          </a:xfrm>
          <a:prstGeom prst="roundRect">
            <a:avLst>
              <a:gd name="adj" fmla="val 2791"/>
            </a:avLst>
          </a:prstGeom>
          <a:solidFill>
            <a:srgbClr val="F6EAE6"/>
          </a:solidFill>
          <a:ln w="9525">
            <a:solidFill>
              <a:srgbClr val="B0432A"/>
            </a:solidFill>
            <a:prstDash val="solid"/>
          </a:ln>
        </p:spPr>
      </p:sp>
      <p:sp>
        <p:nvSpPr>
          <p:cNvPr id="7" name="Text 5"/>
          <p:cNvSpPr txBox="1"/>
          <p:nvPr/>
        </p:nvSpPr>
        <p:spPr>
          <a:xfrm>
            <a:off x="1005840" y="1691640"/>
            <a:ext cx="10149840" cy="1463040"/>
          </a:xfrm>
          <a:prstGeom prst="rect">
            <a:avLst/>
          </a:prstGeom>
          <a:noFill/>
          <a:ln/>
        </p:spPr>
        <p:txBody>
          <a:bodyPr wrap="square" lIns="0" tIns="0" rIns="0" bIns="0" rtlCol="0" anchor="t"/>
          <a:lstStyle/>
          <a:p>
            <a:pPr indent="0" marL="0">
              <a:lnSpc>
                <a:spcPts val="2700"/>
              </a:lnSpc>
              <a:buNone/>
            </a:pPr>
            <a:r>
              <a:rPr lang="en-US" sz="1800" dirty="0">
                <a:solidFill>
                  <a:srgbClr val="5A2A1C"/>
                </a:solidFill>
                <a:latin typeface="Cambria" pitchFamily="34" charset="0"/>
                <a:ea typeface="Cambria" pitchFamily="34" charset="-122"/>
                <a:cs typeface="Cambria" pitchFamily="34" charset="-120"/>
              </a:rPr>
              <a:t>Hindi deletes many of the unwritten vowels Devanagari implies, and keeps others. The spelling does not say which. This study measures whether a neural TTS model still needs an explicit grapheme-to-phoneme front end to get that right, or learns it from audio.</a:t>
            </a:r>
            <a:endParaRPr lang="en-US" sz="1800" dirty="0"/>
          </a:p>
        </p:txBody>
      </p:sp>
      <p:sp>
        <p:nvSpPr>
          <p:cNvPr id="8" name="Text 6"/>
          <p:cNvSpPr txBox="1"/>
          <p:nvPr/>
        </p:nvSpPr>
        <p:spPr>
          <a:xfrm>
            <a:off x="731520" y="3611880"/>
            <a:ext cx="10607040" cy="2926080"/>
          </a:xfrm>
          <a:prstGeom prst="rect">
            <a:avLst/>
          </a:prstGeom>
          <a:noFill/>
          <a:ln/>
        </p:spPr>
        <p:txBody>
          <a:bodyPr wrap="square" lIns="0" tIns="0" rIns="0" bIns="0" rtlCol="0" anchor="t"/>
          <a:lstStyle/>
          <a:p>
            <a:pPr marL="342900" indent="-342900">
              <a:lnSpc>
                <a:spcPts val="2310"/>
              </a:lnSpc>
              <a:spcAft>
                <a:spcPts val="900"/>
              </a:spcAft>
              <a:buSzPct val="100000"/>
              <a:buChar char="•"/>
            </a:pPr>
            <a:r>
              <a:rPr lang="en-US" sz="1650" dirty="0">
                <a:solidFill>
                  <a:srgbClr val="23303A"/>
                </a:solidFill>
                <a:latin typeface="Calibri" pitchFamily="34" charset="0"/>
                <a:ea typeface="Calibri" pitchFamily="34" charset="-122"/>
                <a:cs typeface="Calibri" pitchFamily="34" charset="-120"/>
              </a:rPr>
              <a:t>Three architectures from three generative families: FastSpeech 2, VITS, Matcha-TTS</a:t>
            </a:r>
            <a:endParaRPr lang="en-US" sz="1650" dirty="0"/>
          </a:p>
          <a:p>
            <a:pPr marL="342900" indent="-342900">
              <a:lnSpc>
                <a:spcPts val="2310"/>
              </a:lnSpc>
              <a:spcAft>
                <a:spcPts val="900"/>
              </a:spcAft>
              <a:buSzPct val="100000"/>
              <a:buChar char="•"/>
            </a:pPr>
            <a:r>
              <a:rPr lang="en-US" sz="1650" dirty="0">
                <a:solidFill>
                  <a:srgbClr val="23303A"/>
                </a:solidFill>
                <a:latin typeface="Calibri" pitchFamily="34" charset="0"/>
                <a:ea typeface="Calibri" pitchFamily="34" charset="-122"/>
                <a:cs typeface="Calibri" pitchFamily="34" charset="-120"/>
              </a:rPr>
              <a:t>Two input arms, phonemic and graphemic, under a provably identical training budget</a:t>
            </a:r>
            <a:endParaRPr lang="en-US" sz="1650" dirty="0"/>
          </a:p>
          <a:p>
            <a:pPr marL="342900" indent="-342900">
              <a:lnSpc>
                <a:spcPts val="2310"/>
              </a:lnSpc>
              <a:spcAft>
                <a:spcPts val="900"/>
              </a:spcAft>
              <a:buSzPct val="100000"/>
              <a:buChar char="•"/>
            </a:pPr>
            <a:r>
              <a:rPr lang="en-US" sz="1650" dirty="0">
                <a:solidFill>
                  <a:srgbClr val="23303A"/>
                </a:solidFill>
                <a:latin typeface="Calibri" pitchFamily="34" charset="0"/>
                <a:ea typeface="Calibri" pitchFamily="34" charset="-122"/>
                <a:cs typeface="Calibri" pitchFamily="34" charset="-120"/>
              </a:rPr>
              <a:t>A nested data ladder from 9 hours down to 10 minutes</a:t>
            </a:r>
            <a:endParaRPr lang="en-US" sz="1650" dirty="0"/>
          </a:p>
          <a:p>
            <a:pPr marL="342900" indent="-342900">
              <a:lnSpc>
                <a:spcPts val="2310"/>
              </a:lnSpc>
              <a:spcAft>
                <a:spcPts val="900"/>
              </a:spcAft>
              <a:buSzPct val="100000"/>
              <a:buChar char="•"/>
            </a:pPr>
            <a:r>
              <a:rPr lang="en-US" sz="1650" dirty="0">
                <a:solidFill>
                  <a:srgbClr val="23303A"/>
                </a:solidFill>
                <a:latin typeface="Calibri" pitchFamily="34" charset="0"/>
                <a:ea typeface="Calibri" pitchFamily="34" charset="-122"/>
                <a:cs typeface="Calibri" pitchFamily="34" charset="-120"/>
              </a:rPr>
              <a:t>Marathi as a same-script control: same script, no medial schwa deletion</a:t>
            </a:r>
            <a:endParaRPr lang="en-US" sz="1650" dirty="0"/>
          </a:p>
          <a:p>
            <a:pPr marL="342900" indent="-342900">
              <a:lnSpc>
                <a:spcPts val="2310"/>
              </a:lnSpc>
              <a:spcAft>
                <a:spcPts val="900"/>
              </a:spcAft>
              <a:buSzPct val="100000"/>
              <a:buChar char="•"/>
            </a:pPr>
            <a:r>
              <a:rPr lang="en-US" sz="1650" dirty="0">
                <a:solidFill>
                  <a:srgbClr val="23303A"/>
                </a:solidFill>
                <a:latin typeface="Calibri" pitchFamily="34" charset="0"/>
                <a:ea typeface="Calibri" pitchFamily="34" charset="-122"/>
                <a:cs typeface="Calibri" pitchFamily="34" charset="-120"/>
              </a:rPr>
              <a:t>This report covers the preparatory phase, which is complete. Nothing is trained yet.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Introduction and motivation</a:t>
            </a:r>
            <a:endParaRPr lang="en-US" sz="2700" dirty="0"/>
          </a:p>
        </p:txBody>
      </p:sp>
      <p:sp>
        <p:nvSpPr>
          <p:cNvPr id="5" name="Text 3"/>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3</a:t>
            </a:r>
            <a:endParaRPr lang="en-US" sz="1100" dirty="0"/>
          </a:p>
        </p:txBody>
      </p:sp>
      <p:pic>
        <p:nvPicPr>
          <p:cNvPr id="6" name="Image 0" descr="figs_deck/deck_derivation.png">    </p:cNvPr>
          <p:cNvPicPr>
            <a:picLocks noChangeAspect="1"/>
          </p:cNvPicPr>
          <p:nvPr/>
        </p:nvPicPr>
        <p:blipFill>
          <a:blip r:embed="rId1"/>
          <a:stretch>
            <a:fillRect/>
          </a:stretch>
        </p:blipFill>
        <p:spPr>
          <a:xfrm>
            <a:off x="640080" y="1417320"/>
            <a:ext cx="5852160" cy="3019715"/>
          </a:xfrm>
          <a:prstGeom prst="rect">
            <a:avLst/>
          </a:prstGeom>
        </p:spPr>
      </p:pic>
      <p:sp>
        <p:nvSpPr>
          <p:cNvPr id="7" name="Text 4"/>
          <p:cNvSpPr txBox="1"/>
          <p:nvPr/>
        </p:nvSpPr>
        <p:spPr>
          <a:xfrm>
            <a:off x="640080" y="4754880"/>
            <a:ext cx="5852160" cy="640080"/>
          </a:xfrm>
          <a:prstGeom prst="rect">
            <a:avLst/>
          </a:prstGeom>
          <a:noFill/>
          <a:ln/>
        </p:spPr>
        <p:txBody>
          <a:bodyPr wrap="square" lIns="0" tIns="0" rIns="0" bIns="0" rtlCol="0" anchor="t"/>
          <a:lstStyle/>
          <a:p>
            <a:pPr indent="0" marL="0">
              <a:lnSpc>
                <a:spcPts val="1900"/>
              </a:lnSpc>
              <a:buNone/>
            </a:pPr>
            <a:r>
              <a:rPr lang="en-US" sz="1350" i="1" dirty="0">
                <a:solidFill>
                  <a:srgbClr val="5D666E"/>
                </a:solidFill>
                <a:latin typeface="Calibri" pitchFamily="34" charset="0"/>
                <a:ea typeface="Calibri" pitchFamily="34" charset="-122"/>
                <a:cs typeface="Calibri" pitchFamily="34" charset="-120"/>
              </a:rPr>
              <a:t>The first three letters are identical. The pronunciation of the second one is not, and nothing in the spelling says so.</a:t>
            </a:r>
            <a:endParaRPr lang="en-US" sz="1350" dirty="0"/>
          </a:p>
        </p:txBody>
      </p:sp>
      <p:sp>
        <p:nvSpPr>
          <p:cNvPr id="8" name="Text 5"/>
          <p:cNvSpPr txBox="1"/>
          <p:nvPr/>
        </p:nvSpPr>
        <p:spPr>
          <a:xfrm>
            <a:off x="640080" y="5440680"/>
            <a:ext cx="5852160" cy="914400"/>
          </a:xfrm>
          <a:prstGeom prst="rect">
            <a:avLst/>
          </a:prstGeom>
          <a:noFill/>
          <a:ln/>
        </p:spPr>
        <p:txBody>
          <a:bodyPr wrap="square" lIns="0" tIns="0" rIns="0" bIns="0" rtlCol="0" anchor="t"/>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Marathi is written in the same script and shares almost all of Hindi's phone inventory, but does not apply the medial rule. That is what makes it a control rather than a second target language.</a:t>
            </a:r>
            <a:endParaRPr lang="en-US" sz="1300" dirty="0"/>
          </a:p>
        </p:txBody>
      </p:sp>
      <p:sp>
        <p:nvSpPr>
          <p:cNvPr id="9" name="Text 6"/>
          <p:cNvSpPr txBox="1"/>
          <p:nvPr/>
        </p:nvSpPr>
        <p:spPr>
          <a:xfrm>
            <a:off x="6858000" y="1325880"/>
            <a:ext cx="4754880" cy="310896"/>
          </a:xfrm>
          <a:prstGeom prst="rect">
            <a:avLst/>
          </a:prstGeom>
          <a:noFill/>
          <a:ln/>
        </p:spPr>
        <p:txBody>
          <a:bodyPr wrap="square" lIns="0" tIns="0" rIns="0" bIns="0" rtlCol="0" anchor="t"/>
          <a:lstStyle/>
          <a:p>
            <a:pPr indent="0" marL="0">
              <a:buNone/>
            </a:pPr>
            <a:r>
              <a:rPr lang="en-US" sz="1700" b="1" dirty="0">
                <a:solidFill>
                  <a:srgbClr val="13383B"/>
                </a:solidFill>
                <a:latin typeface="Cambria" pitchFamily="34" charset="0"/>
                <a:ea typeface="Cambria" pitchFamily="34" charset="-122"/>
                <a:cs typeface="Cambria" pitchFamily="34" charset="-120"/>
              </a:rPr>
              <a:t>Two words, one problem</a:t>
            </a:r>
            <a:endParaRPr lang="en-US" sz="1700" dirty="0"/>
          </a:p>
        </p:txBody>
      </p:sp>
      <p:sp>
        <p:nvSpPr>
          <p:cNvPr id="10" name="Text 7"/>
          <p:cNvSpPr txBox="1"/>
          <p:nvPr/>
        </p:nvSpPr>
        <p:spPr>
          <a:xfrm>
            <a:off x="6858000" y="1828800"/>
            <a:ext cx="4663440" cy="2194560"/>
          </a:xfrm>
          <a:prstGeom prst="rect">
            <a:avLst/>
          </a:prstGeom>
          <a:noFill/>
          <a:ln/>
        </p:spPr>
        <p:txBody>
          <a:bodyPr wrap="square" lIns="0" tIns="0" rIns="0" bIns="0" rtlCol="0" anchor="t"/>
          <a:lstStyle/>
          <a:p>
            <a:pPr marL="342900" indent="-342900">
              <a:lnSpc>
                <a:spcPts val="1890"/>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Devanagari is an abugida: every consonant carries an unwritten schwa</a:t>
            </a:r>
            <a:endParaRPr lang="en-US" sz="1350" dirty="0"/>
          </a:p>
          <a:p>
            <a:pPr marL="342900" indent="-342900">
              <a:lnSpc>
                <a:spcPts val="1890"/>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The rule since Narasimhan, Sproat and Kiraz (2004): delete a schwa in V C _ C V, right to left</a:t>
            </a:r>
            <a:endParaRPr lang="en-US" sz="1350" dirty="0"/>
          </a:p>
          <a:p>
            <a:pPr marL="342900" indent="-342900">
              <a:lnSpc>
                <a:spcPts val="1890"/>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Accurate, not perfect. Errors cluster at morpheme boundaries and in loanwords</a:t>
            </a:r>
            <a:endParaRPr lang="en-US" sz="1350" dirty="0"/>
          </a:p>
        </p:txBody>
      </p:sp>
      <p:sp>
        <p:nvSpPr>
          <p:cNvPr id="11" name="Shape 8"/>
          <p:cNvSpPr/>
          <p:nvPr/>
        </p:nvSpPr>
        <p:spPr>
          <a:xfrm>
            <a:off x="6858000" y="4160520"/>
            <a:ext cx="4663440" cy="1828800"/>
          </a:xfrm>
          <a:prstGeom prst="roundRect">
            <a:avLst>
              <a:gd name="adj" fmla="val 3000"/>
            </a:avLst>
          </a:prstGeom>
          <a:solidFill>
            <a:srgbClr val="F6EAE6"/>
          </a:solidFill>
          <a:ln w="9525">
            <a:solidFill>
              <a:srgbClr val="B0432A"/>
            </a:solidFill>
            <a:prstDash val="solid"/>
          </a:ln>
        </p:spPr>
      </p:sp>
      <p:sp>
        <p:nvSpPr>
          <p:cNvPr id="12" name="Text 9"/>
          <p:cNvSpPr txBox="1"/>
          <p:nvPr/>
        </p:nvSpPr>
        <p:spPr>
          <a:xfrm>
            <a:off x="7132320" y="4343400"/>
            <a:ext cx="4114800" cy="411480"/>
          </a:xfrm>
          <a:prstGeom prst="rect">
            <a:avLst/>
          </a:prstGeom>
          <a:noFill/>
          <a:ln/>
        </p:spPr>
        <p:txBody>
          <a:bodyPr wrap="square" lIns="0" tIns="0" rIns="0" bIns="0" rtlCol="0" anchor="t"/>
          <a:lstStyle/>
          <a:p>
            <a:pPr indent="0" marL="0">
              <a:buNone/>
            </a:pPr>
            <a:r>
              <a:rPr lang="en-US" sz="1900" b="1" dirty="0">
                <a:solidFill>
                  <a:srgbClr val="B0432A"/>
                </a:solidFill>
                <a:latin typeface="Cambria" pitchFamily="34" charset="0"/>
                <a:ea typeface="Cambria" pitchFamily="34" charset="-122"/>
                <a:cs typeface="Cambria" pitchFamily="34" charset="-120"/>
              </a:rPr>
              <a:t>2 बी G2P or not 2 बी?</a:t>
            </a:r>
            <a:endParaRPr lang="en-US" sz="1900" dirty="0"/>
          </a:p>
        </p:txBody>
      </p:sp>
      <p:sp>
        <p:nvSpPr>
          <p:cNvPr id="13" name="Text 10"/>
          <p:cNvSpPr txBox="1"/>
          <p:nvPr/>
        </p:nvSpPr>
        <p:spPr>
          <a:xfrm>
            <a:off x="7132320" y="4846320"/>
            <a:ext cx="4114800" cy="1005840"/>
          </a:xfrm>
          <a:prstGeom prst="rect">
            <a:avLst/>
          </a:prstGeom>
          <a:noFill/>
          <a:ln/>
        </p:spPr>
        <p:txBody>
          <a:bodyPr wrap="square" lIns="0" tIns="0" rIns="0" bIns="0" rtlCol="0" anchor="t"/>
          <a:lstStyle/>
          <a:p>
            <a:pPr indent="0" marL="0">
              <a:lnSpc>
                <a:spcPts val="1700"/>
              </a:lnSpc>
              <a:buNone/>
            </a:pPr>
            <a:r>
              <a:rPr lang="en-US" sz="1250" dirty="0">
                <a:solidFill>
                  <a:srgbClr val="5A2A1C"/>
                </a:solidFill>
                <a:latin typeface="Calibri" pitchFamily="34" charset="0"/>
                <a:ea typeface="Calibri" pitchFamily="34" charset="-122"/>
                <a:cs typeface="Calibri" pitchFamily="34" charset="-120"/>
              </a:rPr>
              <a:t>Purists build the full front end. Modernists feed raw Devanagari in and assume the model learns zero duration schwas by itself. Nobody has umpired the argument.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383B"/>
        </a:solidFill>
      </p:bgPr>
    </p:bg>
    <p:spTree>
      <p:nvGrpSpPr>
        <p:cNvPr id="1" name=""/>
        <p:cNvGrpSpPr/>
        <p:nvPr/>
      </p:nvGrpSpPr>
      <p:grpSpPr>
        <a:xfrm>
          <a:off x="0" y="0"/>
          <a:ext cx="0" cy="0"/>
          <a:chOff x="0" y="0"/>
          <a:chExt cx="0" cy="0"/>
        </a:xfrm>
      </p:grpSpPr>
      <p:sp>
        <p:nvSpPr>
          <p:cNvPr id="2" name="Text 0"/>
          <p:cNvSpPr txBox="1"/>
          <p:nvPr/>
        </p:nvSpPr>
        <p:spPr>
          <a:xfrm>
            <a:off x="640080" y="731520"/>
            <a:ext cx="10058400" cy="274320"/>
          </a:xfrm>
          <a:prstGeom prst="rect">
            <a:avLst/>
          </a:prstGeom>
          <a:noFill/>
          <a:ln/>
        </p:spPr>
        <p:txBody>
          <a:bodyPr wrap="square" lIns="0" tIns="0" rIns="0" bIns="0" rtlCol="0" anchor="ctr"/>
          <a:lstStyle/>
          <a:p>
            <a:pPr indent="0" marL="0">
              <a:buNone/>
            </a:pPr>
            <a:r>
              <a:rPr lang="en-US" sz="1200" b="1" spc="300" kern="0" dirty="0">
                <a:solidFill>
                  <a:srgbClr val="8FB3B5"/>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640080" y="1188720"/>
            <a:ext cx="10881360" cy="1371600"/>
          </a:xfrm>
          <a:prstGeom prst="rect">
            <a:avLst/>
          </a:prstGeom>
          <a:noFill/>
          <a:ln/>
        </p:spPr>
        <p:txBody>
          <a:bodyPr wrap="square" lIns="0" tIns="0" rIns="0" bIns="0" rtlCol="0" anchor="t"/>
          <a:lstStyle/>
          <a:p>
            <a:pPr indent="0" marL="0">
              <a:lnSpc>
                <a:spcPts val="3400"/>
              </a:lnSpc>
              <a:buNone/>
            </a:pPr>
            <a:r>
              <a:rPr lang="en-US" sz="2500" b="1" dirty="0">
                <a:solidFill>
                  <a:srgbClr val="FFFFFF"/>
                </a:solidFill>
                <a:latin typeface="Cambria" pitchFamily="34" charset="0"/>
                <a:ea typeface="Cambria" pitchFamily="34" charset="-122"/>
                <a:cs typeface="Cambria" pitchFamily="34" charset="-120"/>
              </a:rPr>
              <a:t>Holding training budget, evaluation protocol and speaker fixed, does phonemic input from an explicit Devanagari G2P front end improve neural TTS quality in Hindi relative to raw grapheme input?</a:t>
            </a:r>
            <a:endParaRPr lang="en-US" sz="2500" dirty="0"/>
          </a:p>
        </p:txBody>
      </p:sp>
      <p:sp>
        <p:nvSpPr>
          <p:cNvPr id="4" name="Text 2"/>
          <p:cNvSpPr txBox="1"/>
          <p:nvPr/>
        </p:nvSpPr>
        <p:spPr>
          <a:xfrm>
            <a:off x="640080" y="2880360"/>
            <a:ext cx="5120640" cy="38404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Does it depend on the architecture?</a:t>
            </a:r>
            <a:endParaRPr lang="en-US" sz="1500" dirty="0"/>
          </a:p>
        </p:txBody>
      </p:sp>
      <p:sp>
        <p:nvSpPr>
          <p:cNvPr id="5" name="Text 3"/>
          <p:cNvSpPr txBox="1"/>
          <p:nvPr/>
        </p:nvSpPr>
        <p:spPr>
          <a:xfrm>
            <a:off x="6035040" y="2880360"/>
            <a:ext cx="5486400" cy="384048"/>
          </a:xfrm>
          <a:prstGeom prst="rect">
            <a:avLst/>
          </a:prstGeom>
          <a:noFill/>
          <a:ln/>
        </p:spPr>
        <p:txBody>
          <a:bodyPr wrap="square" lIns="0" tIns="0" rIns="0" bIns="0" rtlCol="0" anchor="t"/>
          <a:lstStyle/>
          <a:p>
            <a:pPr indent="0" marL="0">
              <a:buNone/>
            </a:pPr>
            <a:r>
              <a:rPr lang="en-US" sz="1400" dirty="0">
                <a:solidFill>
                  <a:srgbClr val="9FBEC0"/>
                </a:solidFill>
                <a:latin typeface="Calibri" pitchFamily="34" charset="0"/>
                <a:ea typeface="Calibri" pitchFamily="34" charset="-122"/>
                <a:cs typeface="Calibri" pitchFamily="34" charset="-120"/>
              </a:rPr>
              <a:t>FastSpeech 2  ·  VITS  ·  Matcha-TTS</a:t>
            </a:r>
            <a:endParaRPr lang="en-US" sz="1400" dirty="0"/>
          </a:p>
        </p:txBody>
      </p:sp>
      <p:sp>
        <p:nvSpPr>
          <p:cNvPr id="6" name="Text 4"/>
          <p:cNvSpPr txBox="1"/>
          <p:nvPr/>
        </p:nvSpPr>
        <p:spPr>
          <a:xfrm>
            <a:off x="640080" y="3447288"/>
            <a:ext cx="5120640" cy="38404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Does it survive less data?</a:t>
            </a:r>
            <a:endParaRPr lang="en-US" sz="1500" dirty="0"/>
          </a:p>
        </p:txBody>
      </p:sp>
      <p:sp>
        <p:nvSpPr>
          <p:cNvPr id="7" name="Text 5"/>
          <p:cNvSpPr txBox="1"/>
          <p:nvPr/>
        </p:nvSpPr>
        <p:spPr>
          <a:xfrm>
            <a:off x="6035040" y="3447288"/>
            <a:ext cx="5486400" cy="384048"/>
          </a:xfrm>
          <a:prstGeom prst="rect">
            <a:avLst/>
          </a:prstGeom>
          <a:noFill/>
          <a:ln/>
        </p:spPr>
        <p:txBody>
          <a:bodyPr wrap="square" lIns="0" tIns="0" rIns="0" bIns="0" rtlCol="0" anchor="t"/>
          <a:lstStyle/>
          <a:p>
            <a:pPr indent="0" marL="0">
              <a:buNone/>
            </a:pPr>
            <a:r>
              <a:rPr lang="en-US" sz="1400" dirty="0">
                <a:solidFill>
                  <a:srgbClr val="9FBEC0"/>
                </a:solidFill>
                <a:latin typeface="Calibri" pitchFamily="34" charset="0"/>
                <a:ea typeface="Calibri" pitchFamily="34" charset="-122"/>
                <a:cs typeface="Calibri" pitchFamily="34" charset="-120"/>
              </a:rPr>
              <a:t>9 h → 5 h → 1 h → 30 min → 10 min</a:t>
            </a:r>
            <a:endParaRPr lang="en-US" sz="1400" dirty="0"/>
          </a:p>
        </p:txBody>
      </p:sp>
      <p:sp>
        <p:nvSpPr>
          <p:cNvPr id="8" name="Text 6"/>
          <p:cNvSpPr txBox="1"/>
          <p:nvPr/>
        </p:nvSpPr>
        <p:spPr>
          <a:xfrm>
            <a:off x="640080" y="4014216"/>
            <a:ext cx="5120640" cy="38404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Is it schwa, or is it script?</a:t>
            </a:r>
            <a:endParaRPr lang="en-US" sz="1500" dirty="0"/>
          </a:p>
        </p:txBody>
      </p:sp>
      <p:sp>
        <p:nvSpPr>
          <p:cNvPr id="9" name="Text 7"/>
          <p:cNvSpPr txBox="1"/>
          <p:nvPr/>
        </p:nvSpPr>
        <p:spPr>
          <a:xfrm>
            <a:off x="6035040" y="4014216"/>
            <a:ext cx="5486400" cy="384048"/>
          </a:xfrm>
          <a:prstGeom prst="rect">
            <a:avLst/>
          </a:prstGeom>
          <a:noFill/>
          <a:ln/>
        </p:spPr>
        <p:txBody>
          <a:bodyPr wrap="square" lIns="0" tIns="0" rIns="0" bIns="0" rtlCol="0" anchor="t"/>
          <a:lstStyle/>
          <a:p>
            <a:pPr indent="0" marL="0">
              <a:buNone/>
            </a:pPr>
            <a:r>
              <a:rPr lang="en-US" sz="1400" dirty="0">
                <a:solidFill>
                  <a:srgbClr val="9FBEC0"/>
                </a:solidFill>
                <a:latin typeface="Calibri" pitchFamily="34" charset="0"/>
                <a:ea typeface="Calibri" pitchFamily="34" charset="-122"/>
                <a:cs typeface="Calibri" pitchFamily="34" charset="-120"/>
              </a:rPr>
              <a:t>Marathi control: same script, no medial rule</a:t>
            </a:r>
            <a:endParaRPr lang="en-US" sz="1400" dirty="0"/>
          </a:p>
        </p:txBody>
      </p:sp>
      <p:sp>
        <p:nvSpPr>
          <p:cNvPr id="10" name="Text 8"/>
          <p:cNvSpPr txBox="1"/>
          <p:nvPr/>
        </p:nvSpPr>
        <p:spPr>
          <a:xfrm>
            <a:off x="640080" y="4754880"/>
            <a:ext cx="10058400" cy="274320"/>
          </a:xfrm>
          <a:prstGeom prst="rect">
            <a:avLst/>
          </a:prstGeom>
          <a:noFill/>
          <a:ln/>
        </p:spPr>
        <p:txBody>
          <a:bodyPr wrap="square" lIns="0" tIns="0" rIns="0" bIns="0" rtlCol="0" anchor="ctr"/>
          <a:lstStyle/>
          <a:p>
            <a:pPr indent="0" marL="0">
              <a:buNone/>
            </a:pPr>
            <a:r>
              <a:rPr lang="en-US" sz="1200" b="1" spc="300" kern="0" dirty="0">
                <a:solidFill>
                  <a:srgbClr val="8FB3B5"/>
                </a:solidFill>
                <a:latin typeface="Calibri" pitchFamily="34" charset="0"/>
                <a:ea typeface="Calibri" pitchFamily="34" charset="-122"/>
                <a:cs typeface="Calibri" pitchFamily="34" charset="-120"/>
              </a:rPr>
              <a:t>OBJECTIVES</a:t>
            </a:r>
            <a:endParaRPr lang="en-US" sz="1200" dirty="0"/>
          </a:p>
        </p:txBody>
      </p:sp>
      <p:sp>
        <p:nvSpPr>
          <p:cNvPr id="11" name="Shape 9"/>
          <p:cNvSpPr/>
          <p:nvPr/>
        </p:nvSpPr>
        <p:spPr>
          <a:xfrm>
            <a:off x="640080" y="5166360"/>
            <a:ext cx="2560320" cy="1051560"/>
          </a:xfrm>
          <a:prstGeom prst="roundRect">
            <a:avLst>
              <a:gd name="adj" fmla="val 5217"/>
            </a:avLst>
          </a:prstGeom>
          <a:solidFill>
            <a:srgbClr val="1C4A4E"/>
          </a:solidFill>
          <a:ln w="9525">
            <a:solidFill>
              <a:srgbClr val="2E6A6E"/>
            </a:solidFill>
            <a:prstDash val="solid"/>
          </a:ln>
        </p:spPr>
      </p:sp>
      <p:sp>
        <p:nvSpPr>
          <p:cNvPr id="12" name="Text 10"/>
          <p:cNvSpPr txBox="1"/>
          <p:nvPr/>
        </p:nvSpPr>
        <p:spPr>
          <a:xfrm>
            <a:off x="822960" y="5285232"/>
            <a:ext cx="548640" cy="274320"/>
          </a:xfrm>
          <a:prstGeom prst="rect">
            <a:avLst/>
          </a:prstGeom>
          <a:noFill/>
          <a:ln/>
        </p:spPr>
        <p:txBody>
          <a:bodyPr wrap="square" lIns="0" tIns="0" rIns="0" bIns="0" rtlCol="0" anchor="t"/>
          <a:lstStyle/>
          <a:p>
            <a:pPr indent="0" marL="0">
              <a:buNone/>
            </a:pPr>
            <a:r>
              <a:rPr lang="en-US" sz="1300" b="1" dirty="0">
                <a:solidFill>
                  <a:srgbClr val="C98F79"/>
                </a:solidFill>
                <a:latin typeface="Cambria" pitchFamily="34" charset="0"/>
                <a:ea typeface="Cambria" pitchFamily="34" charset="-122"/>
                <a:cs typeface="Cambria" pitchFamily="34" charset="-120"/>
              </a:rPr>
              <a:t>O1</a:t>
            </a:r>
            <a:endParaRPr lang="en-US" sz="1300" dirty="0"/>
          </a:p>
        </p:txBody>
      </p:sp>
      <p:sp>
        <p:nvSpPr>
          <p:cNvPr id="13" name="Text 11"/>
          <p:cNvSpPr txBox="1"/>
          <p:nvPr/>
        </p:nvSpPr>
        <p:spPr>
          <a:xfrm>
            <a:off x="822960" y="5577840"/>
            <a:ext cx="2240280" cy="594360"/>
          </a:xfrm>
          <a:prstGeom prst="rect">
            <a:avLst/>
          </a:prstGeom>
          <a:noFill/>
          <a:ln/>
        </p:spPr>
        <p:txBody>
          <a:bodyPr wrap="square" lIns="0" tIns="0" rIns="0" bIns="0" rtlCol="0" anchor="t"/>
          <a:lstStyle/>
          <a:p>
            <a:pPr indent="0" marL="0">
              <a:lnSpc>
                <a:spcPts val="1500"/>
              </a:lnSpc>
              <a:buNone/>
            </a:pPr>
            <a:r>
              <a:rPr lang="en-US" sz="1150" dirty="0">
                <a:solidFill>
                  <a:srgbClr val="D5E3E4"/>
                </a:solidFill>
                <a:latin typeface="Calibri" pitchFamily="34" charset="0"/>
                <a:ea typeface="Calibri" pitchFamily="34" charset="-122"/>
                <a:cs typeface="Calibri" pitchFamily="34" charset="-120"/>
              </a:rPr>
              <a:t>Speaker-matched corpus,</a:t>
            </a:r>
            <a:endParaRPr lang="en-US" sz="1150" dirty="0"/>
          </a:p>
          <a:p>
            <a:pPr indent="0" marL="0">
              <a:lnSpc>
                <a:spcPts val="1500"/>
              </a:lnSpc>
              <a:buNone/>
            </a:pPr>
            <a:r>
              <a:rPr lang="en-US" sz="1150" dirty="0">
                <a:solidFill>
                  <a:srgbClr val="D5E3E4"/>
                </a:solidFill>
                <a:latin typeface="Calibri" pitchFamily="34" charset="0"/>
                <a:ea typeface="Calibri" pitchFamily="34" charset="-122"/>
                <a:cs typeface="Calibri" pitchFamily="34" charset="-120"/>
              </a:rPr>
              <a:t>frozen checksummed splits</a:t>
            </a:r>
            <a:endParaRPr lang="en-US" sz="1150" dirty="0"/>
          </a:p>
        </p:txBody>
      </p:sp>
      <p:sp>
        <p:nvSpPr>
          <p:cNvPr id="14" name="Shape 12"/>
          <p:cNvSpPr/>
          <p:nvPr/>
        </p:nvSpPr>
        <p:spPr>
          <a:xfrm>
            <a:off x="3429000" y="5166360"/>
            <a:ext cx="2560320" cy="1051560"/>
          </a:xfrm>
          <a:prstGeom prst="roundRect">
            <a:avLst>
              <a:gd name="adj" fmla="val 5217"/>
            </a:avLst>
          </a:prstGeom>
          <a:solidFill>
            <a:srgbClr val="1C4A4E"/>
          </a:solidFill>
          <a:ln w="9525">
            <a:solidFill>
              <a:srgbClr val="2E6A6E"/>
            </a:solidFill>
            <a:prstDash val="solid"/>
          </a:ln>
        </p:spPr>
      </p:sp>
      <p:sp>
        <p:nvSpPr>
          <p:cNvPr id="15" name="Text 13"/>
          <p:cNvSpPr txBox="1"/>
          <p:nvPr/>
        </p:nvSpPr>
        <p:spPr>
          <a:xfrm>
            <a:off x="3611880" y="5285232"/>
            <a:ext cx="548640" cy="274320"/>
          </a:xfrm>
          <a:prstGeom prst="rect">
            <a:avLst/>
          </a:prstGeom>
          <a:noFill/>
          <a:ln/>
        </p:spPr>
        <p:txBody>
          <a:bodyPr wrap="square" lIns="0" tIns="0" rIns="0" bIns="0" rtlCol="0" anchor="t"/>
          <a:lstStyle/>
          <a:p>
            <a:pPr indent="0" marL="0">
              <a:buNone/>
            </a:pPr>
            <a:r>
              <a:rPr lang="en-US" sz="1300" b="1" dirty="0">
                <a:solidFill>
                  <a:srgbClr val="C98F79"/>
                </a:solidFill>
                <a:latin typeface="Cambria" pitchFamily="34" charset="0"/>
                <a:ea typeface="Cambria" pitchFamily="34" charset="-122"/>
                <a:cs typeface="Cambria" pitchFamily="34" charset="-120"/>
              </a:rPr>
              <a:t>O2</a:t>
            </a:r>
            <a:endParaRPr lang="en-US" sz="1300" dirty="0"/>
          </a:p>
        </p:txBody>
      </p:sp>
      <p:sp>
        <p:nvSpPr>
          <p:cNvPr id="16" name="Text 14"/>
          <p:cNvSpPr txBox="1"/>
          <p:nvPr/>
        </p:nvSpPr>
        <p:spPr>
          <a:xfrm>
            <a:off x="3611880" y="5577840"/>
            <a:ext cx="2240280" cy="594360"/>
          </a:xfrm>
          <a:prstGeom prst="rect">
            <a:avLst/>
          </a:prstGeom>
          <a:noFill/>
          <a:ln/>
        </p:spPr>
        <p:txBody>
          <a:bodyPr wrap="square" lIns="0" tIns="0" rIns="0" bIns="0" rtlCol="0" anchor="t"/>
          <a:lstStyle/>
          <a:p>
            <a:pPr indent="0" marL="0">
              <a:lnSpc>
                <a:spcPts val="1500"/>
              </a:lnSpc>
              <a:buNone/>
            </a:pPr>
            <a:r>
              <a:rPr lang="en-US" sz="1150" dirty="0">
                <a:solidFill>
                  <a:srgbClr val="D5E3E4"/>
                </a:solidFill>
                <a:latin typeface="Calibri" pitchFamily="34" charset="0"/>
                <a:ea typeface="Calibri" pitchFamily="34" charset="-122"/>
                <a:cs typeface="Calibri" pitchFamily="34" charset="-120"/>
              </a:rPr>
              <a:t>G2P front end with schwa</a:t>
            </a:r>
            <a:endParaRPr lang="en-US" sz="1150" dirty="0"/>
          </a:p>
          <a:p>
            <a:pPr indent="0" marL="0">
              <a:lnSpc>
                <a:spcPts val="1500"/>
              </a:lnSpc>
              <a:buNone/>
            </a:pPr>
            <a:r>
              <a:rPr lang="en-US" sz="1150" dirty="0">
                <a:solidFill>
                  <a:srgbClr val="D5E3E4"/>
                </a:solidFill>
                <a:latin typeface="Calibri" pitchFamily="34" charset="0"/>
                <a:ea typeface="Calibri" pitchFamily="34" charset="-122"/>
                <a:cs typeface="Calibri" pitchFamily="34" charset="-120"/>
              </a:rPr>
              <a:t>deletion as a switchable stage</a:t>
            </a:r>
            <a:endParaRPr lang="en-US" sz="1150" dirty="0"/>
          </a:p>
        </p:txBody>
      </p:sp>
      <p:sp>
        <p:nvSpPr>
          <p:cNvPr id="17" name="Shape 15"/>
          <p:cNvSpPr/>
          <p:nvPr/>
        </p:nvSpPr>
        <p:spPr>
          <a:xfrm>
            <a:off x="6217920" y="5166360"/>
            <a:ext cx="2560320" cy="1051560"/>
          </a:xfrm>
          <a:prstGeom prst="roundRect">
            <a:avLst>
              <a:gd name="adj" fmla="val 5217"/>
            </a:avLst>
          </a:prstGeom>
          <a:solidFill>
            <a:srgbClr val="1C4A4E"/>
          </a:solidFill>
          <a:ln w="9525">
            <a:solidFill>
              <a:srgbClr val="2E6A6E"/>
            </a:solidFill>
            <a:prstDash val="solid"/>
          </a:ln>
        </p:spPr>
      </p:sp>
      <p:sp>
        <p:nvSpPr>
          <p:cNvPr id="18" name="Text 16"/>
          <p:cNvSpPr txBox="1"/>
          <p:nvPr/>
        </p:nvSpPr>
        <p:spPr>
          <a:xfrm>
            <a:off x="6400800" y="5285232"/>
            <a:ext cx="548640" cy="274320"/>
          </a:xfrm>
          <a:prstGeom prst="rect">
            <a:avLst/>
          </a:prstGeom>
          <a:noFill/>
          <a:ln/>
        </p:spPr>
        <p:txBody>
          <a:bodyPr wrap="square" lIns="0" tIns="0" rIns="0" bIns="0" rtlCol="0" anchor="t"/>
          <a:lstStyle/>
          <a:p>
            <a:pPr indent="0" marL="0">
              <a:buNone/>
            </a:pPr>
            <a:r>
              <a:rPr lang="en-US" sz="1300" b="1" dirty="0">
                <a:solidFill>
                  <a:srgbClr val="C98F79"/>
                </a:solidFill>
                <a:latin typeface="Cambria" pitchFamily="34" charset="0"/>
                <a:ea typeface="Cambria" pitchFamily="34" charset="-122"/>
                <a:cs typeface="Cambria" pitchFamily="34" charset="-120"/>
              </a:rPr>
              <a:t>O3</a:t>
            </a:r>
            <a:endParaRPr lang="en-US" sz="1300" dirty="0"/>
          </a:p>
        </p:txBody>
      </p:sp>
      <p:sp>
        <p:nvSpPr>
          <p:cNvPr id="19" name="Text 17"/>
          <p:cNvSpPr txBox="1"/>
          <p:nvPr/>
        </p:nvSpPr>
        <p:spPr>
          <a:xfrm>
            <a:off x="6400800" y="5577840"/>
            <a:ext cx="2240280" cy="594360"/>
          </a:xfrm>
          <a:prstGeom prst="rect">
            <a:avLst/>
          </a:prstGeom>
          <a:noFill/>
          <a:ln/>
        </p:spPr>
        <p:txBody>
          <a:bodyPr wrap="square" lIns="0" tIns="0" rIns="0" bIns="0" rtlCol="0" anchor="t"/>
          <a:lstStyle/>
          <a:p>
            <a:pPr indent="0" marL="0">
              <a:lnSpc>
                <a:spcPts val="1500"/>
              </a:lnSpc>
              <a:buNone/>
            </a:pPr>
            <a:r>
              <a:rPr lang="en-US" sz="1150" dirty="0">
                <a:solidFill>
                  <a:srgbClr val="D5E3E4"/>
                </a:solidFill>
                <a:latin typeface="Calibri" pitchFamily="34" charset="0"/>
                <a:ea typeface="Calibri" pitchFamily="34" charset="-122"/>
                <a:cs typeface="Calibri" pitchFamily="34" charset="-120"/>
              </a:rPr>
              <a:t>Train all three under one</a:t>
            </a:r>
            <a:endParaRPr lang="en-US" sz="1150" dirty="0"/>
          </a:p>
          <a:p>
            <a:pPr indent="0" marL="0">
              <a:lnSpc>
                <a:spcPts val="1500"/>
              </a:lnSpc>
              <a:buNone/>
            </a:pPr>
            <a:r>
              <a:rPr lang="en-US" sz="1150" dirty="0">
                <a:solidFill>
                  <a:srgbClr val="D5E3E4"/>
                </a:solidFill>
                <a:latin typeface="Calibri" pitchFamily="34" charset="0"/>
                <a:ea typeface="Calibri" pitchFamily="34" charset="-122"/>
                <a:cs typeface="Calibri" pitchFamily="34" charset="-120"/>
              </a:rPr>
              <a:t>provably identical budget</a:t>
            </a:r>
            <a:endParaRPr lang="en-US" sz="1150" dirty="0"/>
          </a:p>
        </p:txBody>
      </p:sp>
      <p:sp>
        <p:nvSpPr>
          <p:cNvPr id="20" name="Shape 18"/>
          <p:cNvSpPr/>
          <p:nvPr/>
        </p:nvSpPr>
        <p:spPr>
          <a:xfrm>
            <a:off x="9006840" y="5166360"/>
            <a:ext cx="2560320" cy="1051560"/>
          </a:xfrm>
          <a:prstGeom prst="roundRect">
            <a:avLst>
              <a:gd name="adj" fmla="val 5217"/>
            </a:avLst>
          </a:prstGeom>
          <a:solidFill>
            <a:srgbClr val="1C4A4E"/>
          </a:solidFill>
          <a:ln w="9525">
            <a:solidFill>
              <a:srgbClr val="2E6A6E"/>
            </a:solidFill>
            <a:prstDash val="solid"/>
          </a:ln>
        </p:spPr>
      </p:sp>
      <p:sp>
        <p:nvSpPr>
          <p:cNvPr id="21" name="Text 19"/>
          <p:cNvSpPr txBox="1"/>
          <p:nvPr/>
        </p:nvSpPr>
        <p:spPr>
          <a:xfrm>
            <a:off x="9189720" y="5285232"/>
            <a:ext cx="548640" cy="274320"/>
          </a:xfrm>
          <a:prstGeom prst="rect">
            <a:avLst/>
          </a:prstGeom>
          <a:noFill/>
          <a:ln/>
        </p:spPr>
        <p:txBody>
          <a:bodyPr wrap="square" lIns="0" tIns="0" rIns="0" bIns="0" rtlCol="0" anchor="t"/>
          <a:lstStyle/>
          <a:p>
            <a:pPr indent="0" marL="0">
              <a:buNone/>
            </a:pPr>
            <a:r>
              <a:rPr lang="en-US" sz="1300" b="1" dirty="0">
                <a:solidFill>
                  <a:srgbClr val="C98F79"/>
                </a:solidFill>
                <a:latin typeface="Cambria" pitchFamily="34" charset="0"/>
                <a:ea typeface="Cambria" pitchFamily="34" charset="-122"/>
                <a:cs typeface="Cambria" pitchFamily="34" charset="-120"/>
              </a:rPr>
              <a:t>O4</a:t>
            </a:r>
            <a:endParaRPr lang="en-US" sz="1300" dirty="0"/>
          </a:p>
        </p:txBody>
      </p:sp>
      <p:sp>
        <p:nvSpPr>
          <p:cNvPr id="22" name="Text 20"/>
          <p:cNvSpPr txBox="1"/>
          <p:nvPr/>
        </p:nvSpPr>
        <p:spPr>
          <a:xfrm>
            <a:off x="9189720" y="5577840"/>
            <a:ext cx="2240280" cy="594360"/>
          </a:xfrm>
          <a:prstGeom prst="rect">
            <a:avLst/>
          </a:prstGeom>
          <a:noFill/>
          <a:ln/>
        </p:spPr>
        <p:txBody>
          <a:bodyPr wrap="square" lIns="0" tIns="0" rIns="0" bIns="0" rtlCol="0" anchor="t"/>
          <a:lstStyle/>
          <a:p>
            <a:pPr indent="0" marL="0">
              <a:lnSpc>
                <a:spcPts val="1500"/>
              </a:lnSpc>
              <a:buNone/>
            </a:pPr>
            <a:r>
              <a:rPr lang="en-US" sz="1150" dirty="0">
                <a:solidFill>
                  <a:srgbClr val="D5E3E4"/>
                </a:solidFill>
                <a:latin typeface="Calibri" pitchFamily="34" charset="0"/>
                <a:ea typeface="Calibri" pitchFamily="34" charset="-122"/>
                <a:cs typeface="Calibri" pitchFamily="34" charset="-120"/>
              </a:rPr>
              <a:t>Ladder, Marathi control,</a:t>
            </a:r>
            <a:endParaRPr lang="en-US" sz="1150" dirty="0"/>
          </a:p>
          <a:p>
            <a:pPr indent="0" marL="0">
              <a:lnSpc>
                <a:spcPts val="1500"/>
              </a:lnSpc>
              <a:buNone/>
            </a:pPr>
            <a:r>
              <a:rPr lang="en-US" sz="1150" dirty="0">
                <a:solidFill>
                  <a:srgbClr val="D5E3E4"/>
                </a:solidFill>
                <a:latin typeface="Calibri" pitchFamily="34" charset="0"/>
                <a:ea typeface="Calibri" pitchFamily="34" charset="-122"/>
                <a:cs typeface="Calibri" pitchFamily="34" charset="-120"/>
              </a:rPr>
              <a:t>verified metrics, release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Literature review: the architectures</a:t>
            </a:r>
            <a:endParaRPr lang="en-US" sz="2700" dirty="0"/>
          </a:p>
        </p:txBody>
      </p:sp>
      <p:sp>
        <p:nvSpPr>
          <p:cNvPr id="5" name="Text 3"/>
          <p:cNvSpPr txBox="1"/>
          <p:nvPr/>
        </p:nvSpPr>
        <p:spPr>
          <a:xfrm>
            <a:off x="1243584" y="969264"/>
            <a:ext cx="10424160" cy="329184"/>
          </a:xfrm>
          <a:prstGeom prst="rect">
            <a:avLst/>
          </a:prstGeom>
          <a:noFill/>
          <a:ln/>
        </p:spPr>
        <p:txBody>
          <a:bodyPr wrap="square" lIns="0" tIns="0" rIns="0" bIns="0" rtlCol="0" anchor="t"/>
          <a:lstStyle/>
          <a:p>
            <a:pPr indent="0" marL="0">
              <a:buNone/>
            </a:pPr>
            <a:r>
              <a:rPr lang="en-US" sz="1350" i="1" dirty="0">
                <a:solidFill>
                  <a:srgbClr val="5D666E"/>
                </a:solidFill>
                <a:latin typeface="Calibri" pitchFamily="34" charset="0"/>
                <a:ea typeface="Calibri" pitchFamily="34" charset="-122"/>
                <a:cs typeface="Calibri" pitchFamily="34" charset="-120"/>
              </a:rPr>
              <a:t>One from each current generative family, so the result is not a quirk of one design</a:t>
            </a:r>
            <a:endParaRPr lang="en-US" sz="1350" dirty="0"/>
          </a:p>
        </p:txBody>
      </p:sp>
      <p:sp>
        <p:nvSpPr>
          <p:cNvPr id="6" name="Text 4"/>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5</a:t>
            </a:r>
            <a:endParaRPr lang="en-US" sz="1100" dirty="0"/>
          </a:p>
        </p:txBody>
      </p:sp>
      <p:sp>
        <p:nvSpPr>
          <p:cNvPr id="7" name="Shape 5"/>
          <p:cNvSpPr/>
          <p:nvPr/>
        </p:nvSpPr>
        <p:spPr>
          <a:xfrm>
            <a:off x="640080" y="1783080"/>
            <a:ext cx="3419856" cy="4069080"/>
          </a:xfrm>
          <a:prstGeom prst="roundRect">
            <a:avLst>
              <a:gd name="adj" fmla="val 1604"/>
            </a:avLst>
          </a:prstGeom>
          <a:solidFill>
            <a:srgbClr val="F2F5F5"/>
          </a:solidFill>
          <a:ln w="9525">
            <a:solidFill>
              <a:srgbClr val="D8DEDF"/>
            </a:solidFill>
            <a:prstDash val="solid"/>
          </a:ln>
        </p:spPr>
      </p:sp>
      <p:sp>
        <p:nvSpPr>
          <p:cNvPr id="8" name="Text 6"/>
          <p:cNvSpPr txBox="1"/>
          <p:nvPr/>
        </p:nvSpPr>
        <p:spPr>
          <a:xfrm>
            <a:off x="868680" y="1965960"/>
            <a:ext cx="2194560" cy="365760"/>
          </a:xfrm>
          <a:prstGeom prst="rect">
            <a:avLst/>
          </a:prstGeom>
          <a:noFill/>
          <a:ln/>
        </p:spPr>
        <p:txBody>
          <a:bodyPr wrap="square" lIns="0" tIns="0" rIns="0" bIns="0" rtlCol="0" anchor="t"/>
          <a:lstStyle/>
          <a:p>
            <a:pPr indent="0" marL="0">
              <a:buNone/>
            </a:pPr>
            <a:r>
              <a:rPr lang="en-US" sz="1800" b="1" dirty="0">
                <a:solidFill>
                  <a:srgbClr val="13383B"/>
                </a:solidFill>
                <a:latin typeface="Cambria" pitchFamily="34" charset="0"/>
                <a:ea typeface="Cambria" pitchFamily="34" charset="-122"/>
                <a:cs typeface="Cambria" pitchFamily="34" charset="-120"/>
              </a:rPr>
              <a:t>FastSpeech 2</a:t>
            </a:r>
            <a:endParaRPr lang="en-US" sz="1800" dirty="0"/>
          </a:p>
        </p:txBody>
      </p:sp>
      <p:sp>
        <p:nvSpPr>
          <p:cNvPr id="9" name="Text 7"/>
          <p:cNvSpPr txBox="1"/>
          <p:nvPr/>
        </p:nvSpPr>
        <p:spPr>
          <a:xfrm>
            <a:off x="2880360" y="2029968"/>
            <a:ext cx="960120" cy="274320"/>
          </a:xfrm>
          <a:prstGeom prst="rect">
            <a:avLst/>
          </a:prstGeom>
          <a:noFill/>
          <a:ln/>
        </p:spPr>
        <p:txBody>
          <a:bodyPr wrap="square" lIns="0" tIns="0" rIns="0" bIns="0" rtlCol="0" anchor="t"/>
          <a:lstStyle/>
          <a:p>
            <a:pPr algn="r" indent="0" marL="0">
              <a:buNone/>
            </a:pPr>
            <a:r>
              <a:rPr lang="en-US" sz="1250" b="1" dirty="0">
                <a:solidFill>
                  <a:srgbClr val="B0432A"/>
                </a:solidFill>
                <a:latin typeface="Calibri" pitchFamily="34" charset="0"/>
                <a:ea typeface="Calibri" pitchFamily="34" charset="-122"/>
                <a:cs typeface="Calibri" pitchFamily="34" charset="-120"/>
              </a:rPr>
              <a:t>~27M</a:t>
            </a:r>
            <a:endParaRPr lang="en-US" sz="1250" dirty="0"/>
          </a:p>
        </p:txBody>
      </p:sp>
      <p:sp>
        <p:nvSpPr>
          <p:cNvPr id="10" name="Text 8"/>
          <p:cNvSpPr txBox="1"/>
          <p:nvPr/>
        </p:nvSpPr>
        <p:spPr>
          <a:xfrm>
            <a:off x="868680" y="2395728"/>
            <a:ext cx="2962656" cy="502920"/>
          </a:xfrm>
          <a:prstGeom prst="rect">
            <a:avLst/>
          </a:prstGeom>
          <a:noFill/>
          <a:ln/>
        </p:spPr>
        <p:txBody>
          <a:bodyPr wrap="square" lIns="0" tIns="0" rIns="0" bIns="0" rtlCol="0" anchor="t"/>
          <a:lstStyle/>
          <a:p>
            <a:pPr indent="0" marL="0">
              <a:lnSpc>
                <a:spcPts val="1600"/>
              </a:lnSpc>
              <a:buNone/>
            </a:pPr>
            <a:r>
              <a:rPr lang="en-US" sz="1250" i="1" dirty="0">
                <a:solidFill>
                  <a:srgbClr val="5D666E"/>
                </a:solidFill>
                <a:latin typeface="Calibri" pitchFamily="34" charset="0"/>
                <a:ea typeface="Calibri" pitchFamily="34" charset="-122"/>
                <a:cs typeface="Calibri" pitchFamily="34" charset="-120"/>
              </a:rPr>
              <a:t>Non-autoregressive transformer</a:t>
            </a:r>
            <a:endParaRPr lang="en-US" sz="1250" dirty="0"/>
          </a:p>
        </p:txBody>
      </p:sp>
      <p:sp>
        <p:nvSpPr>
          <p:cNvPr id="11" name="Text 9"/>
          <p:cNvSpPr txBox="1"/>
          <p:nvPr/>
        </p:nvSpPr>
        <p:spPr>
          <a:xfrm>
            <a:off x="868680" y="3017520"/>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Generation</a:t>
            </a:r>
            <a:endParaRPr lang="en-US" sz="1050" dirty="0"/>
          </a:p>
        </p:txBody>
      </p:sp>
      <p:sp>
        <p:nvSpPr>
          <p:cNvPr id="12" name="Text 10"/>
          <p:cNvSpPr txBox="1"/>
          <p:nvPr/>
        </p:nvSpPr>
        <p:spPr>
          <a:xfrm>
            <a:off x="868680" y="3255264"/>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one parallel forward pass</a:t>
            </a:r>
            <a:endParaRPr lang="en-US" sz="1300" dirty="0"/>
          </a:p>
        </p:txBody>
      </p:sp>
      <p:sp>
        <p:nvSpPr>
          <p:cNvPr id="13" name="Text 11"/>
          <p:cNvSpPr txBox="1"/>
          <p:nvPr/>
        </p:nvSpPr>
        <p:spPr>
          <a:xfrm>
            <a:off x="868680" y="3675888"/>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Durations</a:t>
            </a:r>
            <a:endParaRPr lang="en-US" sz="1050" dirty="0"/>
          </a:p>
        </p:txBody>
      </p:sp>
      <p:sp>
        <p:nvSpPr>
          <p:cNvPr id="14" name="Text 12"/>
          <p:cNvSpPr txBox="1"/>
          <p:nvPr/>
        </p:nvSpPr>
        <p:spPr>
          <a:xfrm>
            <a:off x="868680" y="3913632"/>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predicted, needs a target</a:t>
            </a:r>
            <a:endParaRPr lang="en-US" sz="1300" dirty="0"/>
          </a:p>
        </p:txBody>
      </p:sp>
      <p:sp>
        <p:nvSpPr>
          <p:cNvPr id="15" name="Text 13"/>
          <p:cNvSpPr txBox="1"/>
          <p:nvPr/>
        </p:nvSpPr>
        <p:spPr>
          <a:xfrm>
            <a:off x="868680" y="4334256"/>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Vocoder</a:t>
            </a:r>
            <a:endParaRPr lang="en-US" sz="1050" dirty="0"/>
          </a:p>
        </p:txBody>
      </p:sp>
      <p:sp>
        <p:nvSpPr>
          <p:cNvPr id="16" name="Text 14"/>
          <p:cNvSpPr txBox="1"/>
          <p:nvPr/>
        </p:nvSpPr>
        <p:spPr>
          <a:xfrm>
            <a:off x="868680" y="4572000"/>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separate HiFi-GAN</a:t>
            </a:r>
            <a:endParaRPr lang="en-US" sz="1300" dirty="0"/>
          </a:p>
        </p:txBody>
      </p:sp>
      <p:sp>
        <p:nvSpPr>
          <p:cNvPr id="17" name="Text 15"/>
          <p:cNvSpPr txBox="1"/>
          <p:nvPr/>
        </p:nvSpPr>
        <p:spPr>
          <a:xfrm>
            <a:off x="868680" y="4992624"/>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Weakness</a:t>
            </a:r>
            <a:endParaRPr lang="en-US" sz="1050" dirty="0"/>
          </a:p>
        </p:txBody>
      </p:sp>
      <p:sp>
        <p:nvSpPr>
          <p:cNvPr id="18" name="Text 16"/>
          <p:cNvSpPr txBox="1"/>
          <p:nvPr/>
        </p:nvSpPr>
        <p:spPr>
          <a:xfrm>
            <a:off x="868680" y="5230368"/>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averaged, flat prosody</a:t>
            </a:r>
            <a:endParaRPr lang="en-US" sz="1300" dirty="0"/>
          </a:p>
        </p:txBody>
      </p:sp>
      <p:sp>
        <p:nvSpPr>
          <p:cNvPr id="19" name="Shape 17"/>
          <p:cNvSpPr/>
          <p:nvPr/>
        </p:nvSpPr>
        <p:spPr>
          <a:xfrm>
            <a:off x="4370832" y="1783080"/>
            <a:ext cx="3419856" cy="4069080"/>
          </a:xfrm>
          <a:prstGeom prst="roundRect">
            <a:avLst>
              <a:gd name="adj" fmla="val 1604"/>
            </a:avLst>
          </a:prstGeom>
          <a:solidFill>
            <a:srgbClr val="F2F5F5"/>
          </a:solidFill>
          <a:ln w="9525">
            <a:solidFill>
              <a:srgbClr val="D8DEDF"/>
            </a:solidFill>
            <a:prstDash val="solid"/>
          </a:ln>
        </p:spPr>
      </p:sp>
      <p:sp>
        <p:nvSpPr>
          <p:cNvPr id="20" name="Text 18"/>
          <p:cNvSpPr txBox="1"/>
          <p:nvPr/>
        </p:nvSpPr>
        <p:spPr>
          <a:xfrm>
            <a:off x="4599432" y="1965960"/>
            <a:ext cx="2194560" cy="365760"/>
          </a:xfrm>
          <a:prstGeom prst="rect">
            <a:avLst/>
          </a:prstGeom>
          <a:noFill/>
          <a:ln/>
        </p:spPr>
        <p:txBody>
          <a:bodyPr wrap="square" lIns="0" tIns="0" rIns="0" bIns="0" rtlCol="0" anchor="t"/>
          <a:lstStyle/>
          <a:p>
            <a:pPr indent="0" marL="0">
              <a:buNone/>
            </a:pPr>
            <a:r>
              <a:rPr lang="en-US" sz="1800" b="1" dirty="0">
                <a:solidFill>
                  <a:srgbClr val="13383B"/>
                </a:solidFill>
                <a:latin typeface="Cambria" pitchFamily="34" charset="0"/>
                <a:ea typeface="Cambria" pitchFamily="34" charset="-122"/>
                <a:cs typeface="Cambria" pitchFamily="34" charset="-120"/>
              </a:rPr>
              <a:t>VITS</a:t>
            </a:r>
            <a:endParaRPr lang="en-US" sz="1800" dirty="0"/>
          </a:p>
        </p:txBody>
      </p:sp>
      <p:sp>
        <p:nvSpPr>
          <p:cNvPr id="21" name="Text 19"/>
          <p:cNvSpPr txBox="1"/>
          <p:nvPr/>
        </p:nvSpPr>
        <p:spPr>
          <a:xfrm>
            <a:off x="6611112" y="2029968"/>
            <a:ext cx="960120" cy="274320"/>
          </a:xfrm>
          <a:prstGeom prst="rect">
            <a:avLst/>
          </a:prstGeom>
          <a:noFill/>
          <a:ln/>
        </p:spPr>
        <p:txBody>
          <a:bodyPr wrap="square" lIns="0" tIns="0" rIns="0" bIns="0" rtlCol="0" anchor="t"/>
          <a:lstStyle/>
          <a:p>
            <a:pPr algn="r" indent="0" marL="0">
              <a:buNone/>
            </a:pPr>
            <a:r>
              <a:rPr lang="en-US" sz="1250" b="1" dirty="0">
                <a:solidFill>
                  <a:srgbClr val="B0432A"/>
                </a:solidFill>
                <a:latin typeface="Calibri" pitchFamily="34" charset="0"/>
                <a:ea typeface="Calibri" pitchFamily="34" charset="-122"/>
                <a:cs typeface="Calibri" pitchFamily="34" charset="-120"/>
              </a:rPr>
              <a:t>~83M</a:t>
            </a:r>
            <a:endParaRPr lang="en-US" sz="1250" dirty="0"/>
          </a:p>
        </p:txBody>
      </p:sp>
      <p:sp>
        <p:nvSpPr>
          <p:cNvPr id="22" name="Text 20"/>
          <p:cNvSpPr txBox="1"/>
          <p:nvPr/>
        </p:nvSpPr>
        <p:spPr>
          <a:xfrm>
            <a:off x="4599432" y="2395728"/>
            <a:ext cx="2962656" cy="502920"/>
          </a:xfrm>
          <a:prstGeom prst="rect">
            <a:avLst/>
          </a:prstGeom>
          <a:noFill/>
          <a:ln/>
        </p:spPr>
        <p:txBody>
          <a:bodyPr wrap="square" lIns="0" tIns="0" rIns="0" bIns="0" rtlCol="0" anchor="t"/>
          <a:lstStyle/>
          <a:p>
            <a:pPr indent="0" marL="0">
              <a:lnSpc>
                <a:spcPts val="1600"/>
              </a:lnSpc>
              <a:buNone/>
            </a:pPr>
            <a:r>
              <a:rPr lang="en-US" sz="1250" i="1" dirty="0">
                <a:solidFill>
                  <a:srgbClr val="5D666E"/>
                </a:solidFill>
                <a:latin typeface="Calibri" pitchFamily="34" charset="0"/>
                <a:ea typeface="Calibri" pitchFamily="34" charset="-122"/>
                <a:cs typeface="Calibri" pitchFamily="34" charset="-120"/>
              </a:rPr>
              <a:t>VAE + normalising flow + GAN</a:t>
            </a:r>
            <a:endParaRPr lang="en-US" sz="1250" dirty="0"/>
          </a:p>
        </p:txBody>
      </p:sp>
      <p:sp>
        <p:nvSpPr>
          <p:cNvPr id="23" name="Text 21"/>
          <p:cNvSpPr txBox="1"/>
          <p:nvPr/>
        </p:nvSpPr>
        <p:spPr>
          <a:xfrm>
            <a:off x="4599432" y="3017520"/>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Generation</a:t>
            </a:r>
            <a:endParaRPr lang="en-US" sz="1050" dirty="0"/>
          </a:p>
        </p:txBody>
      </p:sp>
      <p:sp>
        <p:nvSpPr>
          <p:cNvPr id="24" name="Text 22"/>
          <p:cNvSpPr txBox="1"/>
          <p:nvPr/>
        </p:nvSpPr>
        <p:spPr>
          <a:xfrm>
            <a:off x="4599432" y="3255264"/>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text straight to waveform</a:t>
            </a:r>
            <a:endParaRPr lang="en-US" sz="1300" dirty="0"/>
          </a:p>
        </p:txBody>
      </p:sp>
      <p:sp>
        <p:nvSpPr>
          <p:cNvPr id="25" name="Text 23"/>
          <p:cNvSpPr txBox="1"/>
          <p:nvPr/>
        </p:nvSpPr>
        <p:spPr>
          <a:xfrm>
            <a:off x="4599432" y="3675888"/>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Durations</a:t>
            </a:r>
            <a:endParaRPr lang="en-US" sz="1050" dirty="0"/>
          </a:p>
        </p:txBody>
      </p:sp>
      <p:sp>
        <p:nvSpPr>
          <p:cNvPr id="26" name="Text 24"/>
          <p:cNvSpPr txBox="1"/>
          <p:nvPr/>
        </p:nvSpPr>
        <p:spPr>
          <a:xfrm>
            <a:off x="4599432" y="3913632"/>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stochastic predictor</a:t>
            </a:r>
            <a:endParaRPr lang="en-US" sz="1300" dirty="0"/>
          </a:p>
        </p:txBody>
      </p:sp>
      <p:sp>
        <p:nvSpPr>
          <p:cNvPr id="27" name="Text 25"/>
          <p:cNvSpPr txBox="1"/>
          <p:nvPr/>
        </p:nvSpPr>
        <p:spPr>
          <a:xfrm>
            <a:off x="4599432" y="4334256"/>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Vocoder</a:t>
            </a:r>
            <a:endParaRPr lang="en-US" sz="1050" dirty="0"/>
          </a:p>
        </p:txBody>
      </p:sp>
      <p:sp>
        <p:nvSpPr>
          <p:cNvPr id="28" name="Text 26"/>
          <p:cNvSpPr txBox="1"/>
          <p:nvPr/>
        </p:nvSpPr>
        <p:spPr>
          <a:xfrm>
            <a:off x="4599432" y="4572000"/>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built in, none shared</a:t>
            </a:r>
            <a:endParaRPr lang="en-US" sz="1300" dirty="0"/>
          </a:p>
        </p:txBody>
      </p:sp>
      <p:sp>
        <p:nvSpPr>
          <p:cNvPr id="29" name="Text 27"/>
          <p:cNvSpPr txBox="1"/>
          <p:nvPr/>
        </p:nvSpPr>
        <p:spPr>
          <a:xfrm>
            <a:off x="4599432" y="4992624"/>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Weakness</a:t>
            </a:r>
            <a:endParaRPr lang="en-US" sz="1050" dirty="0"/>
          </a:p>
        </p:txBody>
      </p:sp>
      <p:sp>
        <p:nvSpPr>
          <p:cNvPr id="30" name="Text 28"/>
          <p:cNvSpPr txBox="1"/>
          <p:nvPr/>
        </p:nvSpPr>
        <p:spPr>
          <a:xfrm>
            <a:off x="4599432" y="5230368"/>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largest, 16 kHz checkpoint</a:t>
            </a:r>
            <a:endParaRPr lang="en-US" sz="1300" dirty="0"/>
          </a:p>
        </p:txBody>
      </p:sp>
      <p:sp>
        <p:nvSpPr>
          <p:cNvPr id="31" name="Shape 29"/>
          <p:cNvSpPr/>
          <p:nvPr/>
        </p:nvSpPr>
        <p:spPr>
          <a:xfrm>
            <a:off x="8101584" y="1783080"/>
            <a:ext cx="3419856" cy="4069080"/>
          </a:xfrm>
          <a:prstGeom prst="roundRect">
            <a:avLst>
              <a:gd name="adj" fmla="val 1604"/>
            </a:avLst>
          </a:prstGeom>
          <a:solidFill>
            <a:srgbClr val="F2F5F5"/>
          </a:solidFill>
          <a:ln w="9525">
            <a:solidFill>
              <a:srgbClr val="D8DEDF"/>
            </a:solidFill>
            <a:prstDash val="solid"/>
          </a:ln>
        </p:spPr>
      </p:sp>
      <p:sp>
        <p:nvSpPr>
          <p:cNvPr id="32" name="Text 30"/>
          <p:cNvSpPr txBox="1"/>
          <p:nvPr/>
        </p:nvSpPr>
        <p:spPr>
          <a:xfrm>
            <a:off x="8330184" y="1965960"/>
            <a:ext cx="2194560" cy="365760"/>
          </a:xfrm>
          <a:prstGeom prst="rect">
            <a:avLst/>
          </a:prstGeom>
          <a:noFill/>
          <a:ln/>
        </p:spPr>
        <p:txBody>
          <a:bodyPr wrap="square" lIns="0" tIns="0" rIns="0" bIns="0" rtlCol="0" anchor="t"/>
          <a:lstStyle/>
          <a:p>
            <a:pPr indent="0" marL="0">
              <a:buNone/>
            </a:pPr>
            <a:r>
              <a:rPr lang="en-US" sz="1800" b="1" dirty="0">
                <a:solidFill>
                  <a:srgbClr val="13383B"/>
                </a:solidFill>
                <a:latin typeface="Cambria" pitchFamily="34" charset="0"/>
                <a:ea typeface="Cambria" pitchFamily="34" charset="-122"/>
                <a:cs typeface="Cambria" pitchFamily="34" charset="-120"/>
              </a:rPr>
              <a:t>Matcha-TTS</a:t>
            </a:r>
            <a:endParaRPr lang="en-US" sz="1800" dirty="0"/>
          </a:p>
        </p:txBody>
      </p:sp>
      <p:sp>
        <p:nvSpPr>
          <p:cNvPr id="33" name="Text 31"/>
          <p:cNvSpPr txBox="1"/>
          <p:nvPr/>
        </p:nvSpPr>
        <p:spPr>
          <a:xfrm>
            <a:off x="10341864" y="2029968"/>
            <a:ext cx="960120" cy="274320"/>
          </a:xfrm>
          <a:prstGeom prst="rect">
            <a:avLst/>
          </a:prstGeom>
          <a:noFill/>
          <a:ln/>
        </p:spPr>
        <p:txBody>
          <a:bodyPr wrap="square" lIns="0" tIns="0" rIns="0" bIns="0" rtlCol="0" anchor="t"/>
          <a:lstStyle/>
          <a:p>
            <a:pPr algn="r" indent="0" marL="0">
              <a:buNone/>
            </a:pPr>
            <a:r>
              <a:rPr lang="en-US" sz="1250" b="1" dirty="0">
                <a:solidFill>
                  <a:srgbClr val="B0432A"/>
                </a:solidFill>
                <a:latin typeface="Calibri" pitchFamily="34" charset="0"/>
                <a:ea typeface="Calibri" pitchFamily="34" charset="-122"/>
                <a:cs typeface="Calibri" pitchFamily="34" charset="-120"/>
              </a:rPr>
              <a:t>~18M</a:t>
            </a:r>
            <a:endParaRPr lang="en-US" sz="1250" dirty="0"/>
          </a:p>
        </p:txBody>
      </p:sp>
      <p:sp>
        <p:nvSpPr>
          <p:cNvPr id="34" name="Text 32"/>
          <p:cNvSpPr txBox="1"/>
          <p:nvPr/>
        </p:nvSpPr>
        <p:spPr>
          <a:xfrm>
            <a:off x="8330184" y="2395728"/>
            <a:ext cx="2962656" cy="502920"/>
          </a:xfrm>
          <a:prstGeom prst="rect">
            <a:avLst/>
          </a:prstGeom>
          <a:noFill/>
          <a:ln/>
        </p:spPr>
        <p:txBody>
          <a:bodyPr wrap="square" lIns="0" tIns="0" rIns="0" bIns="0" rtlCol="0" anchor="t"/>
          <a:lstStyle/>
          <a:p>
            <a:pPr indent="0" marL="0">
              <a:lnSpc>
                <a:spcPts val="1600"/>
              </a:lnSpc>
              <a:buNone/>
            </a:pPr>
            <a:r>
              <a:rPr lang="en-US" sz="1250" i="1" dirty="0">
                <a:solidFill>
                  <a:srgbClr val="5D666E"/>
                </a:solidFill>
                <a:latin typeface="Calibri" pitchFamily="34" charset="0"/>
                <a:ea typeface="Calibri" pitchFamily="34" charset="-122"/>
                <a:cs typeface="Calibri" pitchFamily="34" charset="-120"/>
              </a:rPr>
              <a:t>Optimal-transport flow matching</a:t>
            </a:r>
            <a:endParaRPr lang="en-US" sz="1250" dirty="0"/>
          </a:p>
        </p:txBody>
      </p:sp>
      <p:sp>
        <p:nvSpPr>
          <p:cNvPr id="35" name="Text 33"/>
          <p:cNvSpPr txBox="1"/>
          <p:nvPr/>
        </p:nvSpPr>
        <p:spPr>
          <a:xfrm>
            <a:off x="8330184" y="3017520"/>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Generation</a:t>
            </a:r>
            <a:endParaRPr lang="en-US" sz="1050" dirty="0"/>
          </a:p>
        </p:txBody>
      </p:sp>
      <p:sp>
        <p:nvSpPr>
          <p:cNvPr id="36" name="Text 34"/>
          <p:cNvSpPr txBox="1"/>
          <p:nvPr/>
        </p:nvSpPr>
        <p:spPr>
          <a:xfrm>
            <a:off x="8330184" y="3255264"/>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a few ODE solver steps</a:t>
            </a:r>
            <a:endParaRPr lang="en-US" sz="1300" dirty="0"/>
          </a:p>
        </p:txBody>
      </p:sp>
      <p:sp>
        <p:nvSpPr>
          <p:cNvPr id="37" name="Text 35"/>
          <p:cNvSpPr txBox="1"/>
          <p:nvPr/>
        </p:nvSpPr>
        <p:spPr>
          <a:xfrm>
            <a:off x="8330184" y="3675888"/>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Durations</a:t>
            </a:r>
            <a:endParaRPr lang="en-US" sz="1050" dirty="0"/>
          </a:p>
        </p:txBody>
      </p:sp>
      <p:sp>
        <p:nvSpPr>
          <p:cNvPr id="38" name="Text 36"/>
          <p:cNvSpPr txBox="1"/>
          <p:nvPr/>
        </p:nvSpPr>
        <p:spPr>
          <a:xfrm>
            <a:off x="8330184" y="3913632"/>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predicted, MAS aligned</a:t>
            </a:r>
            <a:endParaRPr lang="en-US" sz="1300" dirty="0"/>
          </a:p>
        </p:txBody>
      </p:sp>
      <p:sp>
        <p:nvSpPr>
          <p:cNvPr id="39" name="Text 37"/>
          <p:cNvSpPr txBox="1"/>
          <p:nvPr/>
        </p:nvSpPr>
        <p:spPr>
          <a:xfrm>
            <a:off x="8330184" y="4334256"/>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Vocoder</a:t>
            </a:r>
            <a:endParaRPr lang="en-US" sz="1050" dirty="0"/>
          </a:p>
        </p:txBody>
      </p:sp>
      <p:sp>
        <p:nvSpPr>
          <p:cNvPr id="40" name="Text 38"/>
          <p:cNvSpPr txBox="1"/>
          <p:nvPr/>
        </p:nvSpPr>
        <p:spPr>
          <a:xfrm>
            <a:off x="8330184" y="4572000"/>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separate HiFi-GAN</a:t>
            </a:r>
            <a:endParaRPr lang="en-US" sz="1300" dirty="0"/>
          </a:p>
        </p:txBody>
      </p:sp>
      <p:sp>
        <p:nvSpPr>
          <p:cNvPr id="41" name="Text 39"/>
          <p:cNvSpPr txBox="1"/>
          <p:nvPr/>
        </p:nvSpPr>
        <p:spPr>
          <a:xfrm>
            <a:off x="8330184" y="4992624"/>
            <a:ext cx="2962656" cy="256032"/>
          </a:xfrm>
          <a:prstGeom prst="rect">
            <a:avLst/>
          </a:prstGeom>
          <a:noFill/>
          <a:ln/>
        </p:spPr>
        <p:txBody>
          <a:bodyPr wrap="square" lIns="0" tIns="0" rIns="0" bIns="0" rtlCol="0" anchor="t"/>
          <a:lstStyle/>
          <a:p>
            <a:pPr indent="0" marL="0">
              <a:buNone/>
            </a:pPr>
            <a:r>
              <a:rPr lang="en-US" sz="1050" spc="100" kern="0" dirty="0">
                <a:solidFill>
                  <a:srgbClr val="5D666E"/>
                </a:solidFill>
                <a:latin typeface="Calibri" pitchFamily="34" charset="0"/>
                <a:ea typeface="Calibri" pitchFamily="34" charset="-122"/>
                <a:cs typeface="Calibri" pitchFamily="34" charset="-120"/>
              </a:rPr>
              <a:t>Weakness</a:t>
            </a:r>
            <a:endParaRPr lang="en-US" sz="1050" dirty="0"/>
          </a:p>
        </p:txBody>
      </p:sp>
      <p:sp>
        <p:nvSpPr>
          <p:cNvPr id="42" name="Text 40"/>
          <p:cNvSpPr txBox="1"/>
          <p:nvPr/>
        </p:nvSpPr>
        <p:spPr>
          <a:xfrm>
            <a:off x="8330184" y="5230368"/>
            <a:ext cx="2962656" cy="365760"/>
          </a:xfrm>
          <a:prstGeom prst="rect">
            <a:avLst/>
          </a:prstGeom>
          <a:noFill/>
          <a:ln/>
        </p:spPr>
        <p:txBody>
          <a:bodyPr wrap="square" lIns="0" tIns="0" rIns="0" bIns="0" rtlCol="0" anchor="t"/>
          <a:lstStyle/>
          <a:p>
            <a:pPr indent="0" marL="0">
              <a:buNone/>
            </a:pPr>
            <a:r>
              <a:rPr lang="en-US" sz="1300" dirty="0">
                <a:solidFill>
                  <a:srgbClr val="23303A"/>
                </a:solidFill>
                <a:latin typeface="Calibri" pitchFamily="34" charset="0"/>
                <a:ea typeface="Calibri" pitchFamily="34" charset="-122"/>
                <a:cs typeface="Calibri" pitchFamily="34" charset="-120"/>
              </a:rPr>
              <a:t>least validated on Indic</a:t>
            </a:r>
            <a:endParaRPr lang="en-US" sz="1300" dirty="0"/>
          </a:p>
        </p:txBody>
      </p:sp>
      <p:sp>
        <p:nvSpPr>
          <p:cNvPr id="43" name="Text 41"/>
          <p:cNvSpPr txBox="1"/>
          <p:nvPr/>
        </p:nvSpPr>
        <p:spPr>
          <a:xfrm>
            <a:off x="640080" y="6035040"/>
            <a:ext cx="10881360" cy="365760"/>
          </a:xfrm>
          <a:prstGeom prst="rect">
            <a:avLst/>
          </a:prstGeom>
          <a:noFill/>
          <a:ln/>
        </p:spPr>
        <p:txBody>
          <a:bodyPr wrap="square" lIns="0" tIns="0" rIns="0" bIns="0" rtlCol="0" anchor="t"/>
          <a:lstStyle/>
          <a:p>
            <a:pPr indent="0" marL="0">
              <a:buNone/>
            </a:pPr>
            <a:r>
              <a:rPr lang="en-US" sz="1300" i="1" dirty="0">
                <a:solidFill>
                  <a:srgbClr val="5D666E"/>
                </a:solidFill>
                <a:latin typeface="Calibri" pitchFamily="34" charset="0"/>
                <a:ea typeface="Calibri" pitchFamily="34" charset="-122"/>
                <a:cs typeface="Calibri" pitchFamily="34" charset="-120"/>
              </a:rPr>
              <a:t>StyleTTS 2 reports higher naturalness than any of these. It is cut for compute, not for quality, and is named as future work.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Literature review: the gap</a:t>
            </a:r>
            <a:endParaRPr lang="en-US" sz="2700" dirty="0"/>
          </a:p>
        </p:txBody>
      </p:sp>
      <p:sp>
        <p:nvSpPr>
          <p:cNvPr id="5" name="Text 3"/>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6</a:t>
            </a:r>
            <a:endParaRPr lang="en-US" sz="1100" dirty="0"/>
          </a:p>
        </p:txBody>
      </p:sp>
      <p:sp>
        <p:nvSpPr>
          <p:cNvPr id="6" name="Shape 4"/>
          <p:cNvSpPr/>
          <p:nvPr/>
        </p:nvSpPr>
        <p:spPr>
          <a:xfrm>
            <a:off x="640080" y="1463040"/>
            <a:ext cx="5577840" cy="932688"/>
          </a:xfrm>
          <a:prstGeom prst="roundRect">
            <a:avLst>
              <a:gd name="adj" fmla="val 5882"/>
            </a:avLst>
          </a:prstGeom>
          <a:solidFill>
            <a:srgbClr val="F2F5F5"/>
          </a:solidFill>
          <a:ln w="9525">
            <a:solidFill>
              <a:srgbClr val="D8DEDF"/>
            </a:solidFill>
            <a:prstDash val="solid"/>
          </a:ln>
        </p:spPr>
      </p:sp>
      <p:sp>
        <p:nvSpPr>
          <p:cNvPr id="7" name="Text 5"/>
          <p:cNvSpPr txBox="1"/>
          <p:nvPr/>
        </p:nvSpPr>
        <p:spPr>
          <a:xfrm>
            <a:off x="868680" y="1554480"/>
            <a:ext cx="5120640" cy="292608"/>
          </a:xfrm>
          <a:prstGeom prst="rect">
            <a:avLst/>
          </a:prstGeom>
          <a:noFill/>
          <a:ln/>
        </p:spPr>
        <p:txBody>
          <a:bodyPr wrap="square" lIns="0" tIns="0" rIns="0" bIns="0" rtlCol="0" anchor="t"/>
          <a:lstStyle/>
          <a:p>
            <a:pPr indent="0" marL="0">
              <a:buNone/>
            </a:pPr>
            <a:r>
              <a:rPr lang="en-US" sz="1500" b="1" dirty="0">
                <a:solidFill>
                  <a:srgbClr val="5D666E"/>
                </a:solidFill>
                <a:latin typeface="Cambria" pitchFamily="34" charset="0"/>
                <a:ea typeface="Cambria" pitchFamily="34" charset="-122"/>
                <a:cs typeface="Cambria" pitchFamily="34" charset="-120"/>
              </a:rPr>
              <a:t>External forced alignment</a:t>
            </a:r>
            <a:endParaRPr lang="en-US" sz="1500" dirty="0"/>
          </a:p>
        </p:txBody>
      </p:sp>
      <p:sp>
        <p:nvSpPr>
          <p:cNvPr id="8" name="Text 6"/>
          <p:cNvSpPr txBox="1"/>
          <p:nvPr/>
        </p:nvSpPr>
        <p:spPr>
          <a:xfrm>
            <a:off x="868680" y="1874520"/>
            <a:ext cx="5120640" cy="475488"/>
          </a:xfrm>
          <a:prstGeom prst="rect">
            <a:avLst/>
          </a:prstGeom>
          <a:noFill/>
          <a:ln/>
        </p:spPr>
        <p:txBody>
          <a:bodyPr wrap="square" lIns="0" tIns="0" rIns="0" bIns="0" rtlCol="0" anchor="t"/>
          <a:lstStyle/>
          <a:p>
            <a:pPr indent="0" marL="0">
              <a:lnSpc>
                <a:spcPts val="1500"/>
              </a:lnSpc>
              <a:buNone/>
            </a:pPr>
            <a:r>
              <a:rPr lang="en-US" sz="1200" dirty="0">
                <a:solidFill>
                  <a:srgbClr val="23303A"/>
                </a:solidFill>
                <a:latin typeface="Calibri" pitchFamily="34" charset="0"/>
                <a:ea typeface="Calibri" pitchFamily="34" charset="-122"/>
                <a:cs typeface="Calibri" pitchFamily="34" charset="-120"/>
              </a:rPr>
              <a:t>A separate GMM-HMM aligner marks phone boundaries. Accurate, and what the original FastSpeech 2 recipe assumed.</a:t>
            </a:r>
            <a:endParaRPr lang="en-US" sz="1200" dirty="0"/>
          </a:p>
        </p:txBody>
      </p:sp>
      <p:sp>
        <p:nvSpPr>
          <p:cNvPr id="9" name="Shape 7"/>
          <p:cNvSpPr/>
          <p:nvPr/>
        </p:nvSpPr>
        <p:spPr>
          <a:xfrm>
            <a:off x="640080" y="2514600"/>
            <a:ext cx="5577840" cy="932688"/>
          </a:xfrm>
          <a:prstGeom prst="roundRect">
            <a:avLst>
              <a:gd name="adj" fmla="val 5882"/>
            </a:avLst>
          </a:prstGeom>
          <a:solidFill>
            <a:srgbClr val="F2F5F5"/>
          </a:solidFill>
          <a:ln w="9525">
            <a:solidFill>
              <a:srgbClr val="D8DEDF"/>
            </a:solidFill>
            <a:prstDash val="solid"/>
          </a:ln>
        </p:spPr>
      </p:sp>
      <p:sp>
        <p:nvSpPr>
          <p:cNvPr id="10" name="Text 8"/>
          <p:cNvSpPr txBox="1"/>
          <p:nvPr/>
        </p:nvSpPr>
        <p:spPr>
          <a:xfrm>
            <a:off x="868680" y="2606040"/>
            <a:ext cx="5120640" cy="292608"/>
          </a:xfrm>
          <a:prstGeom prst="rect">
            <a:avLst/>
          </a:prstGeom>
          <a:noFill/>
          <a:ln/>
        </p:spPr>
        <p:txBody>
          <a:bodyPr wrap="square" lIns="0" tIns="0" rIns="0" bIns="0" rtlCol="0" anchor="t"/>
          <a:lstStyle/>
          <a:p>
            <a:pPr indent="0" marL="0">
              <a:buNone/>
            </a:pPr>
            <a:r>
              <a:rPr lang="en-US" sz="1500" b="1" dirty="0">
                <a:solidFill>
                  <a:srgbClr val="13383B"/>
                </a:solidFill>
                <a:latin typeface="Cambria" pitchFamily="34" charset="0"/>
                <a:ea typeface="Cambria" pitchFamily="34" charset="-122"/>
                <a:cs typeface="Cambria" pitchFamily="34" charset="-120"/>
              </a:rPr>
              <a:t>Monotonic alignment search</a:t>
            </a:r>
            <a:endParaRPr lang="en-US" sz="1500" dirty="0"/>
          </a:p>
        </p:txBody>
      </p:sp>
      <p:sp>
        <p:nvSpPr>
          <p:cNvPr id="11" name="Text 9"/>
          <p:cNvSpPr txBox="1"/>
          <p:nvPr/>
        </p:nvSpPr>
        <p:spPr>
          <a:xfrm>
            <a:off x="868680" y="2926080"/>
            <a:ext cx="5120640" cy="475488"/>
          </a:xfrm>
          <a:prstGeom prst="rect">
            <a:avLst/>
          </a:prstGeom>
          <a:noFill/>
          <a:ln/>
        </p:spPr>
        <p:txBody>
          <a:bodyPr wrap="square" lIns="0" tIns="0" rIns="0" bIns="0" rtlCol="0" anchor="t"/>
          <a:lstStyle/>
          <a:p>
            <a:pPr indent="0" marL="0">
              <a:lnSpc>
                <a:spcPts val="1500"/>
              </a:lnSpc>
              <a:buNone/>
            </a:pPr>
            <a:r>
              <a:rPr lang="en-US" sz="1200" dirty="0">
                <a:solidFill>
                  <a:srgbClr val="23303A"/>
                </a:solidFill>
                <a:latin typeface="Calibri" pitchFamily="34" charset="0"/>
                <a:ea typeface="Calibri" pitchFamily="34" charset="-122"/>
                <a:cs typeface="Calibri" pitchFamily="34" charset="-120"/>
              </a:rPr>
              <a:t>Dynamic programming inside the model, improving as the model does. Used by VITS and Matcha-TTS.</a:t>
            </a:r>
            <a:endParaRPr lang="en-US" sz="1200" dirty="0"/>
          </a:p>
        </p:txBody>
      </p:sp>
      <p:sp>
        <p:nvSpPr>
          <p:cNvPr id="12" name="Shape 10"/>
          <p:cNvSpPr/>
          <p:nvPr/>
        </p:nvSpPr>
        <p:spPr>
          <a:xfrm>
            <a:off x="640080" y="3566160"/>
            <a:ext cx="5577840" cy="932688"/>
          </a:xfrm>
          <a:prstGeom prst="roundRect">
            <a:avLst>
              <a:gd name="adj" fmla="val 5882"/>
            </a:avLst>
          </a:prstGeom>
          <a:solidFill>
            <a:srgbClr val="F6EAE6"/>
          </a:solidFill>
          <a:ln w="9525">
            <a:solidFill>
              <a:srgbClr val="B0432A"/>
            </a:solidFill>
            <a:prstDash val="solid"/>
          </a:ln>
        </p:spPr>
      </p:sp>
      <p:sp>
        <p:nvSpPr>
          <p:cNvPr id="13" name="Text 11"/>
          <p:cNvSpPr txBox="1"/>
          <p:nvPr/>
        </p:nvSpPr>
        <p:spPr>
          <a:xfrm>
            <a:off x="868680" y="3657600"/>
            <a:ext cx="5120640" cy="292608"/>
          </a:xfrm>
          <a:prstGeom prst="rect">
            <a:avLst/>
          </a:prstGeom>
          <a:noFill/>
          <a:ln/>
        </p:spPr>
        <p:txBody>
          <a:bodyPr wrap="square" lIns="0" tIns="0" rIns="0" bIns="0" rtlCol="0" anchor="t"/>
          <a:lstStyle/>
          <a:p>
            <a:pPr indent="0" marL="0">
              <a:buNone/>
            </a:pPr>
            <a:r>
              <a:rPr lang="en-US" sz="1500" b="1" dirty="0">
                <a:solidFill>
                  <a:srgbClr val="B0432A"/>
                </a:solidFill>
                <a:latin typeface="Cambria" pitchFamily="34" charset="0"/>
                <a:ea typeface="Cambria" pitchFamily="34" charset="-122"/>
                <a:cs typeface="Cambria" pitchFamily="34" charset="-120"/>
              </a:rPr>
              <a:t>Internal unsupervised aligner</a:t>
            </a:r>
            <a:endParaRPr lang="en-US" sz="1500" dirty="0"/>
          </a:p>
        </p:txBody>
      </p:sp>
      <p:sp>
        <p:nvSpPr>
          <p:cNvPr id="14" name="Text 12"/>
          <p:cNvSpPr txBox="1"/>
          <p:nvPr/>
        </p:nvSpPr>
        <p:spPr>
          <a:xfrm>
            <a:off x="868680" y="3977640"/>
            <a:ext cx="5120640" cy="475488"/>
          </a:xfrm>
          <a:prstGeom prst="rect">
            <a:avLst/>
          </a:prstGeom>
          <a:noFill/>
          <a:ln/>
        </p:spPr>
        <p:txBody>
          <a:bodyPr wrap="square" lIns="0" tIns="0" rIns="0" bIns="0" rtlCol="0" anchor="t"/>
          <a:lstStyle/>
          <a:p>
            <a:pPr indent="0" marL="0">
              <a:lnSpc>
                <a:spcPts val="1500"/>
              </a:lnSpc>
              <a:buNone/>
            </a:pPr>
            <a:r>
              <a:rPr lang="en-US" sz="1200" dirty="0">
                <a:solidFill>
                  <a:srgbClr val="23303A"/>
                </a:solidFill>
                <a:latin typeface="Calibri" pitchFamily="34" charset="0"/>
                <a:ea typeface="Calibri" pitchFamily="34" charset="-122"/>
                <a:cs typeface="Calibri" pitchFamily="34" charset="-120"/>
              </a:rPr>
              <a:t>Soft attention learned jointly, then sharpened to a hard path. Used here for FastSpeech 2.</a:t>
            </a:r>
            <a:endParaRPr lang="en-US" sz="1200" dirty="0"/>
          </a:p>
        </p:txBody>
      </p:sp>
      <p:sp>
        <p:nvSpPr>
          <p:cNvPr id="15" name="Text 13"/>
          <p:cNvSpPr txBox="1"/>
          <p:nvPr/>
        </p:nvSpPr>
        <p:spPr>
          <a:xfrm>
            <a:off x="640080" y="4800600"/>
            <a:ext cx="5577840" cy="310896"/>
          </a:xfrm>
          <a:prstGeom prst="rect">
            <a:avLst/>
          </a:prstGeom>
          <a:noFill/>
          <a:ln/>
        </p:spPr>
        <p:txBody>
          <a:bodyPr wrap="square" lIns="0" tIns="0" rIns="0" bIns="0" rtlCol="0" anchor="t"/>
          <a:lstStyle/>
          <a:p>
            <a:pPr indent="0" marL="0">
              <a:buNone/>
            </a:pPr>
            <a:r>
              <a:rPr lang="en-US" sz="1500" b="1" dirty="0">
                <a:solidFill>
                  <a:srgbClr val="13383B"/>
                </a:solidFill>
                <a:latin typeface="Cambria" pitchFamily="34" charset="0"/>
                <a:ea typeface="Cambria" pitchFamily="34" charset="-122"/>
                <a:cs typeface="Cambria" pitchFamily="34" charset="-120"/>
              </a:rPr>
              <a:t>Why forced alignment was dropped</a:t>
            </a:r>
            <a:endParaRPr lang="en-US" sz="1500" dirty="0"/>
          </a:p>
        </p:txBody>
      </p:sp>
      <p:sp>
        <p:nvSpPr>
          <p:cNvPr id="16" name="Text 14"/>
          <p:cNvSpPr txBox="1"/>
          <p:nvPr/>
        </p:nvSpPr>
        <p:spPr>
          <a:xfrm>
            <a:off x="640080" y="5212080"/>
            <a:ext cx="5577840" cy="1005840"/>
          </a:xfrm>
          <a:prstGeom prst="rect">
            <a:avLst/>
          </a:prstGeom>
          <a:noFill/>
          <a:ln/>
        </p:spPr>
        <p:txBody>
          <a:bodyPr wrap="square" lIns="0" tIns="0" rIns="0" bIns="0" rtlCol="0" anchor="t"/>
          <a:lstStyle/>
          <a:p>
            <a:pPr indent="0" marL="0">
              <a:lnSpc>
                <a:spcPts val="1700"/>
              </a:lnSpc>
              <a:buNone/>
            </a:pPr>
            <a:r>
              <a:rPr lang="en-US" sz="1250" dirty="0">
                <a:solidFill>
                  <a:srgbClr val="23303A"/>
                </a:solidFill>
                <a:latin typeface="Calibri" pitchFamily="34" charset="0"/>
                <a:ea typeface="Calibri" pitchFamily="34" charset="-122"/>
                <a:cs typeface="Calibri" pitchFamily="34" charset="-120"/>
              </a:rPr>
              <a:t>Forced alignment would give FastSpeech 2 supervision the other two never get, and MFA has a Hindi model but no Marathi one. Both asymmetries would sit inside the comparison.</a:t>
            </a:r>
            <a:endParaRPr lang="en-US" sz="1250" dirty="0"/>
          </a:p>
        </p:txBody>
      </p:sp>
      <p:sp>
        <p:nvSpPr>
          <p:cNvPr id="17" name="Shape 15"/>
          <p:cNvSpPr/>
          <p:nvPr/>
        </p:nvSpPr>
        <p:spPr>
          <a:xfrm>
            <a:off x="6492240" y="1371600"/>
            <a:ext cx="5029200" cy="4846320"/>
          </a:xfrm>
          <a:prstGeom prst="roundRect">
            <a:avLst>
              <a:gd name="adj" fmla="val 1132"/>
            </a:avLst>
          </a:prstGeom>
          <a:solidFill>
            <a:srgbClr val="F2F5F5"/>
          </a:solidFill>
          <a:ln w="9525">
            <a:solidFill>
              <a:srgbClr val="D8DEDF"/>
            </a:solidFill>
            <a:prstDash val="solid"/>
          </a:ln>
        </p:spPr>
      </p:sp>
      <p:sp>
        <p:nvSpPr>
          <p:cNvPr id="18" name="Text 16"/>
          <p:cNvSpPr txBox="1"/>
          <p:nvPr/>
        </p:nvSpPr>
        <p:spPr>
          <a:xfrm>
            <a:off x="6766560" y="1600200"/>
            <a:ext cx="4572000" cy="310896"/>
          </a:xfrm>
          <a:prstGeom prst="rect">
            <a:avLst/>
          </a:prstGeom>
          <a:noFill/>
          <a:ln/>
        </p:spPr>
        <p:txBody>
          <a:bodyPr wrap="square" lIns="0" tIns="0" rIns="0" bIns="0" rtlCol="0" anchor="t"/>
          <a:lstStyle/>
          <a:p>
            <a:pPr indent="0" marL="0">
              <a:buNone/>
            </a:pPr>
            <a:r>
              <a:rPr lang="en-US" sz="1600" b="1" dirty="0">
                <a:solidFill>
                  <a:srgbClr val="13383B"/>
                </a:solidFill>
                <a:latin typeface="Cambria" pitchFamily="34" charset="0"/>
                <a:ea typeface="Cambria" pitchFamily="34" charset="-122"/>
                <a:cs typeface="Cambria" pitchFamily="34" charset="-120"/>
              </a:rPr>
              <a:t>What no existing work does</a:t>
            </a:r>
            <a:endParaRPr lang="en-US" sz="1600" dirty="0"/>
          </a:p>
        </p:txBody>
      </p:sp>
      <p:sp>
        <p:nvSpPr>
          <p:cNvPr id="19" name="Text 17"/>
          <p:cNvSpPr txBox="1"/>
          <p:nvPr/>
        </p:nvSpPr>
        <p:spPr>
          <a:xfrm>
            <a:off x="6766560" y="2148840"/>
            <a:ext cx="2286000" cy="329184"/>
          </a:xfrm>
          <a:prstGeom prst="rect">
            <a:avLst/>
          </a:prstGeom>
          <a:noFill/>
          <a:ln/>
        </p:spPr>
        <p:txBody>
          <a:bodyPr wrap="square" lIns="0" tIns="0" rIns="0" bIns="0" rtlCol="0" anchor="t"/>
          <a:lstStyle/>
          <a:p>
            <a:pPr indent="0" marL="0">
              <a:buNone/>
            </a:pPr>
            <a:r>
              <a:rPr lang="en-US" sz="1300" b="1" dirty="0">
                <a:solidFill>
                  <a:srgbClr val="23303A"/>
                </a:solidFill>
                <a:latin typeface="Calibri" pitchFamily="34" charset="0"/>
                <a:ea typeface="Calibri" pitchFamily="34" charset="-122"/>
                <a:cs typeface="Calibri" pitchFamily="34" charset="-120"/>
              </a:rPr>
              <a:t>Narasimhan et al.</a:t>
            </a:r>
            <a:endParaRPr lang="en-US" sz="1300" dirty="0"/>
          </a:p>
        </p:txBody>
      </p:sp>
      <p:sp>
        <p:nvSpPr>
          <p:cNvPr id="20" name="Text 18"/>
          <p:cNvSpPr txBox="1"/>
          <p:nvPr/>
        </p:nvSpPr>
        <p:spPr>
          <a:xfrm>
            <a:off x="9052560" y="2148840"/>
            <a:ext cx="2286000" cy="329184"/>
          </a:xfrm>
          <a:prstGeom prst="rect">
            <a:avLst/>
          </a:prstGeom>
          <a:noFill/>
          <a:ln/>
        </p:spPr>
        <p:txBody>
          <a:bodyPr wrap="square" lIns="0" tIns="0" rIns="0" bIns="0" rtlCol="0" anchor="t"/>
          <a:lstStyle/>
          <a:p>
            <a:pPr indent="0" marL="0">
              <a:buNone/>
            </a:pPr>
            <a:r>
              <a:rPr lang="en-US" sz="1250" dirty="0">
                <a:solidFill>
                  <a:srgbClr val="5D666E"/>
                </a:solidFill>
                <a:latin typeface="Calibri" pitchFamily="34" charset="0"/>
                <a:ea typeface="Calibri" pitchFamily="34" charset="-122"/>
                <a:cs typeface="Calibri" pitchFamily="34" charset="-120"/>
              </a:rPr>
              <a:t>rule only, no TTS</a:t>
            </a:r>
            <a:endParaRPr lang="en-US" sz="1250" dirty="0"/>
          </a:p>
        </p:txBody>
      </p:sp>
      <p:sp>
        <p:nvSpPr>
          <p:cNvPr id="21" name="Text 19"/>
          <p:cNvSpPr txBox="1"/>
          <p:nvPr/>
        </p:nvSpPr>
        <p:spPr>
          <a:xfrm>
            <a:off x="6766560" y="2624328"/>
            <a:ext cx="2286000" cy="329184"/>
          </a:xfrm>
          <a:prstGeom prst="rect">
            <a:avLst/>
          </a:prstGeom>
          <a:noFill/>
          <a:ln/>
        </p:spPr>
        <p:txBody>
          <a:bodyPr wrap="square" lIns="0" tIns="0" rIns="0" bIns="0" rtlCol="0" anchor="t"/>
          <a:lstStyle/>
          <a:p>
            <a:pPr indent="0" marL="0">
              <a:buNone/>
            </a:pPr>
            <a:r>
              <a:rPr lang="en-US" sz="1300" b="1" dirty="0">
                <a:solidFill>
                  <a:srgbClr val="23303A"/>
                </a:solidFill>
                <a:latin typeface="Calibri" pitchFamily="34" charset="0"/>
                <a:ea typeface="Calibri" pitchFamily="34" charset="-122"/>
                <a:cs typeface="Calibri" pitchFamily="34" charset="-120"/>
              </a:rPr>
              <a:t>Arora et al.</a:t>
            </a:r>
            <a:endParaRPr lang="en-US" sz="1300" dirty="0"/>
          </a:p>
        </p:txBody>
      </p:sp>
      <p:sp>
        <p:nvSpPr>
          <p:cNvPr id="22" name="Text 20"/>
          <p:cNvSpPr txBox="1"/>
          <p:nvPr/>
        </p:nvSpPr>
        <p:spPr>
          <a:xfrm>
            <a:off x="9052560" y="2624328"/>
            <a:ext cx="2286000" cy="329184"/>
          </a:xfrm>
          <a:prstGeom prst="rect">
            <a:avLst/>
          </a:prstGeom>
          <a:noFill/>
          <a:ln/>
        </p:spPr>
        <p:txBody>
          <a:bodyPr wrap="square" lIns="0" tIns="0" rIns="0" bIns="0" rtlCol="0" anchor="t"/>
          <a:lstStyle/>
          <a:p>
            <a:pPr indent="0" marL="0">
              <a:buNone/>
            </a:pPr>
            <a:r>
              <a:rPr lang="en-US" sz="1250" dirty="0">
                <a:solidFill>
                  <a:srgbClr val="5D666E"/>
                </a:solidFill>
                <a:latin typeface="Calibri" pitchFamily="34" charset="0"/>
                <a:ea typeface="Calibri" pitchFamily="34" charset="-122"/>
                <a:cs typeface="Calibri" pitchFamily="34" charset="-120"/>
              </a:rPr>
              <a:t>G2P accuracy only</a:t>
            </a:r>
            <a:endParaRPr lang="en-US" sz="1250" dirty="0"/>
          </a:p>
        </p:txBody>
      </p:sp>
      <p:sp>
        <p:nvSpPr>
          <p:cNvPr id="23" name="Text 21"/>
          <p:cNvSpPr txBox="1"/>
          <p:nvPr/>
        </p:nvSpPr>
        <p:spPr>
          <a:xfrm>
            <a:off x="6766560" y="3099816"/>
            <a:ext cx="2286000" cy="329184"/>
          </a:xfrm>
          <a:prstGeom prst="rect">
            <a:avLst/>
          </a:prstGeom>
          <a:noFill/>
          <a:ln/>
        </p:spPr>
        <p:txBody>
          <a:bodyPr wrap="square" lIns="0" tIns="0" rIns="0" bIns="0" rtlCol="0" anchor="t"/>
          <a:lstStyle/>
          <a:p>
            <a:pPr indent="0" marL="0">
              <a:buNone/>
            </a:pPr>
            <a:r>
              <a:rPr lang="en-US" sz="1300" b="1" dirty="0">
                <a:solidFill>
                  <a:srgbClr val="23303A"/>
                </a:solidFill>
                <a:latin typeface="Calibri" pitchFamily="34" charset="0"/>
                <a:ea typeface="Calibri" pitchFamily="34" charset="-122"/>
                <a:cs typeface="Calibri" pitchFamily="34" charset="-120"/>
              </a:rPr>
              <a:t>AI4Bharat</a:t>
            </a:r>
            <a:endParaRPr lang="en-US" sz="1300" dirty="0"/>
          </a:p>
        </p:txBody>
      </p:sp>
      <p:sp>
        <p:nvSpPr>
          <p:cNvPr id="24" name="Text 22"/>
          <p:cNvSpPr txBox="1"/>
          <p:nvPr/>
        </p:nvSpPr>
        <p:spPr>
          <a:xfrm>
            <a:off x="9052560" y="3099816"/>
            <a:ext cx="2286000" cy="329184"/>
          </a:xfrm>
          <a:prstGeom prst="rect">
            <a:avLst/>
          </a:prstGeom>
          <a:noFill/>
          <a:ln/>
        </p:spPr>
        <p:txBody>
          <a:bodyPr wrap="square" lIns="0" tIns="0" rIns="0" bIns="0" rtlCol="0" anchor="t"/>
          <a:lstStyle/>
          <a:p>
            <a:pPr indent="0" marL="0">
              <a:buNone/>
            </a:pPr>
            <a:r>
              <a:rPr lang="en-US" sz="1250" dirty="0">
                <a:solidFill>
                  <a:srgbClr val="5D666E"/>
                </a:solidFill>
                <a:latin typeface="Calibri" pitchFamily="34" charset="0"/>
                <a:ea typeface="Calibri" pitchFamily="34" charset="-122"/>
                <a:cs typeface="Calibri" pitchFamily="34" charset="-120"/>
              </a:rPr>
              <a:t>single system</a:t>
            </a:r>
            <a:endParaRPr lang="en-US" sz="1250" dirty="0"/>
          </a:p>
        </p:txBody>
      </p:sp>
      <p:sp>
        <p:nvSpPr>
          <p:cNvPr id="25" name="Text 23"/>
          <p:cNvSpPr txBox="1"/>
          <p:nvPr/>
        </p:nvSpPr>
        <p:spPr>
          <a:xfrm>
            <a:off x="6766560" y="3575304"/>
            <a:ext cx="2286000" cy="329184"/>
          </a:xfrm>
          <a:prstGeom prst="rect">
            <a:avLst/>
          </a:prstGeom>
          <a:noFill/>
          <a:ln/>
        </p:spPr>
        <p:txBody>
          <a:bodyPr wrap="square" lIns="0" tIns="0" rIns="0" bIns="0" rtlCol="0" anchor="t"/>
          <a:lstStyle/>
          <a:p>
            <a:pPr indent="0" marL="0">
              <a:buNone/>
            </a:pPr>
            <a:r>
              <a:rPr lang="en-US" sz="1300" b="1" dirty="0">
                <a:solidFill>
                  <a:srgbClr val="23303A"/>
                </a:solidFill>
                <a:latin typeface="Calibri" pitchFamily="34" charset="0"/>
                <a:ea typeface="Calibri" pitchFamily="34" charset="-122"/>
                <a:cs typeface="Calibri" pitchFamily="34" charset="-120"/>
              </a:rPr>
              <a:t>IndicVoices-R</a:t>
            </a:r>
            <a:endParaRPr lang="en-US" sz="1300" dirty="0"/>
          </a:p>
        </p:txBody>
      </p:sp>
      <p:sp>
        <p:nvSpPr>
          <p:cNvPr id="26" name="Text 24"/>
          <p:cNvSpPr txBox="1"/>
          <p:nvPr/>
        </p:nvSpPr>
        <p:spPr>
          <a:xfrm>
            <a:off x="9052560" y="3575304"/>
            <a:ext cx="2286000" cy="329184"/>
          </a:xfrm>
          <a:prstGeom prst="rect">
            <a:avLst/>
          </a:prstGeom>
          <a:noFill/>
          <a:ln/>
        </p:spPr>
        <p:txBody>
          <a:bodyPr wrap="square" lIns="0" tIns="0" rIns="0" bIns="0" rtlCol="0" anchor="t"/>
          <a:lstStyle/>
          <a:p>
            <a:pPr indent="0" marL="0">
              <a:buNone/>
            </a:pPr>
            <a:r>
              <a:rPr lang="en-US" sz="1250" dirty="0">
                <a:solidFill>
                  <a:srgbClr val="5D666E"/>
                </a:solidFill>
                <a:latin typeface="Calibri" pitchFamily="34" charset="0"/>
                <a:ea typeface="Calibri" pitchFamily="34" charset="-122"/>
                <a:cs typeface="Calibri" pitchFamily="34" charset="-120"/>
              </a:rPr>
              <a:t>corpus contribution</a:t>
            </a:r>
            <a:endParaRPr lang="en-US" sz="1250" dirty="0"/>
          </a:p>
        </p:txBody>
      </p:sp>
      <p:sp>
        <p:nvSpPr>
          <p:cNvPr id="27" name="Text 25"/>
          <p:cNvSpPr txBox="1"/>
          <p:nvPr/>
        </p:nvSpPr>
        <p:spPr>
          <a:xfrm>
            <a:off x="6766560" y="4050792"/>
            <a:ext cx="2286000" cy="329184"/>
          </a:xfrm>
          <a:prstGeom prst="rect">
            <a:avLst/>
          </a:prstGeom>
          <a:noFill/>
          <a:ln/>
        </p:spPr>
        <p:txBody>
          <a:bodyPr wrap="square" lIns="0" tIns="0" rIns="0" bIns="0" rtlCol="0" anchor="t"/>
          <a:lstStyle/>
          <a:p>
            <a:pPr indent="0" marL="0">
              <a:buNone/>
            </a:pPr>
            <a:r>
              <a:rPr lang="en-US" sz="1300" b="1" dirty="0">
                <a:solidFill>
                  <a:srgbClr val="23303A"/>
                </a:solidFill>
                <a:latin typeface="Calibri" pitchFamily="34" charset="0"/>
                <a:ea typeface="Calibri" pitchFamily="34" charset="-122"/>
                <a:cs typeface="Calibri" pitchFamily="34" charset="-120"/>
              </a:rPr>
              <a:t>MMS</a:t>
            </a:r>
            <a:endParaRPr lang="en-US" sz="1300" dirty="0"/>
          </a:p>
        </p:txBody>
      </p:sp>
      <p:sp>
        <p:nvSpPr>
          <p:cNvPr id="28" name="Text 26"/>
          <p:cNvSpPr txBox="1"/>
          <p:nvPr/>
        </p:nvSpPr>
        <p:spPr>
          <a:xfrm>
            <a:off x="9052560" y="4050792"/>
            <a:ext cx="2286000" cy="329184"/>
          </a:xfrm>
          <a:prstGeom prst="rect">
            <a:avLst/>
          </a:prstGeom>
          <a:noFill/>
          <a:ln/>
        </p:spPr>
        <p:txBody>
          <a:bodyPr wrap="square" lIns="0" tIns="0" rIns="0" bIns="0" rtlCol="0" anchor="t"/>
          <a:lstStyle/>
          <a:p>
            <a:pPr indent="0" marL="0">
              <a:buNone/>
            </a:pPr>
            <a:r>
              <a:rPr lang="en-US" sz="1250" dirty="0">
                <a:solidFill>
                  <a:srgbClr val="5D666E"/>
                </a:solidFill>
                <a:latin typeface="Calibri" pitchFamily="34" charset="0"/>
                <a:ea typeface="Calibri" pitchFamily="34" charset="-122"/>
                <a:cs typeface="Calibri" pitchFamily="34" charset="-120"/>
              </a:rPr>
              <a:t>one model, 1,000+ languages</a:t>
            </a:r>
            <a:endParaRPr lang="en-US" sz="1250" dirty="0"/>
          </a:p>
        </p:txBody>
      </p:sp>
      <p:sp>
        <p:nvSpPr>
          <p:cNvPr id="29" name="Shape 27"/>
          <p:cNvSpPr/>
          <p:nvPr/>
        </p:nvSpPr>
        <p:spPr>
          <a:xfrm>
            <a:off x="6766560" y="4663440"/>
            <a:ext cx="4480560" cy="1325880"/>
          </a:xfrm>
          <a:prstGeom prst="roundRect">
            <a:avLst>
              <a:gd name="adj" fmla="val 4138"/>
            </a:avLst>
          </a:prstGeom>
          <a:solidFill>
            <a:srgbClr val="F6EAE6"/>
          </a:solidFill>
          <a:ln w="11430">
            <a:solidFill>
              <a:srgbClr val="B0432A"/>
            </a:solidFill>
            <a:prstDash val="solid"/>
          </a:ln>
        </p:spPr>
      </p:sp>
      <p:sp>
        <p:nvSpPr>
          <p:cNvPr id="30" name="Text 28"/>
          <p:cNvSpPr txBox="1"/>
          <p:nvPr/>
        </p:nvSpPr>
        <p:spPr>
          <a:xfrm>
            <a:off x="6995160" y="4846320"/>
            <a:ext cx="4023360" cy="1005840"/>
          </a:xfrm>
          <a:prstGeom prst="rect">
            <a:avLst/>
          </a:prstGeom>
          <a:noFill/>
          <a:ln/>
        </p:spPr>
        <p:txBody>
          <a:bodyPr wrap="square" lIns="0" tIns="0" rIns="0" bIns="0" rtlCol="0" anchor="t"/>
          <a:lstStyle/>
          <a:p>
            <a:pPr indent="0" marL="0">
              <a:lnSpc>
                <a:spcPts val="1800"/>
              </a:lnSpc>
              <a:buNone/>
            </a:pPr>
            <a:r>
              <a:rPr lang="en-US" sz="1300" dirty="0">
                <a:solidFill>
                  <a:srgbClr val="5A2A1C"/>
                </a:solidFill>
                <a:latin typeface="Calibri" pitchFamily="34" charset="0"/>
                <a:ea typeface="Calibri" pitchFamily="34" charset="-122"/>
                <a:cs typeface="Calibri" pitchFamily="34" charset="-120"/>
              </a:rPr>
              <a:t>None isolates the front end, none uses a same-script control, and none reports how the effect changes with data quantity.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Methodology: one variable at a time</a:t>
            </a:r>
            <a:endParaRPr lang="en-US" sz="2700" dirty="0"/>
          </a:p>
        </p:txBody>
      </p:sp>
      <p:sp>
        <p:nvSpPr>
          <p:cNvPr id="5" name="Text 3"/>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7</a:t>
            </a:r>
            <a:endParaRPr lang="en-US" sz="1100" dirty="0"/>
          </a:p>
        </p:txBody>
      </p:sp>
      <p:sp>
        <p:nvSpPr>
          <p:cNvPr id="6" name="Shape 4"/>
          <p:cNvSpPr/>
          <p:nvPr/>
        </p:nvSpPr>
        <p:spPr>
          <a:xfrm>
            <a:off x="640080" y="1463040"/>
            <a:ext cx="1645920" cy="603504"/>
          </a:xfrm>
          <a:prstGeom prst="roundRect">
            <a:avLst>
              <a:gd name="adj" fmla="val 9091"/>
            </a:avLst>
          </a:prstGeom>
          <a:solidFill>
            <a:srgbClr val="F2F5F5"/>
          </a:solidFill>
          <a:ln w="11430">
            <a:solidFill>
              <a:srgbClr val="D8DEDF"/>
            </a:solidFill>
            <a:prstDash val="solid"/>
          </a:ln>
        </p:spPr>
      </p:sp>
      <p:sp>
        <p:nvSpPr>
          <p:cNvPr id="7" name="Text 5"/>
          <p:cNvSpPr txBox="1"/>
          <p:nvPr/>
        </p:nvSpPr>
        <p:spPr>
          <a:xfrm>
            <a:off x="640080" y="1463040"/>
            <a:ext cx="1645920" cy="603504"/>
          </a:xfrm>
          <a:prstGeom prst="rect">
            <a:avLst/>
          </a:prstGeom>
          <a:noFill/>
          <a:ln/>
        </p:spPr>
        <p:txBody>
          <a:bodyPr wrap="square" lIns="0" tIns="0" rIns="0" bIns="0" rtlCol="0" anchor="ctr"/>
          <a:lstStyle/>
          <a:p>
            <a:pPr algn="ctr" indent="0" marL="0">
              <a:buNone/>
            </a:pPr>
            <a:r>
              <a:rPr lang="en-US" sz="1250" b="1" dirty="0">
                <a:solidFill>
                  <a:srgbClr val="13383B"/>
                </a:solidFill>
                <a:latin typeface="Cambria" pitchFamily="34" charset="0"/>
                <a:ea typeface="Cambria" pitchFamily="34" charset="-122"/>
                <a:cs typeface="Cambria" pitchFamily="34" charset="-120"/>
              </a:rPr>
              <a:t>Two corpora</a:t>
            </a:r>
            <a:endParaRPr lang="en-US" sz="1250" dirty="0"/>
          </a:p>
        </p:txBody>
      </p:sp>
      <p:sp>
        <p:nvSpPr>
          <p:cNvPr id="8" name="Text 6"/>
          <p:cNvSpPr txBox="1"/>
          <p:nvPr/>
        </p:nvSpPr>
        <p:spPr>
          <a:xfrm>
            <a:off x="2468880" y="1581912"/>
            <a:ext cx="4023360" cy="457200"/>
          </a:xfrm>
          <a:prstGeom prst="rect">
            <a:avLst/>
          </a:prstGeom>
          <a:noFill/>
          <a:ln/>
        </p:spPr>
        <p:txBody>
          <a:bodyPr wrap="square" lIns="0" tIns="0" rIns="0" bIns="0" rtlCol="0" anchor="t"/>
          <a:lstStyle/>
          <a:p>
            <a:pPr indent="0" marL="0">
              <a:lnSpc>
                <a:spcPts val="1600"/>
              </a:lnSpc>
              <a:buNone/>
            </a:pPr>
            <a:r>
              <a:rPr lang="en-US" sz="1200" dirty="0">
                <a:solidFill>
                  <a:srgbClr val="23303A"/>
                </a:solidFill>
                <a:latin typeface="Calibri" pitchFamily="34" charset="0"/>
                <a:ea typeface="Calibri" pitchFamily="34" charset="-122"/>
                <a:cs typeface="Calibri" pitchFamily="34" charset="-120"/>
              </a:rPr>
              <a:t>IndicTTS Hindi and Marathi, 48.6 h measured</a:t>
            </a:r>
            <a:endParaRPr lang="en-US" sz="1200" dirty="0"/>
          </a:p>
        </p:txBody>
      </p:sp>
      <p:sp>
        <p:nvSpPr>
          <p:cNvPr id="9" name="Shape 7"/>
          <p:cNvSpPr/>
          <p:nvPr/>
        </p:nvSpPr>
        <p:spPr>
          <a:xfrm>
            <a:off x="1463040" y="2066544"/>
            <a:ext cx="0" cy="182880"/>
          </a:xfrm>
          <a:prstGeom prst="line">
            <a:avLst/>
          </a:prstGeom>
          <a:noFill/>
          <a:ln w="15240">
            <a:solidFill>
              <a:srgbClr val="D8DEDF"/>
            </a:solidFill>
            <a:prstDash val="solid"/>
          </a:ln>
        </p:spPr>
      </p:sp>
      <p:sp>
        <p:nvSpPr>
          <p:cNvPr id="10" name="Shape 8"/>
          <p:cNvSpPr/>
          <p:nvPr/>
        </p:nvSpPr>
        <p:spPr>
          <a:xfrm>
            <a:off x="640080" y="2249424"/>
            <a:ext cx="1645920" cy="603504"/>
          </a:xfrm>
          <a:prstGeom prst="roundRect">
            <a:avLst>
              <a:gd name="adj" fmla="val 9091"/>
            </a:avLst>
          </a:prstGeom>
          <a:solidFill>
            <a:srgbClr val="F2F5F5"/>
          </a:solidFill>
          <a:ln w="11430">
            <a:solidFill>
              <a:srgbClr val="D8DEDF"/>
            </a:solidFill>
            <a:prstDash val="solid"/>
          </a:ln>
        </p:spPr>
      </p:sp>
      <p:sp>
        <p:nvSpPr>
          <p:cNvPr id="11" name="Text 9"/>
          <p:cNvSpPr txBox="1"/>
          <p:nvPr/>
        </p:nvSpPr>
        <p:spPr>
          <a:xfrm>
            <a:off x="640080" y="2249424"/>
            <a:ext cx="1645920" cy="603504"/>
          </a:xfrm>
          <a:prstGeom prst="rect">
            <a:avLst/>
          </a:prstGeom>
          <a:noFill/>
          <a:ln/>
        </p:spPr>
        <p:txBody>
          <a:bodyPr wrap="square" lIns="0" tIns="0" rIns="0" bIns="0" rtlCol="0" anchor="ctr"/>
          <a:lstStyle/>
          <a:p>
            <a:pPr algn="ctr" indent="0" marL="0">
              <a:buNone/>
            </a:pPr>
            <a:r>
              <a:rPr lang="en-US" sz="1250" b="1" dirty="0">
                <a:solidFill>
                  <a:srgbClr val="13383B"/>
                </a:solidFill>
                <a:latin typeface="Cambria" pitchFamily="34" charset="0"/>
                <a:ea typeface="Cambria" pitchFamily="34" charset="-122"/>
                <a:cs typeface="Cambria" pitchFamily="34" charset="-120"/>
              </a:rPr>
              <a:t>Standardise</a:t>
            </a:r>
            <a:endParaRPr lang="en-US" sz="1250" dirty="0"/>
          </a:p>
        </p:txBody>
      </p:sp>
      <p:sp>
        <p:nvSpPr>
          <p:cNvPr id="12" name="Text 10"/>
          <p:cNvSpPr txBox="1"/>
          <p:nvPr/>
        </p:nvSpPr>
        <p:spPr>
          <a:xfrm>
            <a:off x="2468880" y="2368296"/>
            <a:ext cx="4023360" cy="457200"/>
          </a:xfrm>
          <a:prstGeom prst="rect">
            <a:avLst/>
          </a:prstGeom>
          <a:noFill/>
          <a:ln/>
        </p:spPr>
        <p:txBody>
          <a:bodyPr wrap="square" lIns="0" tIns="0" rIns="0" bIns="0" rtlCol="0" anchor="t"/>
          <a:lstStyle/>
          <a:p>
            <a:pPr indent="0" marL="0">
              <a:lnSpc>
                <a:spcPts val="1600"/>
              </a:lnSpc>
              <a:buNone/>
            </a:pPr>
            <a:r>
              <a:rPr lang="en-US" sz="1200" dirty="0">
                <a:solidFill>
                  <a:srgbClr val="23303A"/>
                </a:solidFill>
                <a:latin typeface="Calibri" pitchFamily="34" charset="0"/>
                <a:ea typeface="Calibri" pitchFamily="34" charset="-122"/>
                <a:cs typeface="Calibri" pitchFamily="34" charset="-120"/>
              </a:rPr>
              <a:t>mono, trimmed, −23 LUFS, 22.05 and 16 kHz</a:t>
            </a:r>
            <a:endParaRPr lang="en-US" sz="1200" dirty="0"/>
          </a:p>
        </p:txBody>
      </p:sp>
      <p:sp>
        <p:nvSpPr>
          <p:cNvPr id="13" name="Shape 11"/>
          <p:cNvSpPr/>
          <p:nvPr/>
        </p:nvSpPr>
        <p:spPr>
          <a:xfrm>
            <a:off x="1463040" y="2852928"/>
            <a:ext cx="0" cy="182880"/>
          </a:xfrm>
          <a:prstGeom prst="line">
            <a:avLst/>
          </a:prstGeom>
          <a:noFill/>
          <a:ln w="15240">
            <a:solidFill>
              <a:srgbClr val="D8DEDF"/>
            </a:solidFill>
            <a:prstDash val="solid"/>
          </a:ln>
        </p:spPr>
      </p:sp>
      <p:sp>
        <p:nvSpPr>
          <p:cNvPr id="14" name="Shape 12"/>
          <p:cNvSpPr/>
          <p:nvPr/>
        </p:nvSpPr>
        <p:spPr>
          <a:xfrm>
            <a:off x="640080" y="3035808"/>
            <a:ext cx="1645920" cy="603504"/>
          </a:xfrm>
          <a:prstGeom prst="roundRect">
            <a:avLst>
              <a:gd name="adj" fmla="val 9091"/>
            </a:avLst>
          </a:prstGeom>
          <a:solidFill>
            <a:srgbClr val="F2F5F5"/>
          </a:solidFill>
          <a:ln w="11430">
            <a:solidFill>
              <a:srgbClr val="D8DEDF"/>
            </a:solidFill>
            <a:prstDash val="solid"/>
          </a:ln>
        </p:spPr>
      </p:sp>
      <p:sp>
        <p:nvSpPr>
          <p:cNvPr id="15" name="Text 13"/>
          <p:cNvSpPr txBox="1"/>
          <p:nvPr/>
        </p:nvSpPr>
        <p:spPr>
          <a:xfrm>
            <a:off x="640080" y="3035808"/>
            <a:ext cx="1645920" cy="603504"/>
          </a:xfrm>
          <a:prstGeom prst="rect">
            <a:avLst/>
          </a:prstGeom>
          <a:noFill/>
          <a:ln/>
        </p:spPr>
        <p:txBody>
          <a:bodyPr wrap="square" lIns="0" tIns="0" rIns="0" bIns="0" rtlCol="0" anchor="ctr"/>
          <a:lstStyle/>
          <a:p>
            <a:pPr algn="ctr" indent="0" marL="0">
              <a:buNone/>
            </a:pPr>
            <a:r>
              <a:rPr lang="en-US" sz="1250" b="1" dirty="0">
                <a:solidFill>
                  <a:srgbClr val="13383B"/>
                </a:solidFill>
                <a:latin typeface="Cambria" pitchFamily="34" charset="0"/>
                <a:ea typeface="Cambria" pitchFamily="34" charset="-122"/>
                <a:cs typeface="Cambria" pitchFamily="34" charset="-120"/>
              </a:rPr>
              <a:t>Freeze splits</a:t>
            </a:r>
            <a:endParaRPr lang="en-US" sz="1250" dirty="0"/>
          </a:p>
        </p:txBody>
      </p:sp>
      <p:sp>
        <p:nvSpPr>
          <p:cNvPr id="16" name="Text 14"/>
          <p:cNvSpPr txBox="1"/>
          <p:nvPr/>
        </p:nvSpPr>
        <p:spPr>
          <a:xfrm>
            <a:off x="2468880" y="3154680"/>
            <a:ext cx="4023360" cy="457200"/>
          </a:xfrm>
          <a:prstGeom prst="rect">
            <a:avLst/>
          </a:prstGeom>
          <a:noFill/>
          <a:ln/>
        </p:spPr>
        <p:txBody>
          <a:bodyPr wrap="square" lIns="0" tIns="0" rIns="0" bIns="0" rtlCol="0" anchor="t"/>
          <a:lstStyle/>
          <a:p>
            <a:pPr indent="0" marL="0">
              <a:lnSpc>
                <a:spcPts val="1600"/>
              </a:lnSpc>
              <a:buNone/>
            </a:pPr>
            <a:r>
              <a:rPr lang="en-US" sz="1200" dirty="0">
                <a:solidFill>
                  <a:srgbClr val="23303A"/>
                </a:solidFill>
                <a:latin typeface="Calibri" pitchFamily="34" charset="0"/>
                <a:ea typeface="Calibri" pitchFamily="34" charset="-122"/>
                <a:cs typeface="Calibri" pitchFamily="34" charset="-120"/>
              </a:rPr>
              <a:t>salted SHA-256, nested ladder, 300-utt test</a:t>
            </a:r>
            <a:endParaRPr lang="en-US" sz="1200" dirty="0"/>
          </a:p>
        </p:txBody>
      </p:sp>
      <p:sp>
        <p:nvSpPr>
          <p:cNvPr id="17" name="Shape 15"/>
          <p:cNvSpPr/>
          <p:nvPr/>
        </p:nvSpPr>
        <p:spPr>
          <a:xfrm>
            <a:off x="1463040" y="3639312"/>
            <a:ext cx="0" cy="182880"/>
          </a:xfrm>
          <a:prstGeom prst="line">
            <a:avLst/>
          </a:prstGeom>
          <a:noFill/>
          <a:ln w="15240">
            <a:solidFill>
              <a:srgbClr val="D8DEDF"/>
            </a:solidFill>
            <a:prstDash val="solid"/>
          </a:ln>
        </p:spPr>
      </p:sp>
      <p:sp>
        <p:nvSpPr>
          <p:cNvPr id="18" name="Shape 16"/>
          <p:cNvSpPr/>
          <p:nvPr/>
        </p:nvSpPr>
        <p:spPr>
          <a:xfrm>
            <a:off x="640080" y="3822192"/>
            <a:ext cx="1645920" cy="603504"/>
          </a:xfrm>
          <a:prstGeom prst="roundRect">
            <a:avLst>
              <a:gd name="adj" fmla="val 9091"/>
            </a:avLst>
          </a:prstGeom>
          <a:solidFill>
            <a:srgbClr val="F6EAE6"/>
          </a:solidFill>
          <a:ln w="11430">
            <a:solidFill>
              <a:srgbClr val="B0432A"/>
            </a:solidFill>
            <a:prstDash val="solid"/>
          </a:ln>
        </p:spPr>
      </p:sp>
      <p:sp>
        <p:nvSpPr>
          <p:cNvPr id="19" name="Text 17"/>
          <p:cNvSpPr txBox="1"/>
          <p:nvPr/>
        </p:nvSpPr>
        <p:spPr>
          <a:xfrm>
            <a:off x="640080" y="3822192"/>
            <a:ext cx="1645920" cy="603504"/>
          </a:xfrm>
          <a:prstGeom prst="rect">
            <a:avLst/>
          </a:prstGeom>
          <a:noFill/>
          <a:ln/>
        </p:spPr>
        <p:txBody>
          <a:bodyPr wrap="square" lIns="0" tIns="0" rIns="0" bIns="0" rtlCol="0" anchor="ctr"/>
          <a:lstStyle/>
          <a:p>
            <a:pPr algn="ctr" indent="0" marL="0">
              <a:buNone/>
            </a:pPr>
            <a:r>
              <a:rPr lang="en-US" sz="1250" b="1" dirty="0">
                <a:solidFill>
                  <a:srgbClr val="B0432A"/>
                </a:solidFill>
                <a:latin typeface="Cambria" pitchFamily="34" charset="0"/>
                <a:ea typeface="Cambria" pitchFamily="34" charset="-122"/>
                <a:cs typeface="Cambria" pitchFamily="34" charset="-120"/>
              </a:rPr>
              <a:t>Two arms</a:t>
            </a:r>
            <a:endParaRPr lang="en-US" sz="1250" dirty="0"/>
          </a:p>
        </p:txBody>
      </p:sp>
      <p:sp>
        <p:nvSpPr>
          <p:cNvPr id="20" name="Text 18"/>
          <p:cNvSpPr txBox="1"/>
          <p:nvPr/>
        </p:nvSpPr>
        <p:spPr>
          <a:xfrm>
            <a:off x="2468880" y="3941064"/>
            <a:ext cx="4023360" cy="457200"/>
          </a:xfrm>
          <a:prstGeom prst="rect">
            <a:avLst/>
          </a:prstGeom>
          <a:noFill/>
          <a:ln/>
        </p:spPr>
        <p:txBody>
          <a:bodyPr wrap="square" lIns="0" tIns="0" rIns="0" bIns="0" rtlCol="0" anchor="t"/>
          <a:lstStyle/>
          <a:p>
            <a:pPr indent="0" marL="0">
              <a:lnSpc>
                <a:spcPts val="1600"/>
              </a:lnSpc>
              <a:buNone/>
            </a:pPr>
            <a:r>
              <a:rPr lang="en-US" sz="1200" dirty="0">
                <a:solidFill>
                  <a:srgbClr val="23303A"/>
                </a:solidFill>
                <a:latin typeface="Calibri" pitchFamily="34" charset="0"/>
                <a:ea typeface="Calibri" pitchFamily="34" charset="-122"/>
                <a:cs typeface="Calibri" pitchFamily="34" charset="-120"/>
              </a:rPr>
              <a:t>phonemic and graphemic, one shared normaliser</a:t>
            </a:r>
            <a:endParaRPr lang="en-US" sz="1200" dirty="0"/>
          </a:p>
        </p:txBody>
      </p:sp>
      <p:sp>
        <p:nvSpPr>
          <p:cNvPr id="21" name="Shape 19"/>
          <p:cNvSpPr/>
          <p:nvPr/>
        </p:nvSpPr>
        <p:spPr>
          <a:xfrm>
            <a:off x="1463040" y="4425696"/>
            <a:ext cx="0" cy="182880"/>
          </a:xfrm>
          <a:prstGeom prst="line">
            <a:avLst/>
          </a:prstGeom>
          <a:noFill/>
          <a:ln w="15240">
            <a:solidFill>
              <a:srgbClr val="D8DEDF"/>
            </a:solidFill>
            <a:prstDash val="solid"/>
          </a:ln>
        </p:spPr>
      </p:sp>
      <p:sp>
        <p:nvSpPr>
          <p:cNvPr id="22" name="Shape 20"/>
          <p:cNvSpPr/>
          <p:nvPr/>
        </p:nvSpPr>
        <p:spPr>
          <a:xfrm>
            <a:off x="640080" y="4608576"/>
            <a:ext cx="1645920" cy="603504"/>
          </a:xfrm>
          <a:prstGeom prst="roundRect">
            <a:avLst>
              <a:gd name="adj" fmla="val 9091"/>
            </a:avLst>
          </a:prstGeom>
          <a:solidFill>
            <a:srgbClr val="F2F5F5"/>
          </a:solidFill>
          <a:ln w="11430">
            <a:solidFill>
              <a:srgbClr val="D8DEDF"/>
            </a:solidFill>
            <a:prstDash val="solid"/>
          </a:ln>
        </p:spPr>
      </p:sp>
      <p:sp>
        <p:nvSpPr>
          <p:cNvPr id="23" name="Text 21"/>
          <p:cNvSpPr txBox="1"/>
          <p:nvPr/>
        </p:nvSpPr>
        <p:spPr>
          <a:xfrm>
            <a:off x="640080" y="4608576"/>
            <a:ext cx="1645920" cy="603504"/>
          </a:xfrm>
          <a:prstGeom prst="rect">
            <a:avLst/>
          </a:prstGeom>
          <a:noFill/>
          <a:ln/>
        </p:spPr>
        <p:txBody>
          <a:bodyPr wrap="square" lIns="0" tIns="0" rIns="0" bIns="0" rtlCol="0" anchor="ctr"/>
          <a:lstStyle/>
          <a:p>
            <a:pPr algn="ctr" indent="0" marL="0">
              <a:buNone/>
            </a:pPr>
            <a:r>
              <a:rPr lang="en-US" sz="1250" b="1" dirty="0">
                <a:solidFill>
                  <a:srgbClr val="13383B"/>
                </a:solidFill>
                <a:latin typeface="Cambria" pitchFamily="34" charset="0"/>
                <a:ea typeface="Cambria" pitchFamily="34" charset="-122"/>
                <a:cs typeface="Cambria" pitchFamily="34" charset="-120"/>
              </a:rPr>
              <a:t>Three models</a:t>
            </a:r>
            <a:endParaRPr lang="en-US" sz="1250" dirty="0"/>
          </a:p>
        </p:txBody>
      </p:sp>
      <p:sp>
        <p:nvSpPr>
          <p:cNvPr id="24" name="Text 22"/>
          <p:cNvSpPr txBox="1"/>
          <p:nvPr/>
        </p:nvSpPr>
        <p:spPr>
          <a:xfrm>
            <a:off x="2468880" y="4727448"/>
            <a:ext cx="4023360" cy="457200"/>
          </a:xfrm>
          <a:prstGeom prst="rect">
            <a:avLst/>
          </a:prstGeom>
          <a:noFill/>
          <a:ln/>
        </p:spPr>
        <p:txBody>
          <a:bodyPr wrap="square" lIns="0" tIns="0" rIns="0" bIns="0" rtlCol="0" anchor="t"/>
          <a:lstStyle/>
          <a:p>
            <a:pPr indent="0" marL="0">
              <a:lnSpc>
                <a:spcPts val="1600"/>
              </a:lnSpc>
              <a:buNone/>
            </a:pPr>
            <a:r>
              <a:rPr lang="en-US" sz="1200" dirty="0">
                <a:solidFill>
                  <a:srgbClr val="23303A"/>
                </a:solidFill>
                <a:latin typeface="Calibri" pitchFamily="34" charset="0"/>
                <a:ea typeface="Calibri" pitchFamily="34" charset="-122"/>
                <a:cs typeface="Calibri" pitchFamily="34" charset="-120"/>
              </a:rPr>
              <a:t>FastSpeech 2, VITS, Matcha-TTS, one HiFi-GAN</a:t>
            </a:r>
            <a:endParaRPr lang="en-US" sz="1200" dirty="0"/>
          </a:p>
        </p:txBody>
      </p:sp>
      <p:sp>
        <p:nvSpPr>
          <p:cNvPr id="25" name="Shape 23"/>
          <p:cNvSpPr/>
          <p:nvPr/>
        </p:nvSpPr>
        <p:spPr>
          <a:xfrm>
            <a:off x="1463040" y="5212080"/>
            <a:ext cx="0" cy="182880"/>
          </a:xfrm>
          <a:prstGeom prst="line">
            <a:avLst/>
          </a:prstGeom>
          <a:noFill/>
          <a:ln w="15240">
            <a:solidFill>
              <a:srgbClr val="D8DEDF"/>
            </a:solidFill>
            <a:prstDash val="solid"/>
          </a:ln>
        </p:spPr>
      </p:sp>
      <p:sp>
        <p:nvSpPr>
          <p:cNvPr id="26" name="Shape 24"/>
          <p:cNvSpPr/>
          <p:nvPr/>
        </p:nvSpPr>
        <p:spPr>
          <a:xfrm>
            <a:off x="640080" y="5394960"/>
            <a:ext cx="1645920" cy="603504"/>
          </a:xfrm>
          <a:prstGeom prst="roundRect">
            <a:avLst>
              <a:gd name="adj" fmla="val 9091"/>
            </a:avLst>
          </a:prstGeom>
          <a:solidFill>
            <a:srgbClr val="F2F5F5"/>
          </a:solidFill>
          <a:ln w="11430">
            <a:solidFill>
              <a:srgbClr val="D8DEDF"/>
            </a:solidFill>
            <a:prstDash val="solid"/>
          </a:ln>
        </p:spPr>
      </p:sp>
      <p:sp>
        <p:nvSpPr>
          <p:cNvPr id="27" name="Text 25"/>
          <p:cNvSpPr txBox="1"/>
          <p:nvPr/>
        </p:nvSpPr>
        <p:spPr>
          <a:xfrm>
            <a:off x="640080" y="5394960"/>
            <a:ext cx="1645920" cy="603504"/>
          </a:xfrm>
          <a:prstGeom prst="rect">
            <a:avLst/>
          </a:prstGeom>
          <a:noFill/>
          <a:ln/>
        </p:spPr>
        <p:txBody>
          <a:bodyPr wrap="square" lIns="0" tIns="0" rIns="0" bIns="0" rtlCol="0" anchor="ctr"/>
          <a:lstStyle/>
          <a:p>
            <a:pPr algn="ctr" indent="0" marL="0">
              <a:buNone/>
            </a:pPr>
            <a:r>
              <a:rPr lang="en-US" sz="1250" b="1" dirty="0">
                <a:solidFill>
                  <a:srgbClr val="13383B"/>
                </a:solidFill>
                <a:latin typeface="Cambria" pitchFamily="34" charset="0"/>
                <a:ea typeface="Cambria" pitchFamily="34" charset="-122"/>
                <a:cs typeface="Cambria" pitchFamily="34" charset="-120"/>
              </a:rPr>
              <a:t>Evaluate</a:t>
            </a:r>
            <a:endParaRPr lang="en-US" sz="1250" dirty="0"/>
          </a:p>
        </p:txBody>
      </p:sp>
      <p:sp>
        <p:nvSpPr>
          <p:cNvPr id="28" name="Text 26"/>
          <p:cNvSpPr txBox="1"/>
          <p:nvPr/>
        </p:nvSpPr>
        <p:spPr>
          <a:xfrm>
            <a:off x="2468880" y="5513832"/>
            <a:ext cx="4023360" cy="457200"/>
          </a:xfrm>
          <a:prstGeom prst="rect">
            <a:avLst/>
          </a:prstGeom>
          <a:noFill/>
          <a:ln/>
        </p:spPr>
        <p:txBody>
          <a:bodyPr wrap="square" lIns="0" tIns="0" rIns="0" bIns="0" rtlCol="0" anchor="t"/>
          <a:lstStyle/>
          <a:p>
            <a:pPr indent="0" marL="0">
              <a:lnSpc>
                <a:spcPts val="1600"/>
              </a:lnSpc>
              <a:buNone/>
            </a:pPr>
            <a:r>
              <a:rPr lang="en-US" sz="1200" dirty="0">
                <a:solidFill>
                  <a:srgbClr val="23303A"/>
                </a:solidFill>
                <a:latin typeface="Calibri" pitchFamily="34" charset="0"/>
                <a:ea typeface="Calibri" pitchFamily="34" charset="-122"/>
                <a:cs typeface="Calibri" pitchFamily="34" charset="-120"/>
              </a:rPr>
              <a:t>MCD, log-F₀, WER vs floor, MOS, RTF</a:t>
            </a:r>
            <a:endParaRPr lang="en-US" sz="1200" dirty="0"/>
          </a:p>
        </p:txBody>
      </p:sp>
      <p:sp>
        <p:nvSpPr>
          <p:cNvPr id="29" name="Shape 27"/>
          <p:cNvSpPr/>
          <p:nvPr/>
        </p:nvSpPr>
        <p:spPr>
          <a:xfrm>
            <a:off x="6858000" y="1371600"/>
            <a:ext cx="4663440" cy="2286000"/>
          </a:xfrm>
          <a:prstGeom prst="roundRect">
            <a:avLst>
              <a:gd name="adj" fmla="val 2400"/>
            </a:avLst>
          </a:prstGeom>
          <a:solidFill>
            <a:srgbClr val="E8F0EC"/>
          </a:solidFill>
          <a:ln w="9525">
            <a:solidFill>
              <a:srgbClr val="2C6E4B"/>
            </a:solidFill>
            <a:prstDash val="solid"/>
          </a:ln>
        </p:spPr>
      </p:sp>
      <p:sp>
        <p:nvSpPr>
          <p:cNvPr id="30" name="Text 28"/>
          <p:cNvSpPr txBox="1"/>
          <p:nvPr/>
        </p:nvSpPr>
        <p:spPr>
          <a:xfrm>
            <a:off x="7132320" y="1572768"/>
            <a:ext cx="4114800" cy="310896"/>
          </a:xfrm>
          <a:prstGeom prst="rect">
            <a:avLst/>
          </a:prstGeom>
          <a:noFill/>
          <a:ln/>
        </p:spPr>
        <p:txBody>
          <a:bodyPr wrap="square" lIns="0" tIns="0" rIns="0" bIns="0" rtlCol="0" anchor="t"/>
          <a:lstStyle/>
          <a:p>
            <a:pPr indent="0" marL="0">
              <a:buNone/>
            </a:pPr>
            <a:r>
              <a:rPr lang="en-US" sz="1600" b="1" dirty="0">
                <a:solidFill>
                  <a:srgbClr val="2C6E4B"/>
                </a:solidFill>
                <a:latin typeface="Cambria" pitchFamily="34" charset="0"/>
                <a:ea typeface="Cambria" pitchFamily="34" charset="-122"/>
                <a:cs typeface="Cambria" pitchFamily="34" charset="-120"/>
              </a:rPr>
              <a:t>Held constant</a:t>
            </a:r>
            <a:endParaRPr lang="en-US" sz="1600" dirty="0"/>
          </a:p>
        </p:txBody>
      </p:sp>
      <p:sp>
        <p:nvSpPr>
          <p:cNvPr id="31" name="Text 29"/>
          <p:cNvSpPr txBox="1"/>
          <p:nvPr/>
        </p:nvSpPr>
        <p:spPr>
          <a:xfrm>
            <a:off x="7132320" y="2011680"/>
            <a:ext cx="4114800" cy="1554480"/>
          </a:xfrm>
          <a:prstGeom prst="rect">
            <a:avLst/>
          </a:prstGeom>
          <a:noFill/>
          <a:ln/>
        </p:spPr>
        <p:txBody>
          <a:bodyPr wrap="square" lIns="0" tIns="0" rIns="0" bIns="0" rtlCol="0" anchor="t"/>
          <a:lstStyle/>
          <a:p>
            <a:pPr marL="342900" indent="-342900">
              <a:lnSpc>
                <a:spcPts val="1610"/>
              </a:lnSpc>
              <a:spcAft>
                <a:spcPts val="900"/>
              </a:spcAft>
              <a:buSzPct val="100000"/>
              <a:buChar char="•"/>
            </a:pPr>
            <a:r>
              <a:rPr lang="en-US" sz="1150" dirty="0">
                <a:solidFill>
                  <a:srgbClr val="23303A"/>
                </a:solidFill>
                <a:latin typeface="Calibri" pitchFamily="34" charset="0"/>
                <a:ea typeface="Calibri" pitchFamily="34" charset="-122"/>
                <a:cs typeface="Calibri" pitchFamily="34" charset="-120"/>
              </a:rPr>
              <a:t>100,000 steps, 12,000 mel frames/batch, one LR schedule, fp16</a:t>
            </a:r>
            <a:endParaRPr lang="en-US" sz="1150" dirty="0"/>
          </a:p>
          <a:p>
            <a:pPr marL="342900" indent="-342900">
              <a:lnSpc>
                <a:spcPts val="1610"/>
              </a:lnSpc>
              <a:spcAft>
                <a:spcPts val="900"/>
              </a:spcAft>
              <a:buSzPct val="100000"/>
              <a:buChar char="•"/>
            </a:pPr>
            <a:r>
              <a:rPr lang="en-US" sz="1150" dirty="0">
                <a:solidFill>
                  <a:srgbClr val="23303A"/>
                </a:solidFill>
                <a:latin typeface="Calibri" pitchFamily="34" charset="0"/>
                <a:ea typeface="Calibri" pitchFamily="34" charset="-122"/>
                <a:cs typeface="Calibri" pitchFamily="34" charset="-120"/>
              </a:rPr>
              <a:t>One male speaker per language, matched on median F₀</a:t>
            </a:r>
            <a:endParaRPr lang="en-US" sz="1150" dirty="0"/>
          </a:p>
          <a:p>
            <a:pPr marL="342900" indent="-342900">
              <a:lnSpc>
                <a:spcPts val="1610"/>
              </a:lnSpc>
              <a:spcAft>
                <a:spcPts val="900"/>
              </a:spcAft>
              <a:buSzPct val="100000"/>
              <a:buChar char="•"/>
            </a:pPr>
            <a:r>
              <a:rPr lang="en-US" sz="1150" dirty="0">
                <a:solidFill>
                  <a:srgbClr val="23303A"/>
                </a:solidFill>
                <a:latin typeface="Calibri" pitchFamily="34" charset="0"/>
                <a:ea typeface="Calibri" pitchFamily="34" charset="-122"/>
                <a:cs typeface="Calibri" pitchFamily="34" charset="-120"/>
              </a:rPr>
              <a:t>One HiFi-GAN per language, shared</a:t>
            </a:r>
            <a:endParaRPr lang="en-US" sz="1150" dirty="0"/>
          </a:p>
          <a:p>
            <a:pPr marL="342900" indent="-342900">
              <a:lnSpc>
                <a:spcPts val="1610"/>
              </a:lnSpc>
              <a:spcAft>
                <a:spcPts val="900"/>
              </a:spcAft>
              <a:buSzPct val="100000"/>
              <a:buChar char="•"/>
            </a:pPr>
            <a:r>
              <a:rPr lang="en-US" sz="1150" dirty="0">
                <a:solidFill>
                  <a:srgbClr val="23303A"/>
                </a:solidFill>
                <a:latin typeface="Calibri" pitchFamily="34" charset="0"/>
                <a:ea typeface="Calibri" pitchFamily="34" charset="-122"/>
                <a:cs typeface="Calibri" pitchFamily="34" charset="-120"/>
              </a:rPr>
              <a:t>Same metrics, same 300-utterance test set</a:t>
            </a:r>
            <a:endParaRPr lang="en-US" sz="1150" dirty="0"/>
          </a:p>
        </p:txBody>
      </p:sp>
      <p:sp>
        <p:nvSpPr>
          <p:cNvPr id="32" name="Shape 30"/>
          <p:cNvSpPr/>
          <p:nvPr/>
        </p:nvSpPr>
        <p:spPr>
          <a:xfrm>
            <a:off x="6858000" y="3840480"/>
            <a:ext cx="4663440" cy="2377440"/>
          </a:xfrm>
          <a:prstGeom prst="roundRect">
            <a:avLst>
              <a:gd name="adj" fmla="val 2308"/>
            </a:avLst>
          </a:prstGeom>
          <a:solidFill>
            <a:srgbClr val="F6EAE6"/>
          </a:solidFill>
          <a:ln w="9525">
            <a:solidFill>
              <a:srgbClr val="B0432A"/>
            </a:solidFill>
            <a:prstDash val="solid"/>
          </a:ln>
        </p:spPr>
      </p:sp>
      <p:sp>
        <p:nvSpPr>
          <p:cNvPr id="33" name="Text 31"/>
          <p:cNvSpPr txBox="1"/>
          <p:nvPr/>
        </p:nvSpPr>
        <p:spPr>
          <a:xfrm>
            <a:off x="7132320" y="4041648"/>
            <a:ext cx="4114800" cy="310896"/>
          </a:xfrm>
          <a:prstGeom prst="rect">
            <a:avLst/>
          </a:prstGeom>
          <a:noFill/>
          <a:ln/>
        </p:spPr>
        <p:txBody>
          <a:bodyPr wrap="square" lIns="0" tIns="0" rIns="0" bIns="0" rtlCol="0" anchor="t"/>
          <a:lstStyle/>
          <a:p>
            <a:pPr indent="0" marL="0">
              <a:buNone/>
            </a:pPr>
            <a:r>
              <a:rPr lang="en-US" sz="1600" b="1" dirty="0">
                <a:solidFill>
                  <a:srgbClr val="B0432A"/>
                </a:solidFill>
                <a:latin typeface="Cambria" pitchFamily="34" charset="0"/>
                <a:ea typeface="Cambria" pitchFamily="34" charset="-122"/>
                <a:cs typeface="Cambria" pitchFamily="34" charset="-120"/>
              </a:rPr>
              <a:t>Varied</a:t>
            </a:r>
            <a:endParaRPr lang="en-US" sz="1600" dirty="0"/>
          </a:p>
        </p:txBody>
      </p:sp>
      <p:sp>
        <p:nvSpPr>
          <p:cNvPr id="34" name="Text 32"/>
          <p:cNvSpPr txBox="1"/>
          <p:nvPr/>
        </p:nvSpPr>
        <p:spPr>
          <a:xfrm>
            <a:off x="7132320" y="4480560"/>
            <a:ext cx="4114800" cy="1554480"/>
          </a:xfrm>
          <a:prstGeom prst="rect">
            <a:avLst/>
          </a:prstGeom>
          <a:noFill/>
          <a:ln/>
        </p:spPr>
        <p:txBody>
          <a:bodyPr wrap="square" lIns="0" tIns="0" rIns="0" bIns="0" rtlCol="0" anchor="t"/>
          <a:lstStyle/>
          <a:p>
            <a:pPr marL="342900" indent="-342900">
              <a:lnSpc>
                <a:spcPts val="1610"/>
              </a:lnSpc>
              <a:spcAft>
                <a:spcPts val="900"/>
              </a:spcAft>
              <a:buSzPct val="100000"/>
              <a:buChar char="•"/>
            </a:pPr>
            <a:r>
              <a:rPr lang="en-US" sz="1150" dirty="0">
                <a:solidFill>
                  <a:srgbClr val="23303A"/>
                </a:solidFill>
                <a:latin typeface="Calibri" pitchFamily="34" charset="0"/>
                <a:ea typeface="Calibri" pitchFamily="34" charset="-122"/>
                <a:cs typeface="Calibri" pitchFamily="34" charset="-120"/>
              </a:rPr>
              <a:t>Input representation: phonemes or graphemes</a:t>
            </a:r>
            <a:endParaRPr lang="en-US" sz="1150" dirty="0"/>
          </a:p>
          <a:p>
            <a:pPr marL="342900" indent="-342900">
              <a:lnSpc>
                <a:spcPts val="1610"/>
              </a:lnSpc>
              <a:spcAft>
                <a:spcPts val="900"/>
              </a:spcAft>
              <a:buSzPct val="100000"/>
              <a:buChar char="•"/>
            </a:pPr>
            <a:r>
              <a:rPr lang="en-US" sz="1150" dirty="0">
                <a:solidFill>
                  <a:srgbClr val="23303A"/>
                </a:solidFill>
                <a:latin typeface="Calibri" pitchFamily="34" charset="0"/>
                <a:ea typeface="Calibri" pitchFamily="34" charset="-122"/>
                <a:cs typeface="Calibri" pitchFamily="34" charset="-120"/>
              </a:rPr>
              <a:t>Architecture: FastSpeech 2, VITS, Matcha-TTS</a:t>
            </a:r>
            <a:endParaRPr lang="en-US" sz="1150" dirty="0"/>
          </a:p>
          <a:p>
            <a:pPr marL="342900" indent="-342900">
              <a:lnSpc>
                <a:spcPts val="1610"/>
              </a:lnSpc>
              <a:spcAft>
                <a:spcPts val="900"/>
              </a:spcAft>
              <a:buSzPct val="100000"/>
              <a:buChar char="•"/>
            </a:pPr>
            <a:r>
              <a:rPr lang="en-US" sz="1150" dirty="0">
                <a:solidFill>
                  <a:srgbClr val="23303A"/>
                </a:solidFill>
                <a:latin typeface="Calibri" pitchFamily="34" charset="0"/>
                <a:ea typeface="Calibri" pitchFamily="34" charset="-122"/>
                <a:cs typeface="Calibri" pitchFamily="34" charset="-120"/>
              </a:rPr>
              <a:t>Data quantity: five nested rungs</a:t>
            </a:r>
            <a:endParaRPr lang="en-US" sz="1150" dirty="0"/>
          </a:p>
          <a:p>
            <a:pPr marL="342900" indent="-342900">
              <a:lnSpc>
                <a:spcPts val="1610"/>
              </a:lnSpc>
              <a:spcAft>
                <a:spcPts val="900"/>
              </a:spcAft>
              <a:buSzPct val="100000"/>
              <a:buChar char="•"/>
            </a:pPr>
            <a:r>
              <a:rPr lang="en-US" sz="1150" dirty="0">
                <a:solidFill>
                  <a:srgbClr val="23303A"/>
                </a:solidFill>
                <a:latin typeface="Calibri" pitchFamily="34" charset="0"/>
                <a:ea typeface="Calibri" pitchFamily="34" charset="-122"/>
                <a:cs typeface="Calibri" pitchFamily="34" charset="-120"/>
              </a:rPr>
              <a:t>Language: Hindi, Marathi as control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Methodology: the front end and the control</a:t>
            </a:r>
            <a:endParaRPr lang="en-US" sz="2700" dirty="0"/>
          </a:p>
        </p:txBody>
      </p:sp>
      <p:sp>
        <p:nvSpPr>
          <p:cNvPr id="5" name="Text 3"/>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8</a:t>
            </a:r>
            <a:endParaRPr lang="en-US" sz="1100" dirty="0"/>
          </a:p>
        </p:txBody>
      </p:sp>
      <p:pic>
        <p:nvPicPr>
          <p:cNvPr id="6" name="Image 0" descr="figs_deck/deck_g2p.png">    </p:cNvPr>
          <p:cNvPicPr>
            <a:picLocks noChangeAspect="1"/>
          </p:cNvPicPr>
          <p:nvPr/>
        </p:nvPicPr>
        <p:blipFill>
          <a:blip r:embed="rId1"/>
          <a:stretch>
            <a:fillRect/>
          </a:stretch>
        </p:blipFill>
        <p:spPr>
          <a:xfrm>
            <a:off x="640080" y="1463040"/>
            <a:ext cx="6309360" cy="1974830"/>
          </a:xfrm>
          <a:prstGeom prst="rect">
            <a:avLst/>
          </a:prstGeom>
        </p:spPr>
      </p:pic>
      <p:pic>
        <p:nvPicPr>
          <p:cNvPr id="7" name="Image 1" descr="figs_deck/deck_control.png">    </p:cNvPr>
          <p:cNvPicPr>
            <a:picLocks noChangeAspect="1"/>
          </p:cNvPicPr>
          <p:nvPr/>
        </p:nvPicPr>
        <p:blipFill>
          <a:blip r:embed="rId2"/>
          <a:stretch>
            <a:fillRect/>
          </a:stretch>
        </p:blipFill>
        <p:spPr>
          <a:xfrm>
            <a:off x="7223760" y="1371600"/>
            <a:ext cx="4297680" cy="2578608"/>
          </a:xfrm>
          <a:prstGeom prst="rect">
            <a:avLst/>
          </a:prstGeom>
        </p:spPr>
      </p:pic>
      <p:sp>
        <p:nvSpPr>
          <p:cNvPr id="8" name="Text 4"/>
          <p:cNvSpPr txBox="1"/>
          <p:nvPr/>
        </p:nvSpPr>
        <p:spPr>
          <a:xfrm>
            <a:off x="640080" y="4206240"/>
            <a:ext cx="6309360" cy="310896"/>
          </a:xfrm>
          <a:prstGeom prst="rect">
            <a:avLst/>
          </a:prstGeom>
          <a:noFill/>
          <a:ln/>
        </p:spPr>
        <p:txBody>
          <a:bodyPr wrap="square" lIns="0" tIns="0" rIns="0" bIns="0" rtlCol="0" anchor="t"/>
          <a:lstStyle/>
          <a:p>
            <a:pPr indent="0" marL="0">
              <a:buNone/>
            </a:pPr>
            <a:r>
              <a:rPr lang="en-US" sz="1600" b="1" dirty="0">
                <a:solidFill>
                  <a:srgbClr val="B0432A"/>
                </a:solidFill>
                <a:latin typeface="Cambria" pitchFamily="34" charset="0"/>
                <a:ea typeface="Cambria" pitchFamily="34" charset="-122"/>
                <a:cs typeface="Cambria" pitchFamily="34" charset="-120"/>
              </a:rPr>
              <a:t>Stage 3 is the entire control condition</a:t>
            </a:r>
            <a:endParaRPr lang="en-US" sz="1600" dirty="0"/>
          </a:p>
        </p:txBody>
      </p:sp>
      <p:sp>
        <p:nvSpPr>
          <p:cNvPr id="9" name="Text 5"/>
          <p:cNvSpPr txBox="1"/>
          <p:nvPr/>
        </p:nvSpPr>
        <p:spPr>
          <a:xfrm>
            <a:off x="640080" y="4617720"/>
            <a:ext cx="6309360" cy="1645920"/>
          </a:xfrm>
          <a:prstGeom prst="rect">
            <a:avLst/>
          </a:prstGeom>
          <a:noFill/>
          <a:ln/>
        </p:spPr>
        <p:txBody>
          <a:bodyPr wrap="square" lIns="0" tIns="0" rIns="0" bIns="0" rtlCol="0" anchor="t"/>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Marathi runs identical code with medial deletion disabled. One boolean flag. There is no separate Marathi code path, so the control cannot be contaminated by an implementation difference between the two languages. The grapheme arm runs stages 1 and 4 only, so both arms share one normaliser and the ablation measures phonology rather than preprocessing.</a:t>
            </a:r>
            <a:endParaRPr lang="en-US" sz="1300" dirty="0"/>
          </a:p>
        </p:txBody>
      </p:sp>
      <p:sp>
        <p:nvSpPr>
          <p:cNvPr id="10" name="Text 6"/>
          <p:cNvSpPr txBox="1"/>
          <p:nvPr/>
        </p:nvSpPr>
        <p:spPr>
          <a:xfrm>
            <a:off x="7223760" y="4114800"/>
            <a:ext cx="4297680" cy="310896"/>
          </a:xfrm>
          <a:prstGeom prst="rect">
            <a:avLst/>
          </a:prstGeom>
          <a:noFill/>
          <a:ln/>
        </p:spPr>
        <p:txBody>
          <a:bodyPr wrap="square" lIns="0" tIns="0" rIns="0" bIns="0" rtlCol="0" anchor="t"/>
          <a:lstStyle/>
          <a:p>
            <a:pPr indent="0" marL="0">
              <a:buNone/>
            </a:pPr>
            <a:r>
              <a:rPr lang="en-US" sz="1500" b="1" dirty="0">
                <a:solidFill>
                  <a:srgbClr val="13383B"/>
                </a:solidFill>
                <a:latin typeface="Cambria" pitchFamily="34" charset="0"/>
                <a:ea typeface="Cambria" pitchFamily="34" charset="-122"/>
                <a:cs typeface="Cambria" pitchFamily="34" charset="-120"/>
              </a:rPr>
              <a:t>Why Marathi is the control</a:t>
            </a:r>
            <a:endParaRPr lang="en-US" sz="1500" dirty="0"/>
          </a:p>
        </p:txBody>
      </p:sp>
      <p:sp>
        <p:nvSpPr>
          <p:cNvPr id="11" name="Text 7"/>
          <p:cNvSpPr txBox="1"/>
          <p:nvPr/>
        </p:nvSpPr>
        <p:spPr>
          <a:xfrm>
            <a:off x="7223760" y="4526280"/>
            <a:ext cx="4297680" cy="1737360"/>
          </a:xfrm>
          <a:prstGeom prst="rect">
            <a:avLst/>
          </a:prstGeom>
          <a:noFill/>
          <a:ln/>
        </p:spPr>
        <p:txBody>
          <a:bodyPr wrap="square" lIns="0" tIns="0" rIns="0" bIns="0" rtlCol="0" anchor="t"/>
          <a:lstStyle/>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Same script, same corpus collection, same resource level. It differs from Hindi in the phonological rule and in nothing else that matters, which is what a control has to do.</a:t>
            </a:r>
            <a:endParaRPr lang="en-US" sz="1250" dirty="0"/>
          </a:p>
          <a:p>
            <a:pPr indent="0" marL="0">
              <a:lnSpc>
                <a:spcPts val="1800"/>
              </a:lnSpc>
              <a:buNone/>
            </a:pPr>
            <a:endParaRPr lang="en-US" sz="1250" dirty="0"/>
          </a:p>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Splits are frozen by a salted SHA-256 of the utterance id, so a rebuild reproduces the test set byte for byte, and the ladder takes prefixes of one ordering.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Results: the apparatus, measured</a:t>
            </a:r>
            <a:endParaRPr lang="en-US" sz="2700" dirty="0"/>
          </a:p>
        </p:txBody>
      </p:sp>
      <p:sp>
        <p:nvSpPr>
          <p:cNvPr id="5" name="Text 3"/>
          <p:cNvSpPr txBox="1"/>
          <p:nvPr/>
        </p:nvSpPr>
        <p:spPr>
          <a:xfrm>
            <a:off x="1243584" y="969264"/>
            <a:ext cx="10424160" cy="329184"/>
          </a:xfrm>
          <a:prstGeom prst="rect">
            <a:avLst/>
          </a:prstGeom>
          <a:noFill/>
          <a:ln/>
        </p:spPr>
        <p:txBody>
          <a:bodyPr wrap="square" lIns="0" tIns="0" rIns="0" bIns="0" rtlCol="0" anchor="t"/>
          <a:lstStyle/>
          <a:p>
            <a:pPr indent="0" marL="0">
              <a:buNone/>
            </a:pPr>
            <a:r>
              <a:rPr lang="en-US" sz="1350" i="1" dirty="0">
                <a:solidFill>
                  <a:srgbClr val="5D666E"/>
                </a:solidFill>
                <a:latin typeface="Calibri" pitchFamily="34" charset="0"/>
                <a:ea typeface="Calibri" pitchFamily="34" charset="-122"/>
                <a:cs typeface="Calibri" pitchFamily="34" charset="-120"/>
              </a:rPr>
              <a:t>Nothing is trained yet. Everything here is a property of the corpus, the front end or the metrics.</a:t>
            </a:r>
            <a:endParaRPr lang="en-US" sz="1350" dirty="0"/>
          </a:p>
        </p:txBody>
      </p:sp>
      <p:sp>
        <p:nvSpPr>
          <p:cNvPr id="6" name="Text 4"/>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9</a:t>
            </a:r>
            <a:endParaRPr lang="en-US" sz="1100" dirty="0"/>
          </a:p>
        </p:txBody>
      </p:sp>
      <p:sp>
        <p:nvSpPr>
          <p:cNvPr id="7" name="Shape 5"/>
          <p:cNvSpPr/>
          <p:nvPr/>
        </p:nvSpPr>
        <p:spPr>
          <a:xfrm>
            <a:off x="640080" y="1691640"/>
            <a:ext cx="2560320" cy="1371600"/>
          </a:xfrm>
          <a:prstGeom prst="roundRect">
            <a:avLst>
              <a:gd name="adj" fmla="val 4000"/>
            </a:avLst>
          </a:prstGeom>
          <a:solidFill>
            <a:srgbClr val="F2F5F5"/>
          </a:solidFill>
          <a:ln w="9525">
            <a:solidFill>
              <a:srgbClr val="D8DEDF"/>
            </a:solidFill>
            <a:prstDash val="solid"/>
          </a:ln>
        </p:spPr>
      </p:sp>
      <p:sp>
        <p:nvSpPr>
          <p:cNvPr id="8" name="Text 6"/>
          <p:cNvSpPr txBox="1"/>
          <p:nvPr/>
        </p:nvSpPr>
        <p:spPr>
          <a:xfrm>
            <a:off x="822960" y="1828800"/>
            <a:ext cx="2194560" cy="566928"/>
          </a:xfrm>
          <a:prstGeom prst="rect">
            <a:avLst/>
          </a:prstGeom>
          <a:noFill/>
          <a:ln/>
        </p:spPr>
        <p:txBody>
          <a:bodyPr wrap="square" lIns="0" tIns="0" rIns="0" bIns="0" rtlCol="0" anchor="t"/>
          <a:lstStyle/>
          <a:p>
            <a:pPr indent="0" marL="0">
              <a:buNone/>
            </a:pPr>
            <a:r>
              <a:rPr lang="en-US" sz="3000" b="1" dirty="0">
                <a:solidFill>
                  <a:srgbClr val="13383B"/>
                </a:solidFill>
                <a:latin typeface="Cambria" pitchFamily="34" charset="0"/>
                <a:ea typeface="Cambria" pitchFamily="34" charset="-122"/>
                <a:cs typeface="Cambria" pitchFamily="34" charset="-120"/>
              </a:rPr>
              <a:t>48.6 h</a:t>
            </a:r>
            <a:endParaRPr lang="en-US" sz="3000" dirty="0"/>
          </a:p>
        </p:txBody>
      </p:sp>
      <p:sp>
        <p:nvSpPr>
          <p:cNvPr id="9" name="Text 7"/>
          <p:cNvSpPr txBox="1"/>
          <p:nvPr/>
        </p:nvSpPr>
        <p:spPr>
          <a:xfrm>
            <a:off x="822960" y="2395728"/>
            <a:ext cx="2240280" cy="548640"/>
          </a:xfrm>
          <a:prstGeom prst="rect">
            <a:avLst/>
          </a:prstGeom>
          <a:noFill/>
          <a:ln/>
        </p:spPr>
        <p:txBody>
          <a:bodyPr wrap="square" lIns="0" tIns="0" rIns="0" bIns="0" rtlCol="0" anchor="t"/>
          <a:lstStyle/>
          <a:p>
            <a:pPr indent="0" marL="0">
              <a:lnSpc>
                <a:spcPts val="1500"/>
              </a:lnSpc>
              <a:buNone/>
            </a:pPr>
            <a:r>
              <a:rPr lang="en-US" sz="1150" dirty="0">
                <a:solidFill>
                  <a:srgbClr val="5D666E"/>
                </a:solidFill>
                <a:latin typeface="Calibri" pitchFamily="34" charset="0"/>
                <a:ea typeface="Calibri" pitchFamily="34" charset="-122"/>
                <a:cs typeface="Calibri" pitchFamily="34" charset="-120"/>
              </a:rPr>
              <a:t>profiled across both</a:t>
            </a:r>
            <a:endParaRPr lang="en-US" sz="1150" dirty="0"/>
          </a:p>
          <a:p>
            <a:pPr indent="0" marL="0">
              <a:lnSpc>
                <a:spcPts val="1500"/>
              </a:lnSpc>
              <a:buNone/>
            </a:pPr>
            <a:r>
              <a:rPr lang="en-US" sz="1150" dirty="0">
                <a:solidFill>
                  <a:srgbClr val="5D666E"/>
                </a:solidFill>
                <a:latin typeface="Calibri" pitchFamily="34" charset="0"/>
                <a:ea typeface="Calibri" pitchFamily="34" charset="-122"/>
                <a:cs typeface="Calibri" pitchFamily="34" charset="-120"/>
              </a:rPr>
              <a:t>corpora, 22,764 utts</a:t>
            </a:r>
            <a:endParaRPr lang="en-US" sz="1150" dirty="0"/>
          </a:p>
        </p:txBody>
      </p:sp>
      <p:sp>
        <p:nvSpPr>
          <p:cNvPr id="10" name="Shape 8"/>
          <p:cNvSpPr/>
          <p:nvPr/>
        </p:nvSpPr>
        <p:spPr>
          <a:xfrm>
            <a:off x="3429000" y="1691640"/>
            <a:ext cx="2560320" cy="1371600"/>
          </a:xfrm>
          <a:prstGeom prst="roundRect">
            <a:avLst>
              <a:gd name="adj" fmla="val 4000"/>
            </a:avLst>
          </a:prstGeom>
          <a:solidFill>
            <a:srgbClr val="F2F5F5"/>
          </a:solidFill>
          <a:ln w="9525">
            <a:solidFill>
              <a:srgbClr val="D8DEDF"/>
            </a:solidFill>
            <a:prstDash val="solid"/>
          </a:ln>
        </p:spPr>
      </p:sp>
      <p:sp>
        <p:nvSpPr>
          <p:cNvPr id="11" name="Text 9"/>
          <p:cNvSpPr txBox="1"/>
          <p:nvPr/>
        </p:nvSpPr>
        <p:spPr>
          <a:xfrm>
            <a:off x="3611880" y="1828800"/>
            <a:ext cx="2194560" cy="566928"/>
          </a:xfrm>
          <a:prstGeom prst="rect">
            <a:avLst/>
          </a:prstGeom>
          <a:noFill/>
          <a:ln/>
        </p:spPr>
        <p:txBody>
          <a:bodyPr wrap="square" lIns="0" tIns="0" rIns="0" bIns="0" rtlCol="0" anchor="t"/>
          <a:lstStyle/>
          <a:p>
            <a:pPr indent="0" marL="0">
              <a:buNone/>
            </a:pPr>
            <a:r>
              <a:rPr lang="en-US" sz="3000" b="1" dirty="0">
                <a:solidFill>
                  <a:srgbClr val="13383B"/>
                </a:solidFill>
                <a:latin typeface="Cambria" pitchFamily="34" charset="0"/>
                <a:ea typeface="Cambria" pitchFamily="34" charset="-122"/>
                <a:cs typeface="Cambria" pitchFamily="34" charset="-120"/>
              </a:rPr>
              <a:t>0</a:t>
            </a:r>
            <a:endParaRPr lang="en-US" sz="3000" dirty="0"/>
          </a:p>
        </p:txBody>
      </p:sp>
      <p:sp>
        <p:nvSpPr>
          <p:cNvPr id="12" name="Text 10"/>
          <p:cNvSpPr txBox="1"/>
          <p:nvPr/>
        </p:nvSpPr>
        <p:spPr>
          <a:xfrm>
            <a:off x="3611880" y="2395728"/>
            <a:ext cx="2240280" cy="548640"/>
          </a:xfrm>
          <a:prstGeom prst="rect">
            <a:avLst/>
          </a:prstGeom>
          <a:noFill/>
          <a:ln/>
        </p:spPr>
        <p:txBody>
          <a:bodyPr wrap="square" lIns="0" tIns="0" rIns="0" bIns="0" rtlCol="0" anchor="t"/>
          <a:lstStyle/>
          <a:p>
            <a:pPr indent="0" marL="0">
              <a:lnSpc>
                <a:spcPts val="1500"/>
              </a:lnSpc>
              <a:buNone/>
            </a:pPr>
            <a:r>
              <a:rPr lang="en-US" sz="1150" dirty="0">
                <a:solidFill>
                  <a:srgbClr val="5D666E"/>
                </a:solidFill>
                <a:latin typeface="Calibri" pitchFamily="34" charset="0"/>
                <a:ea typeface="Calibri" pitchFamily="34" charset="-122"/>
                <a:cs typeface="Calibri" pitchFamily="34" charset="-120"/>
              </a:rPr>
              <a:t>unknown symbols over</a:t>
            </a:r>
            <a:endParaRPr lang="en-US" sz="1150" dirty="0"/>
          </a:p>
          <a:p>
            <a:pPr indent="0" marL="0">
              <a:lnSpc>
                <a:spcPts val="1500"/>
              </a:lnSpc>
              <a:buNone/>
            </a:pPr>
            <a:r>
              <a:rPr lang="en-US" sz="1150" dirty="0">
                <a:solidFill>
                  <a:srgbClr val="5D666E"/>
                </a:solidFill>
                <a:latin typeface="Calibri" pitchFamily="34" charset="0"/>
                <a:ea typeface="Calibri" pitchFamily="34" charset="-122"/>
                <a:cs typeface="Calibri" pitchFamily="34" charset="-120"/>
              </a:rPr>
              <a:t>870,547 phone tokens</a:t>
            </a:r>
            <a:endParaRPr lang="en-US" sz="1150" dirty="0"/>
          </a:p>
        </p:txBody>
      </p:sp>
      <p:sp>
        <p:nvSpPr>
          <p:cNvPr id="13" name="Shape 11"/>
          <p:cNvSpPr/>
          <p:nvPr/>
        </p:nvSpPr>
        <p:spPr>
          <a:xfrm>
            <a:off x="6217920" y="1691640"/>
            <a:ext cx="2560320" cy="1371600"/>
          </a:xfrm>
          <a:prstGeom prst="roundRect">
            <a:avLst>
              <a:gd name="adj" fmla="val 4000"/>
            </a:avLst>
          </a:prstGeom>
          <a:solidFill>
            <a:srgbClr val="F2F5F5"/>
          </a:solidFill>
          <a:ln w="9525">
            <a:solidFill>
              <a:srgbClr val="D8DEDF"/>
            </a:solidFill>
            <a:prstDash val="solid"/>
          </a:ln>
        </p:spPr>
      </p:sp>
      <p:sp>
        <p:nvSpPr>
          <p:cNvPr id="14" name="Text 12"/>
          <p:cNvSpPr txBox="1"/>
          <p:nvPr/>
        </p:nvSpPr>
        <p:spPr>
          <a:xfrm>
            <a:off x="6400800" y="1828800"/>
            <a:ext cx="2194560" cy="566928"/>
          </a:xfrm>
          <a:prstGeom prst="rect">
            <a:avLst/>
          </a:prstGeom>
          <a:noFill/>
          <a:ln/>
        </p:spPr>
        <p:txBody>
          <a:bodyPr wrap="square" lIns="0" tIns="0" rIns="0" bIns="0" rtlCol="0" anchor="t"/>
          <a:lstStyle/>
          <a:p>
            <a:pPr indent="0" marL="0">
              <a:buNone/>
            </a:pPr>
            <a:r>
              <a:rPr lang="en-US" sz="3000" b="1" dirty="0">
                <a:solidFill>
                  <a:srgbClr val="13383B"/>
                </a:solidFill>
                <a:latin typeface="Cambria" pitchFamily="34" charset="0"/>
                <a:ea typeface="Cambria" pitchFamily="34" charset="-122"/>
                <a:cs typeface="Cambria" pitchFamily="34" charset="-120"/>
              </a:rPr>
              <a:t>19%</a:t>
            </a:r>
            <a:endParaRPr lang="en-US" sz="3000" dirty="0"/>
          </a:p>
        </p:txBody>
      </p:sp>
      <p:sp>
        <p:nvSpPr>
          <p:cNvPr id="15" name="Text 13"/>
          <p:cNvSpPr txBox="1"/>
          <p:nvPr/>
        </p:nvSpPr>
        <p:spPr>
          <a:xfrm>
            <a:off x="6400800" y="2395728"/>
            <a:ext cx="2240280" cy="548640"/>
          </a:xfrm>
          <a:prstGeom prst="rect">
            <a:avLst/>
          </a:prstGeom>
          <a:noFill/>
          <a:ln/>
        </p:spPr>
        <p:txBody>
          <a:bodyPr wrap="square" lIns="0" tIns="0" rIns="0" bIns="0" rtlCol="0" anchor="t"/>
          <a:lstStyle/>
          <a:p>
            <a:pPr indent="0" marL="0">
              <a:lnSpc>
                <a:spcPts val="1500"/>
              </a:lnSpc>
              <a:buNone/>
            </a:pPr>
            <a:r>
              <a:rPr lang="en-US" sz="1150" dirty="0">
                <a:solidFill>
                  <a:srgbClr val="5D666E"/>
                </a:solidFill>
                <a:latin typeface="Calibri" pitchFamily="34" charset="0"/>
                <a:ea typeface="Calibri" pitchFamily="34" charset="-122"/>
                <a:cs typeface="Calibri" pitchFamily="34" charset="-120"/>
              </a:rPr>
              <a:t>error in the estimate</a:t>
            </a:r>
            <a:endParaRPr lang="en-US" sz="1150" dirty="0"/>
          </a:p>
          <a:p>
            <a:pPr indent="0" marL="0">
              <a:lnSpc>
                <a:spcPts val="1500"/>
              </a:lnSpc>
              <a:buNone/>
            </a:pPr>
            <a:r>
              <a:rPr lang="en-US" sz="1150" dirty="0">
                <a:solidFill>
                  <a:srgbClr val="5D666E"/>
                </a:solidFill>
                <a:latin typeface="Calibri" pitchFamily="34" charset="0"/>
                <a:ea typeface="Calibri" pitchFamily="34" charset="-122"/>
                <a:cs typeface="Calibri" pitchFamily="34" charset="-120"/>
              </a:rPr>
              <a:t>from a 50-row sample</a:t>
            </a:r>
            <a:endParaRPr lang="en-US" sz="1150" dirty="0"/>
          </a:p>
        </p:txBody>
      </p:sp>
      <p:sp>
        <p:nvSpPr>
          <p:cNvPr id="16" name="Shape 14"/>
          <p:cNvSpPr/>
          <p:nvPr/>
        </p:nvSpPr>
        <p:spPr>
          <a:xfrm>
            <a:off x="9006840" y="1691640"/>
            <a:ext cx="2560320" cy="1371600"/>
          </a:xfrm>
          <a:prstGeom prst="roundRect">
            <a:avLst>
              <a:gd name="adj" fmla="val 4000"/>
            </a:avLst>
          </a:prstGeom>
          <a:solidFill>
            <a:srgbClr val="F2F5F5"/>
          </a:solidFill>
          <a:ln w="9525">
            <a:solidFill>
              <a:srgbClr val="D8DEDF"/>
            </a:solidFill>
            <a:prstDash val="solid"/>
          </a:ln>
        </p:spPr>
      </p:sp>
      <p:sp>
        <p:nvSpPr>
          <p:cNvPr id="17" name="Text 15"/>
          <p:cNvSpPr txBox="1"/>
          <p:nvPr/>
        </p:nvSpPr>
        <p:spPr>
          <a:xfrm>
            <a:off x="9189720" y="1828800"/>
            <a:ext cx="2194560" cy="566928"/>
          </a:xfrm>
          <a:prstGeom prst="rect">
            <a:avLst/>
          </a:prstGeom>
          <a:noFill/>
          <a:ln/>
        </p:spPr>
        <p:txBody>
          <a:bodyPr wrap="square" lIns="0" tIns="0" rIns="0" bIns="0" rtlCol="0" anchor="t"/>
          <a:lstStyle/>
          <a:p>
            <a:pPr indent="0" marL="0">
              <a:buNone/>
            </a:pPr>
            <a:r>
              <a:rPr lang="en-US" sz="3000" b="1" dirty="0">
                <a:solidFill>
                  <a:srgbClr val="13383B"/>
                </a:solidFill>
                <a:latin typeface="Cambria" pitchFamily="34" charset="0"/>
                <a:ea typeface="Cambria" pitchFamily="34" charset="-122"/>
                <a:cs typeface="Cambria" pitchFamily="34" charset="-120"/>
              </a:rPr>
              <a:t>78</a:t>
            </a:r>
            <a:endParaRPr lang="en-US" sz="3000" dirty="0"/>
          </a:p>
        </p:txBody>
      </p:sp>
      <p:sp>
        <p:nvSpPr>
          <p:cNvPr id="18" name="Text 16"/>
          <p:cNvSpPr txBox="1"/>
          <p:nvPr/>
        </p:nvSpPr>
        <p:spPr>
          <a:xfrm>
            <a:off x="9189720" y="2395728"/>
            <a:ext cx="2240280" cy="548640"/>
          </a:xfrm>
          <a:prstGeom prst="rect">
            <a:avLst/>
          </a:prstGeom>
          <a:noFill/>
          <a:ln/>
        </p:spPr>
        <p:txBody>
          <a:bodyPr wrap="square" lIns="0" tIns="0" rIns="0" bIns="0" rtlCol="0" anchor="t"/>
          <a:lstStyle/>
          <a:p>
            <a:pPr indent="0" marL="0">
              <a:lnSpc>
                <a:spcPts val="1500"/>
              </a:lnSpc>
              <a:buNone/>
            </a:pPr>
            <a:r>
              <a:rPr lang="en-US" sz="1150" dirty="0">
                <a:solidFill>
                  <a:srgbClr val="5D666E"/>
                </a:solidFill>
                <a:latin typeface="Calibri" pitchFamily="34" charset="0"/>
                <a:ea typeface="Calibri" pitchFamily="34" charset="-122"/>
                <a:cs typeface="Calibri" pitchFamily="34" charset="-120"/>
              </a:rPr>
              <a:t>tests passing, metrics</a:t>
            </a:r>
            <a:endParaRPr lang="en-US" sz="1150" dirty="0"/>
          </a:p>
          <a:p>
            <a:pPr indent="0" marL="0">
              <a:lnSpc>
                <a:spcPts val="1500"/>
              </a:lnSpc>
              <a:buNone/>
            </a:pPr>
            <a:r>
              <a:rPr lang="en-US" sz="1150" dirty="0">
                <a:solidFill>
                  <a:srgbClr val="5D666E"/>
                </a:solidFill>
                <a:latin typeface="Calibri" pitchFamily="34" charset="0"/>
                <a:ea typeface="Calibri" pitchFamily="34" charset="-122"/>
                <a:cs typeface="Calibri" pitchFamily="34" charset="-120"/>
              </a:rPr>
              <a:t>verified on paper</a:t>
            </a:r>
            <a:endParaRPr lang="en-US" sz="1150" dirty="0"/>
          </a:p>
        </p:txBody>
      </p:sp>
      <p:pic>
        <p:nvPicPr>
          <p:cNvPr id="19" name="Image 0" descr="figs_deck/deck_f0.png">    </p:cNvPr>
          <p:cNvPicPr>
            <a:picLocks noChangeAspect="1"/>
          </p:cNvPicPr>
          <p:nvPr/>
        </p:nvPicPr>
        <p:blipFill>
          <a:blip r:embed="rId1"/>
          <a:stretch>
            <a:fillRect/>
          </a:stretch>
        </p:blipFill>
        <p:spPr>
          <a:xfrm>
            <a:off x="640080" y="3383280"/>
            <a:ext cx="5212080" cy="2439253"/>
          </a:xfrm>
          <a:prstGeom prst="rect">
            <a:avLst/>
          </a:prstGeom>
        </p:spPr>
      </p:pic>
      <p:sp>
        <p:nvSpPr>
          <p:cNvPr id="20" name="Text 17"/>
          <p:cNvSpPr txBox="1"/>
          <p:nvPr/>
        </p:nvSpPr>
        <p:spPr>
          <a:xfrm>
            <a:off x="5943600" y="3291840"/>
            <a:ext cx="5577840" cy="310896"/>
          </a:xfrm>
          <a:prstGeom prst="rect">
            <a:avLst/>
          </a:prstGeom>
          <a:noFill/>
          <a:ln/>
        </p:spPr>
        <p:txBody>
          <a:bodyPr wrap="square" lIns="0" tIns="0" rIns="0" bIns="0" rtlCol="0" anchor="t"/>
          <a:lstStyle/>
          <a:p>
            <a:pPr indent="0" marL="0">
              <a:buNone/>
            </a:pPr>
            <a:r>
              <a:rPr lang="en-US" sz="1500" b="1" dirty="0">
                <a:solidFill>
                  <a:srgbClr val="13383B"/>
                </a:solidFill>
                <a:latin typeface="Cambria" pitchFamily="34" charset="0"/>
                <a:ea typeface="Cambria" pitchFamily="34" charset="-122"/>
                <a:cs typeface="Cambria" pitchFamily="34" charset="-120"/>
              </a:rPr>
              <a:t>Speaker identity had to be recovered</a:t>
            </a:r>
            <a:endParaRPr lang="en-US" sz="1500" dirty="0"/>
          </a:p>
        </p:txBody>
      </p:sp>
      <p:sp>
        <p:nvSpPr>
          <p:cNvPr id="21" name="Text 18"/>
          <p:cNvSpPr txBox="1"/>
          <p:nvPr/>
        </p:nvSpPr>
        <p:spPr>
          <a:xfrm>
            <a:off x="5943600" y="3703320"/>
            <a:ext cx="5577840" cy="1554480"/>
          </a:xfrm>
          <a:prstGeom prst="rect">
            <a:avLst/>
          </a:prstGeom>
          <a:noFill/>
          <a:ln/>
        </p:spPr>
        <p:txBody>
          <a:bodyPr wrap="square" lIns="0" tIns="0" rIns="0" bIns="0" rtlCol="0" anchor="t"/>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The corpora label speakers 0 and 1 with no key, and the two arms must be matched. Median F₀ over 25 sampled utterances separates them cleanly and identically in both languages: 90 Hz apart in Hindi, 111 Hz in Marathi. Every gender label in the report rests on that measurement and is reported as an inference, not as something the dataset says.</a:t>
            </a:r>
            <a:endParaRPr lang="en-US" sz="1300" dirty="0"/>
          </a:p>
        </p:txBody>
      </p:sp>
      <p:sp>
        <p:nvSpPr>
          <p:cNvPr id="22" name="Text 19"/>
          <p:cNvSpPr txBox="1"/>
          <p:nvPr/>
        </p:nvSpPr>
        <p:spPr>
          <a:xfrm>
            <a:off x="5943600" y="5349240"/>
            <a:ext cx="5577840" cy="914400"/>
          </a:xfrm>
          <a:prstGeom prst="rect">
            <a:avLst/>
          </a:prstGeom>
          <a:noFill/>
          <a:ln/>
        </p:spPr>
        <p:txBody>
          <a:bodyPr wrap="square" lIns="0" tIns="0" rIns="0" bIns="0" rtlCol="0" anchor="t"/>
          <a:lstStyle/>
          <a:p>
            <a:pPr indent="0" marL="0">
              <a:lnSpc>
                <a:spcPts val="1700"/>
              </a:lnSpc>
              <a:buNone/>
            </a:pPr>
            <a:r>
              <a:rPr lang="en-US" sz="1250" i="1" dirty="0">
                <a:solidFill>
                  <a:srgbClr val="5D666E"/>
                </a:solidFill>
                <a:latin typeface="Calibri" pitchFamily="34" charset="0"/>
                <a:ea typeface="Calibri" pitchFamily="34" charset="-122"/>
                <a:cs typeface="Calibri" pitchFamily="34" charset="-120"/>
              </a:rPr>
              <a:t>Male speaker chosen in both: the two male voices sit 17 Hz apart across languages against 38 Hz for the female pair, so less acoustic difference is left that has nothing to do with schwa deletion.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Discussion: three defects, none of which announced itself</a:t>
            </a:r>
            <a:endParaRPr lang="en-US" sz="2700" dirty="0"/>
          </a:p>
        </p:txBody>
      </p:sp>
      <p:sp>
        <p:nvSpPr>
          <p:cNvPr id="5" name="Text 3"/>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10</a:t>
            </a:r>
            <a:endParaRPr lang="en-US" sz="1100" dirty="0"/>
          </a:p>
        </p:txBody>
      </p:sp>
      <p:sp>
        <p:nvSpPr>
          <p:cNvPr id="6" name="Shape 4"/>
          <p:cNvSpPr/>
          <p:nvPr/>
        </p:nvSpPr>
        <p:spPr>
          <a:xfrm>
            <a:off x="640080" y="1371600"/>
            <a:ext cx="5669280" cy="3017520"/>
          </a:xfrm>
          <a:prstGeom prst="roundRect">
            <a:avLst>
              <a:gd name="adj" fmla="val 1818"/>
            </a:avLst>
          </a:prstGeom>
          <a:solidFill>
            <a:srgbClr val="F2F5F5"/>
          </a:solidFill>
          <a:ln w="9525">
            <a:solidFill>
              <a:srgbClr val="D8DEDF"/>
            </a:solidFill>
            <a:prstDash val="solid"/>
          </a:ln>
        </p:spPr>
      </p:sp>
      <p:sp>
        <p:nvSpPr>
          <p:cNvPr id="7" name="Text 5"/>
          <p:cNvSpPr txBox="1"/>
          <p:nvPr/>
        </p:nvSpPr>
        <p:spPr>
          <a:xfrm>
            <a:off x="2468880" y="1554480"/>
            <a:ext cx="1737360" cy="292608"/>
          </a:xfrm>
          <a:prstGeom prst="rect">
            <a:avLst/>
          </a:prstGeom>
          <a:noFill/>
          <a:ln/>
        </p:spPr>
        <p:txBody>
          <a:bodyPr wrap="square" lIns="0" tIns="0" rIns="0" bIns="0" rtlCol="0" anchor="t"/>
          <a:lstStyle/>
          <a:p>
            <a:pPr indent="0" marL="0">
              <a:buNone/>
            </a:pPr>
            <a:r>
              <a:rPr lang="en-US" sz="1450" b="1" dirty="0">
                <a:solidFill>
                  <a:srgbClr val="2C6E4B"/>
                </a:solidFill>
                <a:latin typeface="Cambria" pitchFamily="34" charset="0"/>
                <a:ea typeface="Cambria" pitchFamily="34" charset="-122"/>
                <a:cs typeface="Cambria" pitchFamily="34" charset="-120"/>
              </a:rPr>
              <a:t>Correct</a:t>
            </a:r>
            <a:endParaRPr lang="en-US" sz="1450" dirty="0"/>
          </a:p>
        </p:txBody>
      </p:sp>
      <p:sp>
        <p:nvSpPr>
          <p:cNvPr id="8" name="Text 6"/>
          <p:cNvSpPr txBox="1"/>
          <p:nvPr/>
        </p:nvSpPr>
        <p:spPr>
          <a:xfrm>
            <a:off x="4251960" y="1554480"/>
            <a:ext cx="1920240" cy="292608"/>
          </a:xfrm>
          <a:prstGeom prst="rect">
            <a:avLst/>
          </a:prstGeom>
          <a:noFill/>
          <a:ln/>
        </p:spPr>
        <p:txBody>
          <a:bodyPr wrap="square" lIns="0" tIns="0" rIns="0" bIns="0" rtlCol="0" anchor="t"/>
          <a:lstStyle/>
          <a:p>
            <a:pPr indent="0" marL="0">
              <a:buNone/>
            </a:pPr>
            <a:r>
              <a:rPr lang="en-US" sz="1450" b="1" dirty="0">
                <a:solidFill>
                  <a:srgbClr val="B0432A"/>
                </a:solidFill>
                <a:latin typeface="Cambria" pitchFamily="34" charset="0"/>
                <a:ea typeface="Cambria" pitchFamily="34" charset="-122"/>
                <a:cs typeface="Cambria" pitchFamily="34" charset="-120"/>
              </a:rPr>
              <a:t>With a comma attached</a:t>
            </a:r>
            <a:endParaRPr lang="en-US" sz="1450" dirty="0"/>
          </a:p>
        </p:txBody>
      </p:sp>
      <p:sp>
        <p:nvSpPr>
          <p:cNvPr id="9" name="Text 7"/>
          <p:cNvSpPr txBox="1"/>
          <p:nvPr/>
        </p:nvSpPr>
        <p:spPr>
          <a:xfrm>
            <a:off x="868680" y="2048256"/>
            <a:ext cx="1554480" cy="365760"/>
          </a:xfrm>
          <a:prstGeom prst="rect">
            <a:avLst/>
          </a:prstGeom>
          <a:noFill/>
          <a:ln/>
        </p:spPr>
        <p:txBody>
          <a:bodyPr wrap="square" lIns="0" tIns="0" rIns="0" bIns="0" rtlCol="0" anchor="t"/>
          <a:lstStyle/>
          <a:p>
            <a:pPr indent="0" marL="0">
              <a:buNone/>
            </a:pPr>
            <a:r>
              <a:rPr lang="en-US" sz="1200" dirty="0">
                <a:solidFill>
                  <a:srgbClr val="5D666E"/>
                </a:solidFill>
                <a:latin typeface="Calibri" pitchFamily="34" charset="0"/>
                <a:ea typeface="Calibri" pitchFamily="34" charset="-122"/>
                <a:cs typeface="Calibri" pitchFamily="34" charset="-120"/>
              </a:rPr>
              <a:t>input</a:t>
            </a:r>
            <a:endParaRPr lang="en-US" sz="1200" dirty="0"/>
          </a:p>
        </p:txBody>
      </p:sp>
      <p:sp>
        <p:nvSpPr>
          <p:cNvPr id="10" name="Text 8"/>
          <p:cNvSpPr txBox="1"/>
          <p:nvPr/>
        </p:nvSpPr>
        <p:spPr>
          <a:xfrm>
            <a:off x="2468880" y="2011680"/>
            <a:ext cx="1737360" cy="420624"/>
          </a:xfrm>
          <a:prstGeom prst="rect">
            <a:avLst/>
          </a:prstGeom>
          <a:noFill/>
          <a:ln/>
        </p:spPr>
        <p:txBody>
          <a:bodyPr wrap="square" lIns="0" tIns="0" rIns="0" bIns="0" rtlCol="0" anchor="t"/>
          <a:lstStyle/>
          <a:p>
            <a:pPr indent="0" marL="0">
              <a:buNone/>
            </a:pPr>
            <a:r>
              <a:rPr lang="en-US" sz="1500" dirty="0">
                <a:solidFill>
                  <a:srgbClr val="13383B"/>
                </a:solidFill>
                <a:latin typeface="Cambria" pitchFamily="34" charset="0"/>
                <a:ea typeface="Cambria" pitchFamily="34" charset="-122"/>
                <a:cs typeface="Cambria" pitchFamily="34" charset="-120"/>
              </a:rPr>
              <a:t>नमक</a:t>
            </a:r>
            <a:endParaRPr lang="en-US" sz="1500" dirty="0"/>
          </a:p>
        </p:txBody>
      </p:sp>
      <p:sp>
        <p:nvSpPr>
          <p:cNvPr id="11" name="Text 9"/>
          <p:cNvSpPr txBox="1"/>
          <p:nvPr/>
        </p:nvSpPr>
        <p:spPr>
          <a:xfrm>
            <a:off x="4251960" y="2011680"/>
            <a:ext cx="1920240" cy="420624"/>
          </a:xfrm>
          <a:prstGeom prst="rect">
            <a:avLst/>
          </a:prstGeom>
          <a:noFill/>
          <a:ln/>
        </p:spPr>
        <p:txBody>
          <a:bodyPr wrap="square" lIns="0" tIns="0" rIns="0" bIns="0" rtlCol="0" anchor="t"/>
          <a:lstStyle/>
          <a:p>
            <a:pPr indent="0" marL="0">
              <a:buNone/>
            </a:pPr>
            <a:r>
              <a:rPr lang="en-US" sz="1500" dirty="0">
                <a:solidFill>
                  <a:srgbClr val="13383B"/>
                </a:solidFill>
                <a:latin typeface="Cambria" pitchFamily="34" charset="0"/>
                <a:ea typeface="Cambria" pitchFamily="34" charset="-122"/>
                <a:cs typeface="Cambria" pitchFamily="34" charset="-120"/>
              </a:rPr>
              <a:t>नमक,</a:t>
            </a:r>
            <a:endParaRPr lang="en-US" sz="1500" dirty="0"/>
          </a:p>
        </p:txBody>
      </p:sp>
      <p:sp>
        <p:nvSpPr>
          <p:cNvPr id="12" name="Text 10"/>
          <p:cNvSpPr txBox="1"/>
          <p:nvPr/>
        </p:nvSpPr>
        <p:spPr>
          <a:xfrm>
            <a:off x="868680" y="2615184"/>
            <a:ext cx="1554480" cy="365760"/>
          </a:xfrm>
          <a:prstGeom prst="rect">
            <a:avLst/>
          </a:prstGeom>
          <a:noFill/>
          <a:ln/>
        </p:spPr>
        <p:txBody>
          <a:bodyPr wrap="square" lIns="0" tIns="0" rIns="0" bIns="0" rtlCol="0" anchor="t"/>
          <a:lstStyle/>
          <a:p>
            <a:pPr indent="0" marL="0">
              <a:buNone/>
            </a:pPr>
            <a:r>
              <a:rPr lang="en-US" sz="1200" dirty="0">
                <a:solidFill>
                  <a:srgbClr val="5D666E"/>
                </a:solidFill>
                <a:latin typeface="Calibri" pitchFamily="34" charset="0"/>
                <a:ea typeface="Calibri" pitchFamily="34" charset="-122"/>
                <a:cs typeface="Calibri" pitchFamily="34" charset="-120"/>
              </a:rPr>
              <a:t>word-final schwa</a:t>
            </a:r>
            <a:endParaRPr lang="en-US" sz="1200" dirty="0"/>
          </a:p>
        </p:txBody>
      </p:sp>
      <p:sp>
        <p:nvSpPr>
          <p:cNvPr id="13" name="Text 11"/>
          <p:cNvSpPr txBox="1"/>
          <p:nvPr/>
        </p:nvSpPr>
        <p:spPr>
          <a:xfrm>
            <a:off x="2468880" y="2578608"/>
            <a:ext cx="1737360" cy="420624"/>
          </a:xfrm>
          <a:prstGeom prst="rect">
            <a:avLst/>
          </a:prstGeom>
          <a:noFill/>
          <a:ln/>
        </p:spPr>
        <p:txBody>
          <a:bodyPr wrap="square" lIns="0" tIns="0" rIns="0" bIns="0" rtlCol="0" anchor="t"/>
          <a:lstStyle/>
          <a:p>
            <a:pPr indent="0" marL="0">
              <a:buNone/>
            </a:pPr>
            <a:r>
              <a:rPr lang="en-US" sz="1500" dirty="0">
                <a:solidFill>
                  <a:srgbClr val="13383B"/>
                </a:solidFill>
                <a:latin typeface="Cambria" pitchFamily="34" charset="0"/>
                <a:ea typeface="Cambria" pitchFamily="34" charset="-122"/>
                <a:cs typeface="Cambria" pitchFamily="34" charset="-120"/>
              </a:rPr>
              <a:t>deletes</a:t>
            </a:r>
            <a:endParaRPr lang="en-US" sz="1500" dirty="0"/>
          </a:p>
        </p:txBody>
      </p:sp>
      <p:sp>
        <p:nvSpPr>
          <p:cNvPr id="14" name="Text 12"/>
          <p:cNvSpPr txBox="1"/>
          <p:nvPr/>
        </p:nvSpPr>
        <p:spPr>
          <a:xfrm>
            <a:off x="4251960" y="2578608"/>
            <a:ext cx="1920240" cy="420624"/>
          </a:xfrm>
          <a:prstGeom prst="rect">
            <a:avLst/>
          </a:prstGeom>
          <a:noFill/>
          <a:ln/>
        </p:spPr>
        <p:txBody>
          <a:bodyPr wrap="square" lIns="0" tIns="0" rIns="0" bIns="0" rtlCol="0" anchor="t"/>
          <a:lstStyle/>
          <a:p>
            <a:pPr indent="0" marL="0">
              <a:buNone/>
            </a:pPr>
            <a:r>
              <a:rPr lang="en-US" sz="1500" dirty="0">
                <a:solidFill>
                  <a:srgbClr val="13383B"/>
                </a:solidFill>
                <a:latin typeface="Cambria" pitchFamily="34" charset="0"/>
                <a:ea typeface="Cambria" pitchFamily="34" charset="-122"/>
                <a:cs typeface="Cambria" pitchFamily="34" charset="-120"/>
              </a:rPr>
              <a:t>survives</a:t>
            </a:r>
            <a:endParaRPr lang="en-US" sz="1500" dirty="0"/>
          </a:p>
        </p:txBody>
      </p:sp>
      <p:sp>
        <p:nvSpPr>
          <p:cNvPr id="15" name="Text 13"/>
          <p:cNvSpPr txBox="1"/>
          <p:nvPr/>
        </p:nvSpPr>
        <p:spPr>
          <a:xfrm>
            <a:off x="868680" y="3182112"/>
            <a:ext cx="1554480" cy="365760"/>
          </a:xfrm>
          <a:prstGeom prst="rect">
            <a:avLst/>
          </a:prstGeom>
          <a:noFill/>
          <a:ln/>
        </p:spPr>
        <p:txBody>
          <a:bodyPr wrap="square" lIns="0" tIns="0" rIns="0" bIns="0" rtlCol="0" anchor="t"/>
          <a:lstStyle/>
          <a:p>
            <a:pPr indent="0" marL="0">
              <a:buNone/>
            </a:pPr>
            <a:r>
              <a:rPr lang="en-US" sz="1200" dirty="0">
                <a:solidFill>
                  <a:srgbClr val="5D666E"/>
                </a:solidFill>
                <a:latin typeface="Calibri" pitchFamily="34" charset="0"/>
                <a:ea typeface="Calibri" pitchFamily="34" charset="-122"/>
                <a:cs typeface="Calibri" pitchFamily="34" charset="-120"/>
              </a:rPr>
              <a:t>its left neighbour</a:t>
            </a:r>
            <a:endParaRPr lang="en-US" sz="1200" dirty="0"/>
          </a:p>
        </p:txBody>
      </p:sp>
      <p:sp>
        <p:nvSpPr>
          <p:cNvPr id="16" name="Text 14"/>
          <p:cNvSpPr txBox="1"/>
          <p:nvPr/>
        </p:nvSpPr>
        <p:spPr>
          <a:xfrm>
            <a:off x="2468880" y="3145536"/>
            <a:ext cx="1737360" cy="420624"/>
          </a:xfrm>
          <a:prstGeom prst="rect">
            <a:avLst/>
          </a:prstGeom>
          <a:noFill/>
          <a:ln/>
        </p:spPr>
        <p:txBody>
          <a:bodyPr wrap="square" lIns="0" tIns="0" rIns="0" bIns="0" rtlCol="0" anchor="t"/>
          <a:lstStyle/>
          <a:p>
            <a:pPr indent="0" marL="0">
              <a:buNone/>
            </a:pPr>
            <a:r>
              <a:rPr lang="en-US" sz="1500" dirty="0">
                <a:solidFill>
                  <a:srgbClr val="13383B"/>
                </a:solidFill>
                <a:latin typeface="Cambria" pitchFamily="34" charset="0"/>
                <a:ea typeface="Cambria" pitchFamily="34" charset="-122"/>
                <a:cs typeface="Cambria" pitchFamily="34" charset="-120"/>
              </a:rPr>
              <a:t>kept</a:t>
            </a:r>
            <a:endParaRPr lang="en-US" sz="1500" dirty="0"/>
          </a:p>
        </p:txBody>
      </p:sp>
      <p:sp>
        <p:nvSpPr>
          <p:cNvPr id="17" name="Text 15"/>
          <p:cNvSpPr txBox="1"/>
          <p:nvPr/>
        </p:nvSpPr>
        <p:spPr>
          <a:xfrm>
            <a:off x="4251960" y="3145536"/>
            <a:ext cx="1920240" cy="420624"/>
          </a:xfrm>
          <a:prstGeom prst="rect">
            <a:avLst/>
          </a:prstGeom>
          <a:noFill/>
          <a:ln/>
        </p:spPr>
        <p:txBody>
          <a:bodyPr wrap="square" lIns="0" tIns="0" rIns="0" bIns="0" rtlCol="0" anchor="t"/>
          <a:lstStyle/>
          <a:p>
            <a:pPr indent="0" marL="0">
              <a:buNone/>
            </a:pPr>
            <a:r>
              <a:rPr lang="en-US" sz="1500" dirty="0">
                <a:solidFill>
                  <a:srgbClr val="13383B"/>
                </a:solidFill>
                <a:latin typeface="Cambria" pitchFamily="34" charset="0"/>
                <a:ea typeface="Cambria" pitchFamily="34" charset="-122"/>
                <a:cs typeface="Cambria" pitchFamily="34" charset="-120"/>
              </a:rPr>
              <a:t>deletes</a:t>
            </a:r>
            <a:endParaRPr lang="en-US" sz="1500" dirty="0"/>
          </a:p>
        </p:txBody>
      </p:sp>
      <p:sp>
        <p:nvSpPr>
          <p:cNvPr id="18" name="Text 16"/>
          <p:cNvSpPr txBox="1"/>
          <p:nvPr/>
        </p:nvSpPr>
        <p:spPr>
          <a:xfrm>
            <a:off x="868680" y="3749040"/>
            <a:ext cx="1554480" cy="365760"/>
          </a:xfrm>
          <a:prstGeom prst="rect">
            <a:avLst/>
          </a:prstGeom>
          <a:noFill/>
          <a:ln/>
        </p:spPr>
        <p:txBody>
          <a:bodyPr wrap="square" lIns="0" tIns="0" rIns="0" bIns="0" rtlCol="0" anchor="t"/>
          <a:lstStyle/>
          <a:p>
            <a:pPr indent="0" marL="0">
              <a:buNone/>
            </a:pPr>
            <a:r>
              <a:rPr lang="en-US" sz="1200" dirty="0">
                <a:solidFill>
                  <a:srgbClr val="5D666E"/>
                </a:solidFill>
                <a:latin typeface="Calibri" pitchFamily="34" charset="0"/>
                <a:ea typeface="Calibri" pitchFamily="34" charset="-122"/>
                <a:cs typeface="Calibri" pitchFamily="34" charset="-120"/>
              </a:rPr>
              <a:t>output</a:t>
            </a:r>
            <a:endParaRPr lang="en-US" sz="1200" dirty="0"/>
          </a:p>
        </p:txBody>
      </p:sp>
      <p:sp>
        <p:nvSpPr>
          <p:cNvPr id="19" name="Text 17"/>
          <p:cNvSpPr txBox="1"/>
          <p:nvPr/>
        </p:nvSpPr>
        <p:spPr>
          <a:xfrm>
            <a:off x="2468880" y="3712464"/>
            <a:ext cx="1737360" cy="420624"/>
          </a:xfrm>
          <a:prstGeom prst="rect">
            <a:avLst/>
          </a:prstGeom>
          <a:noFill/>
          <a:ln/>
        </p:spPr>
        <p:txBody>
          <a:bodyPr wrap="square" lIns="0" tIns="0" rIns="0" bIns="0" rtlCol="0" anchor="t"/>
          <a:lstStyle/>
          <a:p>
            <a:pPr indent="0" marL="0">
              <a:buNone/>
            </a:pPr>
            <a:r>
              <a:rPr lang="en-US" sz="1700" dirty="0">
                <a:solidFill>
                  <a:srgbClr val="2C6E4B"/>
                </a:solidFill>
                <a:latin typeface="Cambria" pitchFamily="34" charset="0"/>
                <a:ea typeface="Cambria" pitchFamily="34" charset="-122"/>
                <a:cs typeface="Cambria" pitchFamily="34" charset="-120"/>
              </a:rPr>
              <a:t>/nəmək/</a:t>
            </a:r>
            <a:endParaRPr lang="en-US" sz="1700" dirty="0"/>
          </a:p>
        </p:txBody>
      </p:sp>
      <p:sp>
        <p:nvSpPr>
          <p:cNvPr id="20" name="Text 18"/>
          <p:cNvSpPr txBox="1"/>
          <p:nvPr/>
        </p:nvSpPr>
        <p:spPr>
          <a:xfrm>
            <a:off x="4251960" y="3712464"/>
            <a:ext cx="1920240" cy="420624"/>
          </a:xfrm>
          <a:prstGeom prst="rect">
            <a:avLst/>
          </a:prstGeom>
          <a:noFill/>
          <a:ln/>
        </p:spPr>
        <p:txBody>
          <a:bodyPr wrap="square" lIns="0" tIns="0" rIns="0" bIns="0" rtlCol="0" anchor="t"/>
          <a:lstStyle/>
          <a:p>
            <a:pPr indent="0" marL="0">
              <a:buNone/>
            </a:pPr>
            <a:r>
              <a:rPr lang="en-US" sz="1700" dirty="0">
                <a:solidFill>
                  <a:srgbClr val="B0432A"/>
                </a:solidFill>
                <a:latin typeface="Cambria" pitchFamily="34" charset="0"/>
                <a:ea typeface="Cambria" pitchFamily="34" charset="-122"/>
                <a:cs typeface="Cambria" pitchFamily="34" charset="-120"/>
              </a:rPr>
              <a:t>/nəmkə/</a:t>
            </a:r>
            <a:endParaRPr lang="en-US" sz="1700" dirty="0"/>
          </a:p>
        </p:txBody>
      </p:sp>
      <p:sp>
        <p:nvSpPr>
          <p:cNvPr id="21" name="Text 19"/>
          <p:cNvSpPr txBox="1"/>
          <p:nvPr/>
        </p:nvSpPr>
        <p:spPr>
          <a:xfrm>
            <a:off x="640080" y="4617720"/>
            <a:ext cx="5669280" cy="310896"/>
          </a:xfrm>
          <a:prstGeom prst="rect">
            <a:avLst/>
          </a:prstGeom>
          <a:noFill/>
          <a:ln/>
        </p:spPr>
        <p:txBody>
          <a:bodyPr wrap="square" lIns="0" tIns="0" rIns="0" bIns="0" rtlCol="0" anchor="t"/>
          <a:lstStyle/>
          <a:p>
            <a:pPr indent="0" marL="0">
              <a:buNone/>
            </a:pPr>
            <a:r>
              <a:rPr lang="en-US" sz="1600" b="1" dirty="0">
                <a:solidFill>
                  <a:srgbClr val="B0432A"/>
                </a:solidFill>
                <a:latin typeface="Cambria" pitchFamily="34" charset="0"/>
                <a:ea typeface="Cambria" pitchFamily="34" charset="-122"/>
                <a:cs typeface="Cambria" pitchFamily="34" charset="-120"/>
              </a:rPr>
              <a:t>Punctuation was rewriting words</a:t>
            </a:r>
            <a:endParaRPr lang="en-US" sz="1600" dirty="0"/>
          </a:p>
        </p:txBody>
      </p:sp>
      <p:sp>
        <p:nvSpPr>
          <p:cNvPr id="22" name="Text 20"/>
          <p:cNvSpPr txBox="1"/>
          <p:nvPr/>
        </p:nvSpPr>
        <p:spPr>
          <a:xfrm>
            <a:off x="640080" y="5047488"/>
            <a:ext cx="5669280" cy="1188720"/>
          </a:xfrm>
          <a:prstGeom prst="rect">
            <a:avLst/>
          </a:prstGeom>
          <a:noFill/>
          <a:ln/>
        </p:spPr>
        <p:txBody>
          <a:bodyPr wrap="square" lIns="0" tIns="0" rIns="0" bIns="0" rtlCol="0" anchor="t"/>
          <a:lstStyle/>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A trailing comma means the word-final schwa is no longer final, so it survives, and its survival supplies the vowel that lets the schwa to its left delete. 16.5% of Hindi word tokens carry punctuation, and the damage fell on the phonemic arm alone.</a:t>
            </a:r>
            <a:endParaRPr lang="en-US" sz="1250" dirty="0"/>
          </a:p>
        </p:txBody>
      </p:sp>
      <p:sp>
        <p:nvSpPr>
          <p:cNvPr id="23" name="Shape 21"/>
          <p:cNvSpPr/>
          <p:nvPr/>
        </p:nvSpPr>
        <p:spPr>
          <a:xfrm>
            <a:off x="6675120" y="1371600"/>
            <a:ext cx="4846320" cy="2194560"/>
          </a:xfrm>
          <a:prstGeom prst="roundRect">
            <a:avLst>
              <a:gd name="adj" fmla="val 2500"/>
            </a:avLst>
          </a:prstGeom>
          <a:solidFill>
            <a:srgbClr val="F2F5F5"/>
          </a:solidFill>
          <a:ln w="9525">
            <a:solidFill>
              <a:srgbClr val="D8DEDF"/>
            </a:solidFill>
            <a:prstDash val="solid"/>
          </a:ln>
        </p:spPr>
      </p:sp>
      <p:sp>
        <p:nvSpPr>
          <p:cNvPr id="24" name="Text 22"/>
          <p:cNvSpPr txBox="1"/>
          <p:nvPr/>
        </p:nvSpPr>
        <p:spPr>
          <a:xfrm>
            <a:off x="6949440" y="1572768"/>
            <a:ext cx="4297680" cy="310896"/>
          </a:xfrm>
          <a:prstGeom prst="rect">
            <a:avLst/>
          </a:prstGeom>
          <a:noFill/>
          <a:ln/>
        </p:spPr>
        <p:txBody>
          <a:bodyPr wrap="square" lIns="0" tIns="0" rIns="0" bIns="0" rtlCol="0" anchor="t"/>
          <a:lstStyle/>
          <a:p>
            <a:pPr indent="0" marL="0">
              <a:buNone/>
            </a:pPr>
            <a:r>
              <a:rPr lang="en-US" sz="1500" b="1" dirty="0">
                <a:solidFill>
                  <a:srgbClr val="13383B"/>
                </a:solidFill>
                <a:latin typeface="Cambria" pitchFamily="34" charset="0"/>
                <a:ea typeface="Cambria" pitchFamily="34" charset="-122"/>
                <a:cs typeface="Cambria" pitchFamily="34" charset="-120"/>
              </a:rPr>
              <a:t>A run was in the plan twice</a:t>
            </a:r>
            <a:endParaRPr lang="en-US" sz="1500" dirty="0"/>
          </a:p>
        </p:txBody>
      </p:sp>
      <p:sp>
        <p:nvSpPr>
          <p:cNvPr id="25" name="Text 23"/>
          <p:cNvSpPr txBox="1"/>
          <p:nvPr/>
        </p:nvSpPr>
        <p:spPr>
          <a:xfrm>
            <a:off x="6949440" y="2011680"/>
            <a:ext cx="4297680" cy="1463040"/>
          </a:xfrm>
          <a:prstGeom prst="rect">
            <a:avLst/>
          </a:prstGeom>
          <a:noFill/>
          <a:ln/>
        </p:spPr>
        <p:txBody>
          <a:bodyPr wrap="square" lIns="0" tIns="0" rIns="0" bIns="0" rtlCol="0" anchor="t"/>
          <a:lstStyle/>
          <a:p>
            <a:pPr indent="0" marL="0">
              <a:lnSpc>
                <a:spcPts val="1700"/>
              </a:lnSpc>
              <a:buNone/>
            </a:pPr>
            <a:r>
              <a:rPr lang="en-US" sz="1250" dirty="0">
                <a:solidFill>
                  <a:srgbClr val="23303A"/>
                </a:solidFill>
                <a:latin typeface="Calibri" pitchFamily="34" charset="0"/>
                <a:ea typeface="Calibri" pitchFamily="34" charset="-122"/>
                <a:cs typeface="Calibri" pitchFamily="34" charset="-120"/>
              </a:rPr>
              <a:t>The ladder's 9 h rung was a second copy of the main run. Invisible because the run id sat inside the config hash, which makes two identical runs look distinct. 10 GPU-hours. 19 runs became 17.</a:t>
            </a:r>
            <a:endParaRPr lang="en-US" sz="1250" dirty="0"/>
          </a:p>
        </p:txBody>
      </p:sp>
      <p:sp>
        <p:nvSpPr>
          <p:cNvPr id="26" name="Shape 24"/>
          <p:cNvSpPr/>
          <p:nvPr/>
        </p:nvSpPr>
        <p:spPr>
          <a:xfrm>
            <a:off x="6675120" y="3749040"/>
            <a:ext cx="4846320" cy="2194560"/>
          </a:xfrm>
          <a:prstGeom prst="roundRect">
            <a:avLst>
              <a:gd name="adj" fmla="val 2500"/>
            </a:avLst>
          </a:prstGeom>
          <a:solidFill>
            <a:srgbClr val="F2F5F5"/>
          </a:solidFill>
          <a:ln w="9525">
            <a:solidFill>
              <a:srgbClr val="D8DEDF"/>
            </a:solidFill>
            <a:prstDash val="solid"/>
          </a:ln>
        </p:spPr>
      </p:sp>
      <p:sp>
        <p:nvSpPr>
          <p:cNvPr id="27" name="Text 25"/>
          <p:cNvSpPr txBox="1"/>
          <p:nvPr/>
        </p:nvSpPr>
        <p:spPr>
          <a:xfrm>
            <a:off x="6949440" y="3950208"/>
            <a:ext cx="4297680" cy="310896"/>
          </a:xfrm>
          <a:prstGeom prst="rect">
            <a:avLst/>
          </a:prstGeom>
          <a:noFill/>
          <a:ln/>
        </p:spPr>
        <p:txBody>
          <a:bodyPr wrap="square" lIns="0" tIns="0" rIns="0" bIns="0" rtlCol="0" anchor="t"/>
          <a:lstStyle/>
          <a:p>
            <a:pPr indent="0" marL="0">
              <a:buNone/>
            </a:pPr>
            <a:r>
              <a:rPr lang="en-US" sz="1500" b="1" dirty="0">
                <a:solidFill>
                  <a:srgbClr val="13383B"/>
                </a:solidFill>
                <a:latin typeface="Cambria" pitchFamily="34" charset="0"/>
                <a:ea typeface="Cambria" pitchFamily="34" charset="-122"/>
                <a:cs typeface="Cambria" pitchFamily="34" charset="-120"/>
              </a:rPr>
              <a:t>The sheet leaked its answers</a:t>
            </a:r>
            <a:endParaRPr lang="en-US" sz="1500" dirty="0"/>
          </a:p>
        </p:txBody>
      </p:sp>
      <p:sp>
        <p:nvSpPr>
          <p:cNvPr id="28" name="Text 26"/>
          <p:cNvSpPr txBox="1"/>
          <p:nvPr/>
        </p:nvSpPr>
        <p:spPr>
          <a:xfrm>
            <a:off x="6949440" y="4389120"/>
            <a:ext cx="4297680" cy="1463040"/>
          </a:xfrm>
          <a:prstGeom prst="rect">
            <a:avLst/>
          </a:prstGeom>
          <a:noFill/>
          <a:ln/>
        </p:spPr>
        <p:txBody>
          <a:bodyPr wrap="square" lIns="0" tIns="0" rIns="0" bIns="0" rtlCol="0" anchor="t"/>
          <a:lstStyle/>
          <a:p>
            <a:pPr indent="0" marL="0">
              <a:lnSpc>
                <a:spcPts val="1700"/>
              </a:lnSpc>
              <a:buNone/>
            </a:pPr>
            <a:r>
              <a:rPr lang="en-US" sz="1250" dirty="0">
                <a:solidFill>
                  <a:srgbClr val="23303A"/>
                </a:solidFill>
                <a:latin typeface="Calibri" pitchFamily="34" charset="0"/>
                <a:ea typeface="Calibri" pitchFamily="34" charset="-122"/>
                <a:cs typeface="Calibri" pitchFamily="34" charset="-120"/>
              </a:rPr>
              <a:t>Its worked examples were themselves items from the 49-word test set, handing every participant three answers. Found only because a reader asked about one. A check now refuses such a sheet at generation time.</a:t>
            </a:r>
            <a:endParaRPr lang="en-US" sz="1250" dirty="0"/>
          </a:p>
        </p:txBody>
      </p:sp>
      <p:sp>
        <p:nvSpPr>
          <p:cNvPr id="29" name="Text 27"/>
          <p:cNvSpPr txBox="1"/>
          <p:nvPr/>
        </p:nvSpPr>
        <p:spPr>
          <a:xfrm>
            <a:off x="640080" y="6144768"/>
            <a:ext cx="10881360" cy="365760"/>
          </a:xfrm>
          <a:prstGeom prst="rect">
            <a:avLst/>
          </a:prstGeom>
          <a:noFill/>
          <a:ln/>
        </p:spPr>
        <p:txBody>
          <a:bodyPr wrap="square" lIns="0" tIns="0" rIns="0" bIns="0" rtlCol="0" anchor="t"/>
          <a:lstStyle/>
          <a:p>
            <a:pPr indent="0" marL="0">
              <a:buNone/>
            </a:pPr>
            <a:r>
              <a:rPr lang="en-US" sz="1300" i="1" dirty="0">
                <a:solidFill>
                  <a:srgbClr val="5D666E"/>
                </a:solidFill>
                <a:latin typeface="Calibri" pitchFamily="34" charset="0"/>
                <a:ea typeface="Calibri" pitchFamily="34" charset="-122"/>
                <a:cs typeface="Calibri" pitchFamily="34" charset="-120"/>
              </a:rPr>
              <a:t>All three were found by running over real data or by watching somebody use an instrument. The 78 unit tests caught none of them.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Conclusion and future work</a:t>
            </a:r>
            <a:endParaRPr lang="en-US" sz="2700" dirty="0"/>
          </a:p>
        </p:txBody>
      </p:sp>
      <p:sp>
        <p:nvSpPr>
          <p:cNvPr id="5" name="Text 3"/>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11</a:t>
            </a:r>
            <a:endParaRPr lang="en-US" sz="1100" dirty="0"/>
          </a:p>
        </p:txBody>
      </p:sp>
      <p:sp>
        <p:nvSpPr>
          <p:cNvPr id="6" name="Shape 4"/>
          <p:cNvSpPr/>
          <p:nvPr/>
        </p:nvSpPr>
        <p:spPr>
          <a:xfrm>
            <a:off x="640080" y="1508760"/>
            <a:ext cx="5303520" cy="3200400"/>
          </a:xfrm>
          <a:prstGeom prst="roundRect">
            <a:avLst>
              <a:gd name="adj" fmla="val 1714"/>
            </a:avLst>
          </a:prstGeom>
          <a:solidFill>
            <a:srgbClr val="E8F0EC"/>
          </a:solidFill>
          <a:ln w="9525">
            <a:solidFill>
              <a:srgbClr val="2C6E4B"/>
            </a:solidFill>
            <a:prstDash val="solid"/>
          </a:ln>
        </p:spPr>
      </p:sp>
      <p:sp>
        <p:nvSpPr>
          <p:cNvPr id="7" name="Text 5"/>
          <p:cNvSpPr txBox="1"/>
          <p:nvPr/>
        </p:nvSpPr>
        <p:spPr>
          <a:xfrm>
            <a:off x="960120" y="1737360"/>
            <a:ext cx="4572000" cy="310896"/>
          </a:xfrm>
          <a:prstGeom prst="rect">
            <a:avLst/>
          </a:prstGeom>
          <a:noFill/>
          <a:ln/>
        </p:spPr>
        <p:txBody>
          <a:bodyPr wrap="square" lIns="0" tIns="0" rIns="0" bIns="0" rtlCol="0" anchor="t"/>
          <a:lstStyle/>
          <a:p>
            <a:pPr indent="0" marL="0">
              <a:buNone/>
            </a:pPr>
            <a:r>
              <a:rPr lang="en-US" sz="1700" b="1" dirty="0">
                <a:solidFill>
                  <a:srgbClr val="2C6E4B"/>
                </a:solidFill>
                <a:latin typeface="Cambria" pitchFamily="34" charset="0"/>
                <a:ea typeface="Cambria" pitchFamily="34" charset="-122"/>
                <a:cs typeface="Cambria" pitchFamily="34" charset="-120"/>
              </a:rPr>
              <a:t>Done</a:t>
            </a:r>
            <a:endParaRPr lang="en-US" sz="1700" dirty="0"/>
          </a:p>
        </p:txBody>
      </p:sp>
      <p:sp>
        <p:nvSpPr>
          <p:cNvPr id="8" name="Text 6"/>
          <p:cNvSpPr txBox="1"/>
          <p:nvPr/>
        </p:nvSpPr>
        <p:spPr>
          <a:xfrm>
            <a:off x="960120" y="2194560"/>
            <a:ext cx="4663440" cy="2377440"/>
          </a:xfrm>
          <a:prstGeom prst="rect">
            <a:avLst/>
          </a:prstGeom>
          <a:noFill/>
          <a:ln/>
        </p:spPr>
        <p:txBody>
          <a:bodyPr wrap="square" lIns="0" tIns="0" rIns="0" bIns="0" rtlCol="0" anchor="t"/>
          <a:lstStyle/>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Corpora profiled, standardised, speaker-matched</a:t>
            </a:r>
            <a:endParaRPr lang="en-US" sz="1300" dirty="0"/>
          </a:p>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Splits frozen, checksummed, byte-reproducible</a:t>
            </a:r>
            <a:endParaRPr lang="en-US" sz="1300" dirty="0"/>
          </a:p>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G2P front end: zero unknown symbols on both corpora</a:t>
            </a:r>
            <a:endParaRPr lang="en-US" sz="1300" dirty="0"/>
          </a:p>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MCD and log-F₀ verified against analytic answers</a:t>
            </a:r>
            <a:endParaRPr lang="en-US" sz="1300" dirty="0"/>
          </a:p>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17 runs specified, budget enforced by assertion</a:t>
            </a:r>
            <a:endParaRPr lang="en-US" sz="1300" dirty="0"/>
          </a:p>
        </p:txBody>
      </p:sp>
      <p:sp>
        <p:nvSpPr>
          <p:cNvPr id="9" name="Shape 7"/>
          <p:cNvSpPr/>
          <p:nvPr/>
        </p:nvSpPr>
        <p:spPr>
          <a:xfrm>
            <a:off x="6217920" y="1508760"/>
            <a:ext cx="5303520" cy="3200400"/>
          </a:xfrm>
          <a:prstGeom prst="roundRect">
            <a:avLst>
              <a:gd name="adj" fmla="val 1714"/>
            </a:avLst>
          </a:prstGeom>
          <a:solidFill>
            <a:srgbClr val="F2F5F5"/>
          </a:solidFill>
          <a:ln w="9525">
            <a:solidFill>
              <a:srgbClr val="D8DEDF"/>
            </a:solidFill>
            <a:prstDash val="solid"/>
          </a:ln>
        </p:spPr>
      </p:sp>
      <p:sp>
        <p:nvSpPr>
          <p:cNvPr id="10" name="Text 8"/>
          <p:cNvSpPr txBox="1"/>
          <p:nvPr/>
        </p:nvSpPr>
        <p:spPr>
          <a:xfrm>
            <a:off x="6537960" y="1737360"/>
            <a:ext cx="4572000" cy="310896"/>
          </a:xfrm>
          <a:prstGeom prst="rect">
            <a:avLst/>
          </a:prstGeom>
          <a:noFill/>
          <a:ln/>
        </p:spPr>
        <p:txBody>
          <a:bodyPr wrap="square" lIns="0" tIns="0" rIns="0" bIns="0" rtlCol="0" anchor="t"/>
          <a:lstStyle/>
          <a:p>
            <a:pPr indent="0" marL="0">
              <a:buNone/>
            </a:pPr>
            <a:r>
              <a:rPr lang="en-US" sz="1700" b="1" dirty="0">
                <a:solidFill>
                  <a:srgbClr val="13383B"/>
                </a:solidFill>
                <a:latin typeface="Cambria" pitchFamily="34" charset="0"/>
                <a:ea typeface="Cambria" pitchFamily="34" charset="-122"/>
                <a:cs typeface="Cambria" pitchFamily="34" charset="-120"/>
              </a:rPr>
              <a:t>Immediate work</a:t>
            </a:r>
            <a:endParaRPr lang="en-US" sz="1700" dirty="0"/>
          </a:p>
        </p:txBody>
      </p:sp>
      <p:sp>
        <p:nvSpPr>
          <p:cNvPr id="11" name="Text 9"/>
          <p:cNvSpPr txBox="1"/>
          <p:nvPr/>
        </p:nvSpPr>
        <p:spPr>
          <a:xfrm>
            <a:off x="6537960" y="2194560"/>
            <a:ext cx="4663440" cy="2377440"/>
          </a:xfrm>
          <a:prstGeom prst="rect">
            <a:avLst/>
          </a:prstGeom>
          <a:noFill/>
          <a:ln/>
        </p:spPr>
        <p:txBody>
          <a:bodyPr wrap="square" lIns="0" tIns="0" rIns="0" bIns="0" rtlCol="0" anchor="t"/>
          <a:lstStyle/>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Four training wrappers (FS2, VITS, Matcha, HiFi-GAN)</a:t>
            </a:r>
            <a:endParaRPr lang="en-US" sz="1300" dirty="0"/>
          </a:p>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ASR-WER with its ground-truth floor, predicted MOS, RTF</a:t>
            </a:r>
            <a:endParaRPr lang="en-US" sz="1300" dirty="0"/>
          </a:p>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Listening test infrastructure, piloted before recruiting</a:t>
            </a:r>
            <a:endParaRPr lang="en-US" sz="1300" dirty="0"/>
          </a:p>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Elicitation sheets from 2–3 native speakers (blocked on people)</a:t>
            </a:r>
            <a:endParaRPr lang="en-US" sz="1300" dirty="0"/>
          </a:p>
          <a:p>
            <a:pPr marL="342900" indent="-342900">
              <a:lnSpc>
                <a:spcPts val="1820"/>
              </a:lnSpc>
              <a:spcAft>
                <a:spcPts val="900"/>
              </a:spcAft>
              <a:buSzPct val="100000"/>
              <a:buChar char="•"/>
            </a:pPr>
            <a:r>
              <a:rPr lang="en-US" sz="1300" dirty="0">
                <a:solidFill>
                  <a:srgbClr val="23303A"/>
                </a:solidFill>
                <a:latin typeface="Calibri" pitchFamily="34" charset="0"/>
                <a:ea typeface="Calibri" pitchFamily="34" charset="-122"/>
                <a:cs typeface="Calibri" pitchFamily="34" charset="-120"/>
              </a:rPr>
              <a:t>Kaggle GPU round trip, including checkpoint resume</a:t>
            </a:r>
            <a:endParaRPr lang="en-US" sz="1300" dirty="0"/>
          </a:p>
        </p:txBody>
      </p:sp>
      <p:sp>
        <p:nvSpPr>
          <p:cNvPr id="12" name="Shape 10"/>
          <p:cNvSpPr/>
          <p:nvPr/>
        </p:nvSpPr>
        <p:spPr>
          <a:xfrm>
            <a:off x="640080" y="4937760"/>
            <a:ext cx="10881360" cy="1371600"/>
          </a:xfrm>
          <a:prstGeom prst="roundRect">
            <a:avLst>
              <a:gd name="adj" fmla="val 4000"/>
            </a:avLst>
          </a:prstGeom>
          <a:solidFill>
            <a:srgbClr val="F6EAE6"/>
          </a:solidFill>
          <a:ln w="9525">
            <a:solidFill>
              <a:srgbClr val="B0432A"/>
            </a:solidFill>
            <a:prstDash val="solid"/>
          </a:ln>
        </p:spPr>
      </p:sp>
      <p:sp>
        <p:nvSpPr>
          <p:cNvPr id="13" name="Text 11"/>
          <p:cNvSpPr txBox="1"/>
          <p:nvPr/>
        </p:nvSpPr>
        <p:spPr>
          <a:xfrm>
            <a:off x="1005840" y="5166360"/>
            <a:ext cx="10149840" cy="1005840"/>
          </a:xfrm>
          <a:prstGeom prst="rect">
            <a:avLst/>
          </a:prstGeom>
          <a:noFill/>
          <a:ln/>
        </p:spPr>
        <p:txBody>
          <a:bodyPr wrap="square" lIns="0" tIns="0" rIns="0" bIns="0" rtlCol="0" anchor="t"/>
          <a:lstStyle/>
          <a:p>
            <a:pPr indent="0" marL="0">
              <a:lnSpc>
                <a:spcPts val="2300"/>
              </a:lnSpc>
              <a:buNone/>
            </a:pPr>
            <a:r>
              <a:rPr lang="en-US" sz="1600" dirty="0">
                <a:solidFill>
                  <a:srgbClr val="5A2A1C"/>
                </a:solidFill>
                <a:latin typeface="Cambria" pitchFamily="34" charset="0"/>
                <a:ea typeface="Cambria" pitchFamily="34" charset="-122"/>
                <a:cs typeface="Cambria" pitchFamily="34" charset="-120"/>
              </a:rPr>
              <a:t>Whichever way the result goes it is useful. If the architectures absorb schwa deletion, nobody building an Indic TTS system needs to write that front end again. If they do not, the field should stop defaulting to character level input for Indic languages.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402336" cy="402336"/>
          </a:xfrm>
          <a:prstGeom prst="ellipse">
            <a:avLst/>
          </a:prstGeom>
          <a:solidFill>
            <a:srgbClr val="13383B"/>
          </a:solidFill>
          <a:ln/>
        </p:spPr>
      </p:sp>
      <p:sp>
        <p:nvSpPr>
          <p:cNvPr id="3" name="Text 1"/>
          <p:cNvSpPr txBox="1"/>
          <p:nvPr/>
        </p:nvSpPr>
        <p:spPr>
          <a:xfrm>
            <a:off x="640080" y="457200"/>
            <a:ext cx="402336" cy="40233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ə</a:t>
            </a:r>
            <a:endParaRPr lang="en-US" sz="1800" dirty="0"/>
          </a:p>
        </p:txBody>
      </p:sp>
      <p:sp>
        <p:nvSpPr>
          <p:cNvPr id="4" name="Text 2"/>
          <p:cNvSpPr txBox="1"/>
          <p:nvPr/>
        </p:nvSpPr>
        <p:spPr>
          <a:xfrm>
            <a:off x="1243584" y="420624"/>
            <a:ext cx="9326880" cy="548640"/>
          </a:xfrm>
          <a:prstGeom prst="rect">
            <a:avLst/>
          </a:prstGeom>
          <a:noFill/>
          <a:ln/>
        </p:spPr>
        <p:txBody>
          <a:bodyPr wrap="square" lIns="0" tIns="0" rIns="0" bIns="0" rtlCol="0" anchor="ctr"/>
          <a:lstStyle/>
          <a:p>
            <a:pPr indent="0" marL="0">
              <a:buNone/>
            </a:pPr>
            <a:r>
              <a:rPr lang="en-US" sz="2700" b="1" dirty="0">
                <a:solidFill>
                  <a:srgbClr val="13383B"/>
                </a:solidFill>
                <a:latin typeface="Cambria" pitchFamily="34" charset="0"/>
                <a:ea typeface="Cambria" pitchFamily="34" charset="-122"/>
                <a:cs typeface="Cambria" pitchFamily="34" charset="-120"/>
              </a:rPr>
              <a:t>References</a:t>
            </a:r>
            <a:endParaRPr lang="en-US" sz="2700" dirty="0"/>
          </a:p>
        </p:txBody>
      </p:sp>
      <p:sp>
        <p:nvSpPr>
          <p:cNvPr id="5" name="Text 3"/>
          <p:cNvSpPr txBox="1"/>
          <p:nvPr/>
        </p:nvSpPr>
        <p:spPr>
          <a:xfrm>
            <a:off x="11018520" y="420624"/>
            <a:ext cx="502920" cy="548640"/>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12</a:t>
            </a:r>
            <a:endParaRPr lang="en-US" sz="1100" dirty="0"/>
          </a:p>
        </p:txBody>
      </p:sp>
      <p:sp>
        <p:nvSpPr>
          <p:cNvPr id="6" name="Text 4"/>
          <p:cNvSpPr txBox="1"/>
          <p:nvPr/>
        </p:nvSpPr>
        <p:spPr>
          <a:xfrm>
            <a:off x="640080" y="1554480"/>
            <a:ext cx="7772400" cy="4754880"/>
          </a:xfrm>
          <a:prstGeom prst="rect">
            <a:avLst/>
          </a:prstGeom>
          <a:noFill/>
          <a:ln/>
        </p:spPr>
        <p:txBody>
          <a:bodyPr wrap="square" lIns="0" tIns="0" rIns="0" bIns="0" rtlCol="0" anchor="t"/>
          <a:lstStyle/>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[1]  B. Narasimhan, R. Sproat, G. Kiraz. Schwa-deletion in Hindi text-to-speech synthesis. IJST, 2004.</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[2]  A. Arora, L. Gessler, N. Schneider. Supervised G2P conversion of orthographic schwas in Hindi and Punjabi. ACL, 2020.</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[3]  Y. Ren, C. Hu, X. Tan et al. FastSpeech 2: Fast and high-quality end-to-end text to speech. ICLR, 2021.</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[4]  J. Kim, J. Kong, J. Son. Conditional VAE with adversarial learning for end-to-end text-to-speech. ICML, 2021.</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[5]  S. Mehta, R. Tu, J. Beskow et al. Matcha-TTS: A fast TTS architecture with conditional flow matching. ICASSP, 2024.</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[6]  J. Kong, J. Kim, J. Bae. HiFi-GAN: GANs for efficient and high fidelity speech synthesis. NeurIPS, 2020.</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[7]  J. Kim, S. Kim, J. Kong, S. Yoon. Glow-TTS: A generative flow for TTS via monotonic alignment search. NeurIPS, 2020.</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[8]  R. Badlani, A. Łańcucki, K. J. Shih et al. One TTS alignment to rule them all. ICASSP, 2022.</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[9]  M. McAuliffe, M. Socolof, S. Mihuc et al. Montreal Forced Aligner. Interspeech, 2017.</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[10] V. Pratap, A. Tjandra, B. Shi et al. Scaling speech technology to 1,000+ languages. JMLR, 2024.</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[11] G. K. Kumar, P. S. V., P. Kumar et al. Towards building TTS systems for the next billion users. ICASSP, 2023.</a:t>
            </a:r>
            <a:endParaRPr lang="en-US" sz="1300" dirty="0"/>
          </a:p>
          <a:p>
            <a:pPr indent="0" marL="0">
              <a:lnSpc>
                <a:spcPts val="2400"/>
              </a:lnSpc>
              <a:buNone/>
            </a:pPr>
            <a:r>
              <a:rPr lang="en-US" sz="1300" dirty="0">
                <a:solidFill>
                  <a:srgbClr val="23303A"/>
                </a:solidFill>
                <a:latin typeface="Calibri" pitchFamily="34" charset="0"/>
                <a:ea typeface="Calibri" pitchFamily="34" charset="-122"/>
                <a:cs typeface="Calibri" pitchFamily="34" charset="-120"/>
              </a:rPr>
              <a:t>[12] R. Kubichek. Mel-cepstral distance measure for objective speech quality assessment. IEEE PacRim, 1993.</a:t>
            </a:r>
            <a:endParaRPr lang="en-US" sz="1300" dirty="0"/>
          </a:p>
        </p:txBody>
      </p:sp>
      <p:sp>
        <p:nvSpPr>
          <p:cNvPr id="7" name="Shape 5"/>
          <p:cNvSpPr/>
          <p:nvPr/>
        </p:nvSpPr>
        <p:spPr>
          <a:xfrm>
            <a:off x="8686800" y="1554480"/>
            <a:ext cx="2834640" cy="4480560"/>
          </a:xfrm>
          <a:prstGeom prst="roundRect">
            <a:avLst>
              <a:gd name="adj" fmla="val 1935"/>
            </a:avLst>
          </a:prstGeom>
          <a:solidFill>
            <a:srgbClr val="F2F5F5"/>
          </a:solidFill>
          <a:ln w="9525">
            <a:solidFill>
              <a:srgbClr val="D8DEDF"/>
            </a:solidFill>
            <a:prstDash val="solid"/>
          </a:ln>
        </p:spPr>
      </p:sp>
      <p:sp>
        <p:nvSpPr>
          <p:cNvPr id="8" name="Text 6"/>
          <p:cNvSpPr txBox="1"/>
          <p:nvPr/>
        </p:nvSpPr>
        <p:spPr>
          <a:xfrm>
            <a:off x="8915400" y="1828800"/>
            <a:ext cx="2377440" cy="457200"/>
          </a:xfrm>
          <a:prstGeom prst="rect">
            <a:avLst/>
          </a:prstGeom>
          <a:noFill/>
          <a:ln/>
        </p:spPr>
        <p:txBody>
          <a:bodyPr wrap="square" lIns="0" tIns="0" rIns="0" bIns="0" rtlCol="0" anchor="t"/>
          <a:lstStyle/>
          <a:p>
            <a:pPr indent="0" marL="0">
              <a:buNone/>
            </a:pPr>
            <a:r>
              <a:rPr lang="en-US" sz="2100" b="1" dirty="0">
                <a:solidFill>
                  <a:srgbClr val="13383B"/>
                </a:solidFill>
                <a:latin typeface="Cambria" pitchFamily="34" charset="0"/>
                <a:ea typeface="Cambria" pitchFamily="34" charset="-122"/>
                <a:cs typeface="Cambria" pitchFamily="34" charset="-120"/>
              </a:rPr>
              <a:t>Thank you</a:t>
            </a:r>
            <a:endParaRPr lang="en-US" sz="2100" dirty="0"/>
          </a:p>
        </p:txBody>
      </p:sp>
      <p:sp>
        <p:nvSpPr>
          <p:cNvPr id="9" name="Text 7"/>
          <p:cNvSpPr txBox="1"/>
          <p:nvPr/>
        </p:nvSpPr>
        <p:spPr>
          <a:xfrm>
            <a:off x="8915400" y="2377440"/>
            <a:ext cx="2377440" cy="3108960"/>
          </a:xfrm>
          <a:prstGeom prst="rect">
            <a:avLst/>
          </a:prstGeom>
          <a:noFill/>
          <a:ln/>
        </p:spPr>
        <p:txBody>
          <a:bodyPr wrap="square" lIns="0" tIns="0" rIns="0" bIns="0" rtlCol="0" anchor="t"/>
          <a:lstStyle/>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Questions welcome.</a:t>
            </a:r>
            <a:endParaRPr lang="en-US" sz="1250" dirty="0"/>
          </a:p>
          <a:p>
            <a:pPr indent="0" marL="0">
              <a:lnSpc>
                <a:spcPts val="1800"/>
              </a:lnSpc>
              <a:buNone/>
            </a:pPr>
            <a:endParaRPr lang="en-US" sz="1250" dirty="0"/>
          </a:p>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The report carries the full list of 30 references in IEEE style, with the derivations, the full experimental matrix and four appendices.</a:t>
            </a:r>
            <a:endParaRPr lang="en-US" sz="1250" dirty="0"/>
          </a:p>
        </p:txBody>
      </p:sp>
      <p:sp>
        <p:nvSpPr>
          <p:cNvPr id="10" name="Text 8"/>
          <p:cNvSpPr txBox="1"/>
          <p:nvPr/>
        </p:nvSpPr>
        <p:spPr>
          <a:xfrm>
            <a:off x="640080" y="6144768"/>
            <a:ext cx="10881360" cy="365760"/>
          </a:xfrm>
          <a:prstGeom prst="rect">
            <a:avLst/>
          </a:prstGeom>
          <a:noFill/>
          <a:ln/>
        </p:spPr>
        <p:txBody>
          <a:bodyPr wrap="square" lIns="0" tIns="0" rIns="0" bIns="0" rtlCol="0" anchor="t"/>
          <a:lstStyle/>
          <a:p>
            <a:pPr indent="0" marL="0">
              <a:buNone/>
            </a:pPr>
            <a:r>
              <a:rPr lang="en-US" sz="1250" i="1" dirty="0">
                <a:solidFill>
                  <a:srgbClr val="5D666E"/>
                </a:solidFill>
                <a:latin typeface="Calibri" pitchFamily="34" charset="0"/>
                <a:ea typeface="Calibri" pitchFamily="34" charset="-122"/>
                <a:cs typeface="Calibri" pitchFamily="34" charset="-120"/>
              </a:rPr>
              <a:t>The report carries the full list of 30 references in IEEE style.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Devanagari G2P Still Matter?</dc:title>
  <dc:subject>PptxGenJS Presentation</dc:subject>
  <dc:creator>Kaustubh Pandey</dc:creator>
  <cp:lastModifiedBy>Kaustubh Pandey</cp:lastModifiedBy>
  <cp:revision>1</cp:revision>
  <dcterms:created xsi:type="dcterms:W3CDTF">2026-09-27T11:06:46Z</dcterms:created>
  <dcterms:modified xsi:type="dcterms:W3CDTF">2026-09-27T11:06:46Z</dcterms:modified>
</cp:coreProperties>
</file>